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Economica"/>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9480BA-C887-423D-933D-6EBDBDD57C4D}">
  <a:tblStyle styleId="{EF9480BA-C887-423D-933D-6EBDBDD57C4D}"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B004C3F-0FF8-4E91-8DC2-FA1394D4100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Economica-bold.fntdata"/><Relationship Id="rId20" Type="http://schemas.openxmlformats.org/officeDocument/2006/relationships/slide" Target="slides/slide13.xml"/><Relationship Id="rId42" Type="http://schemas.openxmlformats.org/officeDocument/2006/relationships/font" Target="fonts/Economica-boldItalic.fntdata"/><Relationship Id="rId41" Type="http://schemas.openxmlformats.org/officeDocument/2006/relationships/font" Target="fonts/Economica-italic.fntdata"/><Relationship Id="rId22" Type="http://schemas.openxmlformats.org/officeDocument/2006/relationships/slide" Target="slides/slide15.xml"/><Relationship Id="rId44" Type="http://schemas.openxmlformats.org/officeDocument/2006/relationships/font" Target="fonts/OpenSans-bold.fntdata"/><Relationship Id="rId21" Type="http://schemas.openxmlformats.org/officeDocument/2006/relationships/slide" Target="slides/slide14.xml"/><Relationship Id="rId43" Type="http://schemas.openxmlformats.org/officeDocument/2006/relationships/font" Target="fonts/OpenSans-regular.fntdata"/><Relationship Id="rId24" Type="http://schemas.openxmlformats.org/officeDocument/2006/relationships/slide" Target="slides/slide17.xml"/><Relationship Id="rId46" Type="http://schemas.openxmlformats.org/officeDocument/2006/relationships/font" Target="fonts/OpenSans-boldItalic.fntdata"/><Relationship Id="rId23" Type="http://schemas.openxmlformats.org/officeDocument/2006/relationships/slide" Target="slides/slide16.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Economica-regular.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18bc5f34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18bc5f34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18bc5f34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1118bc5f34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18bc5f343_0_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g1118bc5f343_0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latin typeface="Arial"/>
              <a:ea typeface="Arial"/>
              <a:cs typeface="Arial"/>
              <a:sym typeface="Arial"/>
            </a:endParaRPr>
          </a:p>
        </p:txBody>
      </p:sp>
      <p:sp>
        <p:nvSpPr>
          <p:cNvPr id="135" name="Google Shape;135;g1118bc5f343_0_2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18bc5f343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1118bc5f343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t>This is intended to frame the discussion about benefits realization : who benefits from the research, what is their interest and what value might they provide.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GB"/>
              <a:t>The </a:t>
            </a:r>
            <a:r>
              <a:rPr b="1" lang="en-GB"/>
              <a:t>audience should be asked </a:t>
            </a:r>
            <a:r>
              <a:rPr lang="en-GB"/>
              <a:t>who they believe are research project stakeholders and why they believe that.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18bc5f343_0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1118bc5f343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t>This is a real life case-study, based on EU funding for a £1.4M project.</a:t>
            </a:r>
            <a:endParaRPr/>
          </a:p>
          <a:p>
            <a:pPr indent="0" lvl="0" marL="15875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What impact could the project achieve in terms of public policy? </a:t>
            </a:r>
            <a:r>
              <a:rPr b="0" i="0" lang="en-GB" sz="1100" u="none" cap="none" strike="noStrike">
                <a:solidFill>
                  <a:srgbClr val="FF0000"/>
                </a:solidFill>
                <a:latin typeface="Arial"/>
                <a:ea typeface="Arial"/>
                <a:cs typeface="Arial"/>
                <a:sym typeface="Arial"/>
              </a:rPr>
              <a:t>This was influential in policy around EU and national policy for research funding, innovation funding, the development of industry networks and regional clusters and the acquisition policies of multinationals.</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What might be the funder’s objectives and interests in backing the project? The funder wanted to see activity that had a direct influence in providing advice to SMEs to help improve their innovation metrics, but at the same time, it was intended to help provide roadmaps for clusters and for EU policy.</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What is the commercial value for the university? On-going partnerships led to further funding; IP enabled the university to support consultancy for SMEs and regional innovation policy.</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Can can partnerships be built on or expanded? During the life of the project it expanded to include involvement from other similar projects; involvement of automotive OEMs and suppliers; as well as involving more EU clusters, industry bodies and satalite research in Japan and USA.</a:t>
            </a:r>
            <a:endParaRPr b="0" i="0" sz="1100" u="none" cap="none" strike="noStrike">
              <a:solidFill>
                <a:srgbClr val="000000"/>
              </a:solidFill>
              <a:latin typeface="Arial"/>
              <a:ea typeface="Arial"/>
              <a:cs typeface="Arial"/>
              <a:sym typeface="Arial"/>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How might the SMEs benefit? SMEs are hard pressed for time and want tangible, actionable insight that can give them new connections or better position propositions in the market.</a:t>
            </a:r>
            <a:endParaRPr b="0" i="0" sz="1100" u="none" cap="none" strike="noStrike">
              <a:solidFill>
                <a:srgbClr val="000000"/>
              </a:solidFill>
              <a:latin typeface="Arial"/>
              <a:ea typeface="Arial"/>
              <a:cs typeface="Arial"/>
              <a:sym typeface="Arial"/>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18bc5f343_0_2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g1118bc5f343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latin typeface="Arial"/>
                <a:ea typeface="Arial"/>
                <a:cs typeface="Arial"/>
                <a:sym typeface="Arial"/>
              </a:rPr>
              <a:t>Important to distinguish between promotion of research and policy change.</a:t>
            </a:r>
            <a:endParaRPr/>
          </a:p>
          <a:p>
            <a:pPr indent="0" lvl="0" marL="158750" rtl="0" algn="l">
              <a:lnSpc>
                <a:spcPct val="100000"/>
              </a:lnSpc>
              <a:spcBef>
                <a:spcPts val="0"/>
              </a:spcBef>
              <a:spcAft>
                <a:spcPts val="0"/>
              </a:spcAft>
              <a:buSzPts val="1100"/>
              <a:buNone/>
            </a:pPr>
            <a:r>
              <a:t/>
            </a:r>
            <a:endParaRPr>
              <a:latin typeface="Arial"/>
              <a:ea typeface="Arial"/>
              <a:cs typeface="Arial"/>
              <a:sym typeface="Arial"/>
            </a:endParaRPr>
          </a:p>
          <a:p>
            <a:pPr indent="0" lvl="0" marL="158750" rtl="0" algn="l">
              <a:lnSpc>
                <a:spcPct val="100000"/>
              </a:lnSpc>
              <a:spcBef>
                <a:spcPts val="0"/>
              </a:spcBef>
              <a:spcAft>
                <a:spcPts val="0"/>
              </a:spcAft>
              <a:buSzPts val="1100"/>
              <a:buNone/>
            </a:pPr>
            <a:r>
              <a:rPr lang="en-GB">
                <a:latin typeface="Arial"/>
                <a:ea typeface="Arial"/>
                <a:cs typeface="Arial"/>
                <a:sym typeface="Arial"/>
              </a:rPr>
              <a:t>In short, there must be the administrative capacity to: plan for social/economic change, facilitate change, to track the change and to demonstrate that it is related to the project – e.g. through testimonials, mentions in policy papers, changes in funding.</a:t>
            </a:r>
            <a:endParaRPr/>
          </a:p>
        </p:txBody>
      </p:sp>
      <p:sp>
        <p:nvSpPr>
          <p:cNvPr id="159" name="Google Shape;159;g1118bc5f343_0_2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118bc5f343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g1118bc5f343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latin typeface="Arial"/>
                <a:ea typeface="Arial"/>
                <a:cs typeface="Arial"/>
                <a:sym typeface="Arial"/>
              </a:rPr>
              <a:t>In this example there was a plan to deliver and policy guidance at a number of levels – EU, national and regional policy clusters. </a:t>
            </a:r>
            <a:endParaRPr/>
          </a:p>
          <a:p>
            <a:pPr indent="-298450" lvl="0" marL="457200" rtl="0" algn="l">
              <a:lnSpc>
                <a:spcPct val="100000"/>
              </a:lnSpc>
              <a:spcBef>
                <a:spcPts val="0"/>
              </a:spcBef>
              <a:spcAft>
                <a:spcPts val="0"/>
              </a:spcAft>
              <a:buSzPts val="1100"/>
              <a:buChar char="●"/>
            </a:pPr>
            <a:r>
              <a:rPr lang="en-GB">
                <a:latin typeface="Arial"/>
                <a:ea typeface="Arial"/>
                <a:cs typeface="Arial"/>
                <a:sym typeface="Arial"/>
              </a:rPr>
              <a:t>This meant that we needed to involve representatives from these organisations in the early stages of planning. </a:t>
            </a:r>
            <a:endParaRPr/>
          </a:p>
          <a:p>
            <a:pPr indent="-298450" lvl="0" marL="457200" rtl="0" algn="l">
              <a:lnSpc>
                <a:spcPct val="100000"/>
              </a:lnSpc>
              <a:spcBef>
                <a:spcPts val="0"/>
              </a:spcBef>
              <a:spcAft>
                <a:spcPts val="0"/>
              </a:spcAft>
              <a:buSzPts val="1100"/>
              <a:buChar char="●"/>
            </a:pPr>
            <a:r>
              <a:rPr lang="en-GB">
                <a:latin typeface="Arial"/>
                <a:ea typeface="Arial"/>
                <a:cs typeface="Arial"/>
                <a:sym typeface="Arial"/>
              </a:rPr>
              <a:t>As we delivered the research, the plan changed and we had to change with it bringing in new partnerships. </a:t>
            </a:r>
            <a:endParaRPr/>
          </a:p>
          <a:p>
            <a:pPr indent="-298450" lvl="0" marL="457200" rtl="0" algn="l">
              <a:lnSpc>
                <a:spcPct val="100000"/>
              </a:lnSpc>
              <a:spcBef>
                <a:spcPts val="0"/>
              </a:spcBef>
              <a:spcAft>
                <a:spcPts val="0"/>
              </a:spcAft>
              <a:buSzPts val="1100"/>
              <a:buChar char="●"/>
            </a:pPr>
            <a:r>
              <a:rPr lang="en-GB">
                <a:latin typeface="Arial"/>
                <a:ea typeface="Arial"/>
                <a:cs typeface="Arial"/>
                <a:sym typeface="Arial"/>
              </a:rPr>
              <a:t>Administrative staff needed to systematically evidence what change occurred through our partners, and make the case for future monitoring capacity.</a:t>
            </a:r>
            <a:endParaRPr/>
          </a:p>
        </p:txBody>
      </p:sp>
      <p:sp>
        <p:nvSpPr>
          <p:cNvPr id="169" name="Google Shape;169;g1118bc5f343_0_2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18bc5f343_0_2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1118bc5f343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Impact is about maximizing gains for society. Commercialisation is about maximizing value for money gains for specific organisations (usually your own) </a:t>
            </a:r>
            <a:endParaRPr/>
          </a:p>
          <a:p>
            <a:pPr indent="-298450" lvl="0" marL="457200" rtl="0" algn="l">
              <a:lnSpc>
                <a:spcPct val="100000"/>
              </a:lnSpc>
              <a:spcBef>
                <a:spcPts val="0"/>
              </a:spcBef>
              <a:spcAft>
                <a:spcPts val="0"/>
              </a:spcAft>
              <a:buSzPts val="1100"/>
              <a:buChar char="●"/>
            </a:pPr>
            <a:r>
              <a:rPr lang="en-GB"/>
              <a:t>It requires a mindset focused on identifying and safeguarding the potential value of IP, and to bring in expertise to recognize how that value can be realized in product terms.</a:t>
            </a:r>
            <a:endParaRPr/>
          </a:p>
          <a:p>
            <a:pPr indent="-298450" lvl="0" marL="457200" rtl="0" algn="l">
              <a:lnSpc>
                <a:spcPct val="100000"/>
              </a:lnSpc>
              <a:spcBef>
                <a:spcPts val="0"/>
              </a:spcBef>
              <a:spcAft>
                <a:spcPts val="0"/>
              </a:spcAft>
              <a:buSzPts val="1100"/>
              <a:buChar char="●"/>
            </a:pPr>
            <a:r>
              <a:rPr lang="en-GB"/>
              <a:t>Commercial staff are crucial here, both in terms of their expertise, but also recognizing when to push an opportunity if an academic is only focused on the research outpus.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18bc5f343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1118bc5f343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The university can gain from and understanding of future technology trends, regional innovation policy and SME growth policies.</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The university stands to benefit from: and understanding of future technology trends (for consulting with large businesses), providing guidance to national and regional bodies on innovation policy, and providing knowledge transfer advice to SMEs.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The university might seek to partner with an industry association in the automotive sector, a consultancy or a major business partner in the automotive supply chain to increase commercial research, recognition and credibility.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Background and foreground IP needs to be secured at the start with consortia; new partners need non-disclosure agreements and memorandums of understanding. UNIVERSITY HAS TO UNDERSTAND ITS OWN POTENTIAL COMMERCIAL INTEREST as early as possible. </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GB"/>
              <a:t>The research team needs to know what IP can be disclosed in publications or conferences; they must know the potential options for commercializing IP and have regular update meetings with commercial staff.</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18bc5f343_0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118bc5f343_0_3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Challenges appears ‘on click’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18bc5f343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1118bc5f343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Different levels of collaboration require different levels of formal and informal agreements. </a:t>
            </a:r>
            <a:endParaRPr/>
          </a:p>
          <a:p>
            <a:pPr indent="-298450" lvl="0" marL="457200" rtl="0" algn="l">
              <a:lnSpc>
                <a:spcPct val="100000"/>
              </a:lnSpc>
              <a:spcBef>
                <a:spcPts val="0"/>
              </a:spcBef>
              <a:spcAft>
                <a:spcPts val="0"/>
              </a:spcAft>
              <a:buSzPts val="1100"/>
              <a:buChar char="●"/>
            </a:pPr>
            <a:r>
              <a:rPr lang="en-GB"/>
              <a:t>There are formal contracts but also a need for more systematic communications and engaging leadership and public bodies at a strategic level.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18bc5f343_0_3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1118bc5f343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International collaboration has a longer learning curve. </a:t>
            </a:r>
            <a:endParaRPr/>
          </a:p>
          <a:p>
            <a:pPr indent="-298450" lvl="0" marL="457200" rtl="0" algn="l">
              <a:lnSpc>
                <a:spcPct val="100000"/>
              </a:lnSpc>
              <a:spcBef>
                <a:spcPts val="0"/>
              </a:spcBef>
              <a:spcAft>
                <a:spcPts val="0"/>
              </a:spcAft>
              <a:buSzPts val="1100"/>
              <a:buChar char="●"/>
            </a:pPr>
            <a:r>
              <a:rPr lang="en-GB"/>
              <a:t>There are often not the same levers of common understandings, influence and enforcement of obligations and new modes of operation have to be learnt. </a:t>
            </a:r>
            <a:endParaRPr/>
          </a:p>
          <a:p>
            <a:pPr indent="-298450" lvl="0" marL="457200" rtl="0" algn="l">
              <a:lnSpc>
                <a:spcPct val="100000"/>
              </a:lnSpc>
              <a:spcBef>
                <a:spcPts val="0"/>
              </a:spcBef>
              <a:spcAft>
                <a:spcPts val="0"/>
              </a:spcAft>
              <a:buSzPts val="1100"/>
              <a:buChar char="●"/>
            </a:pPr>
            <a:r>
              <a:rPr lang="en-GB"/>
              <a:t>As such it is best to work between as many known contacts as possible in developing funding bids to reduce the learning time and to deliver over longer timescales to avoid an early risk or problem derailing the schedule.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18bc5f343_0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1118bc5f343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latin typeface="Arial"/>
                <a:ea typeface="Arial"/>
                <a:cs typeface="Arial"/>
                <a:sym typeface="Arial"/>
              </a:rPr>
              <a:t>Old parable from South Asia (original origin not known) of a group of blind asked to describe an elephant and all encountering a different part described a different creature. </a:t>
            </a:r>
            <a:endParaRPr/>
          </a:p>
          <a:p>
            <a:pPr indent="-298450" lvl="0" marL="457200" rtl="0" algn="l">
              <a:lnSpc>
                <a:spcPct val="100000"/>
              </a:lnSpc>
              <a:spcBef>
                <a:spcPts val="0"/>
              </a:spcBef>
              <a:spcAft>
                <a:spcPts val="0"/>
              </a:spcAft>
              <a:buSzPts val="1100"/>
              <a:buChar char="●"/>
            </a:pPr>
            <a:r>
              <a:rPr lang="en-GB">
                <a:latin typeface="Arial"/>
                <a:ea typeface="Arial"/>
                <a:cs typeface="Arial"/>
                <a:sym typeface="Arial"/>
              </a:rPr>
              <a:t>International collaboration is similar. Together a much more complete view of a problem might be achieved, but individually it can be incomplete and there is a learning curving in bringing together individual perspectives into a common understanding.</a:t>
            </a:r>
            <a:endParaRPr/>
          </a:p>
        </p:txBody>
      </p:sp>
      <p:sp>
        <p:nvSpPr>
          <p:cNvPr id="241" name="Google Shape;241;g1118bc5f343_0_3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118bc5f343_0_3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1118bc5f343_0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t>This is based on a real case study called CARNIVAL where Coventry won funding to look at the impact of London 2012, together with partners from Brazil, USA and South Africa.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GB"/>
              <a:t>Coventry gained addition funding, PR and support from London’s Olympic Legacy organisation in providing unique access to ministerial contacts to look at urban regeneration opportunities for Rio 2016 and Birmingham Commonwealth Games, 2022 Games.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GB"/>
              <a:t>High level of contact, brought higher level of PR risks and reputational risks, requiring the mobility scheme to appear professional and focused on tangible outputs – need to optimize publicity and high level policy connections.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GB"/>
              <a:t>Establishing a long-lasting network between past and future Olympic and major event cities put Coventry in a highly strategic position to influence policy and attract future funding. HOWEVER a case did need to be made to the university to subsidise the cost of the maintainence of this network beyond the life of the project.</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18bc5f343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1118bc5f343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18bc5f343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18bc5f343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Slides from here are from James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18bc5f34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118bc5f34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26ae0929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1126ae0929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126ae09294_1_5:notes"/>
          <p:cNvSpPr/>
          <p:nvPr>
            <p:ph idx="2" type="sldImg"/>
          </p:nvPr>
        </p:nvSpPr>
        <p:spPr>
          <a:xfrm>
            <a:off x="95250" y="742950"/>
            <a:ext cx="6603900" cy="3714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1126ae09294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VS</a:t>
            </a:r>
            <a:endParaRPr/>
          </a:p>
        </p:txBody>
      </p:sp>
      <p:sp>
        <p:nvSpPr>
          <p:cNvPr id="283" name="Google Shape;283;g1126ae09294_1_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26ae09294_1_21:notes"/>
          <p:cNvSpPr/>
          <p:nvPr>
            <p:ph idx="2" type="sldImg"/>
          </p:nvPr>
        </p:nvSpPr>
        <p:spPr>
          <a:xfrm>
            <a:off x="95250" y="742950"/>
            <a:ext cx="6603900" cy="3714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1126ae09294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VS</a:t>
            </a:r>
            <a:endParaRPr/>
          </a:p>
        </p:txBody>
      </p:sp>
      <p:sp>
        <p:nvSpPr>
          <p:cNvPr id="300" name="Google Shape;300;g1126ae09294_1_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126ae09294_1_57:notes"/>
          <p:cNvSpPr/>
          <p:nvPr>
            <p:ph idx="2" type="sldImg"/>
          </p:nvPr>
        </p:nvSpPr>
        <p:spPr>
          <a:xfrm>
            <a:off x="95250" y="742950"/>
            <a:ext cx="6603900" cy="3714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1126ae09294_1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VS</a:t>
            </a:r>
            <a:endParaRPr/>
          </a:p>
        </p:txBody>
      </p:sp>
      <p:sp>
        <p:nvSpPr>
          <p:cNvPr id="337" name="Google Shape;337;g1126ae09294_1_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26ae09294_1_92:notes"/>
          <p:cNvSpPr/>
          <p:nvPr>
            <p:ph idx="2" type="sldImg"/>
          </p:nvPr>
        </p:nvSpPr>
        <p:spPr>
          <a:xfrm>
            <a:off x="95250" y="742950"/>
            <a:ext cx="6603900" cy="3714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1126ae09294_1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VS</a:t>
            </a:r>
            <a:endParaRPr/>
          </a:p>
        </p:txBody>
      </p:sp>
      <p:sp>
        <p:nvSpPr>
          <p:cNvPr id="373" name="Google Shape;373;g1126ae09294_1_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26ae09294_1_141:notes"/>
          <p:cNvSpPr/>
          <p:nvPr>
            <p:ph idx="2" type="sldImg"/>
          </p:nvPr>
        </p:nvSpPr>
        <p:spPr>
          <a:xfrm>
            <a:off x="95250" y="742950"/>
            <a:ext cx="6603900" cy="3714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1126ae09294_1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a:t>VS</a:t>
            </a:r>
            <a:endParaRPr/>
          </a:p>
        </p:txBody>
      </p:sp>
      <p:sp>
        <p:nvSpPr>
          <p:cNvPr id="423" name="Google Shape;423;g1126ae09294_1_1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118bc5f34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118bc5f34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18bc5f34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18bc5f34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118bc5f34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118bc5f34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118bc5f343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118bc5f343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18bc5f343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18bc5f343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118bc5f343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118bc5f34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26ae0929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1126ae0929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118bc5f34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118bc5f34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jpg"/><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bg>
      <p:bgPr>
        <a:solidFill>
          <a:schemeClr val="lt2"/>
        </a:solidFill>
      </p:bgPr>
    </p:bg>
    <p:spTree>
      <p:nvGrpSpPr>
        <p:cNvPr id="103" name="Shape 103"/>
        <p:cNvGrpSpPr/>
        <p:nvPr/>
      </p:nvGrpSpPr>
      <p:grpSpPr>
        <a:xfrm>
          <a:off x="0" y="0"/>
          <a:ext cx="0" cy="0"/>
          <a:chOff x="0" y="0"/>
          <a:chExt cx="0" cy="0"/>
        </a:xfrm>
      </p:grpSpPr>
      <p:sp>
        <p:nvSpPr>
          <p:cNvPr id="104" name="Google Shape;104;p25"/>
          <p:cNvSpPr txBox="1"/>
          <p:nvPr/>
        </p:nvSpPr>
        <p:spPr>
          <a:xfrm>
            <a:off x="3992700" y="1859100"/>
            <a:ext cx="1158600" cy="14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600">
                <a:latin typeface="Open Sans"/>
                <a:ea typeface="Open Sans"/>
                <a:cs typeface="Open Sans"/>
                <a:sym typeface="Open Sans"/>
              </a:rPr>
              <a:t>❦</a:t>
            </a:r>
            <a:endParaRPr sz="9600">
              <a:latin typeface="Open Sans"/>
              <a:ea typeface="Open Sans"/>
              <a:cs typeface="Open Sans"/>
              <a:sym typeface="Open Sans"/>
            </a:endParaRPr>
          </a:p>
        </p:txBody>
      </p:sp>
      <p:sp>
        <p:nvSpPr>
          <p:cNvPr id="105" name="Google Shape;105;p25"/>
          <p:cNvSpPr txBox="1"/>
          <p:nvPr>
            <p:ph idx="12" type="sldNum"/>
          </p:nvPr>
        </p:nvSpPr>
        <p:spPr>
          <a:xfrm>
            <a:off x="8480584" y="4673651"/>
            <a:ext cx="548700" cy="393600"/>
          </a:xfrm>
          <a:prstGeom prst="rect">
            <a:avLst/>
          </a:prstGeom>
        </p:spPr>
        <p:txBody>
          <a:bodyPr anchorCtr="0" anchor="t"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a:lvl1pPr>
            <a:lvl2pPr lvl="1" rtl="0" algn="l">
              <a:lnSpc>
                <a:spcPct val="100000"/>
              </a:lnSpc>
              <a:spcBef>
                <a:spcPts val="0"/>
              </a:spcBef>
              <a:spcAft>
                <a:spcPts val="0"/>
              </a:spcAft>
              <a:buSzPts val="4200"/>
              <a:buNone/>
              <a:defRPr/>
            </a:lvl2pPr>
            <a:lvl3pPr lvl="2" rtl="0" algn="l">
              <a:lnSpc>
                <a:spcPct val="100000"/>
              </a:lnSpc>
              <a:spcBef>
                <a:spcPts val="0"/>
              </a:spcBef>
              <a:spcAft>
                <a:spcPts val="0"/>
              </a:spcAft>
              <a:buSzPts val="4200"/>
              <a:buNone/>
              <a:defRPr/>
            </a:lvl3pPr>
            <a:lvl4pPr lvl="3" rtl="0" algn="l">
              <a:lnSpc>
                <a:spcPct val="100000"/>
              </a:lnSpc>
              <a:spcBef>
                <a:spcPts val="0"/>
              </a:spcBef>
              <a:spcAft>
                <a:spcPts val="0"/>
              </a:spcAft>
              <a:buSzPts val="4200"/>
              <a:buNone/>
              <a:defRPr/>
            </a:lvl4pPr>
            <a:lvl5pPr lvl="4" rtl="0" algn="l">
              <a:lnSpc>
                <a:spcPct val="100000"/>
              </a:lnSpc>
              <a:spcBef>
                <a:spcPts val="0"/>
              </a:spcBef>
              <a:spcAft>
                <a:spcPts val="0"/>
              </a:spcAft>
              <a:buSzPts val="4200"/>
              <a:buNone/>
              <a:defRPr/>
            </a:lvl5pPr>
            <a:lvl6pPr lvl="5" rtl="0" algn="l">
              <a:lnSpc>
                <a:spcPct val="100000"/>
              </a:lnSpc>
              <a:spcBef>
                <a:spcPts val="0"/>
              </a:spcBef>
              <a:spcAft>
                <a:spcPts val="0"/>
              </a:spcAft>
              <a:buSzPts val="4200"/>
              <a:buNone/>
              <a:defRPr/>
            </a:lvl6pPr>
            <a:lvl7pPr lvl="6" rtl="0" algn="l">
              <a:lnSpc>
                <a:spcPct val="100000"/>
              </a:lnSpc>
              <a:spcBef>
                <a:spcPts val="0"/>
              </a:spcBef>
              <a:spcAft>
                <a:spcPts val="0"/>
              </a:spcAft>
              <a:buSzPts val="4200"/>
              <a:buNone/>
              <a:defRPr/>
            </a:lvl7pPr>
            <a:lvl8pPr lvl="7" rtl="0" algn="l">
              <a:lnSpc>
                <a:spcPct val="100000"/>
              </a:lnSpc>
              <a:spcBef>
                <a:spcPts val="0"/>
              </a:spcBef>
              <a:spcAft>
                <a:spcPts val="0"/>
              </a:spcAft>
              <a:buSzPts val="4200"/>
              <a:buNone/>
              <a:defRPr/>
            </a:lvl8pPr>
            <a:lvl9pPr lvl="8" rtl="0" algn="l">
              <a:lnSpc>
                <a:spcPct val="100000"/>
              </a:lnSpc>
              <a:spcBef>
                <a:spcPts val="0"/>
              </a:spcBef>
              <a:spcAft>
                <a:spcPts val="0"/>
              </a:spcAft>
              <a:buSzPts val="4200"/>
              <a:buNone/>
              <a:defRPr/>
            </a:lvl9pPr>
          </a:lstStyle>
          <a:p/>
        </p:txBody>
      </p:sp>
      <p:sp>
        <p:nvSpPr>
          <p:cNvPr id="108" name="Google Shape;108;p2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109" name="Google Shape;109;p2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0" name="Google Shape;110;p2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1" name="Google Shape;11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1pPr>
            <a:lvl2pPr indent="0" lvl="1"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2pPr>
            <a:lvl3pPr indent="0" lvl="2"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3pPr>
            <a:lvl4pPr indent="0" lvl="3"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4pPr>
            <a:lvl5pPr indent="0" lvl="4"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5pPr>
            <a:lvl6pPr indent="0" lvl="5"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6pPr>
            <a:lvl7pPr indent="0" lvl="6"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7pPr>
            <a:lvl8pPr indent="0" lvl="7"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8pPr>
            <a:lvl9pPr indent="0" lvl="8" marL="0" rtl="0" algn="r">
              <a:lnSpc>
                <a:spcPct val="100000"/>
              </a:lnSpc>
              <a:spcBef>
                <a:spcPts val="0"/>
              </a:spcBef>
              <a:spcAft>
                <a:spcPts val="0"/>
              </a:spcAft>
              <a:buSzPts val="1000"/>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p:cSld name="Standard">
    <p:spTree>
      <p:nvGrpSpPr>
        <p:cNvPr id="112" name="Shape 112"/>
        <p:cNvGrpSpPr/>
        <p:nvPr/>
      </p:nvGrpSpPr>
      <p:grpSpPr>
        <a:xfrm>
          <a:off x="0" y="0"/>
          <a:ext cx="0" cy="0"/>
          <a:chOff x="0" y="0"/>
          <a:chExt cx="0" cy="0"/>
        </a:xfrm>
      </p:grpSpPr>
      <p:sp>
        <p:nvSpPr>
          <p:cNvPr id="113" name="Google Shape;113;p27"/>
          <p:cNvSpPr txBox="1"/>
          <p:nvPr>
            <p:ph idx="1" type="body"/>
          </p:nvPr>
        </p:nvSpPr>
        <p:spPr>
          <a:xfrm>
            <a:off x="395537" y="942975"/>
            <a:ext cx="8424600" cy="38433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sz="1800"/>
            </a:lvl1pPr>
            <a:lvl2pPr indent="-317500" lvl="1" marL="914400" rtl="0" algn="l">
              <a:lnSpc>
                <a:spcPct val="115000"/>
              </a:lnSpc>
              <a:spcBef>
                <a:spcPts val="0"/>
              </a:spcBef>
              <a:spcAft>
                <a:spcPts val="0"/>
              </a:spcAft>
              <a:buSzPts val="1400"/>
              <a:buChar char="○"/>
              <a:defRPr sz="1500"/>
            </a:lvl2pPr>
            <a:lvl3pPr indent="-317500" lvl="2" marL="1371600" rtl="0" algn="l">
              <a:lnSpc>
                <a:spcPct val="115000"/>
              </a:lnSpc>
              <a:spcBef>
                <a:spcPts val="0"/>
              </a:spcBef>
              <a:spcAft>
                <a:spcPts val="0"/>
              </a:spcAft>
              <a:buSzPts val="1400"/>
              <a:buChar char="■"/>
              <a:defRPr sz="1500"/>
            </a:lvl3pPr>
            <a:lvl4pPr indent="-317500" lvl="3" marL="1828800" rtl="0" algn="l">
              <a:lnSpc>
                <a:spcPct val="115000"/>
              </a:lnSpc>
              <a:spcBef>
                <a:spcPts val="0"/>
              </a:spcBef>
              <a:spcAft>
                <a:spcPts val="0"/>
              </a:spcAft>
              <a:buSzPts val="1400"/>
              <a:buChar char="●"/>
              <a:defRPr sz="1500"/>
            </a:lvl4pPr>
            <a:lvl5pPr indent="-317500" lvl="4" marL="2286000" rtl="0" algn="l">
              <a:lnSpc>
                <a:spcPct val="115000"/>
              </a:lnSpc>
              <a:spcBef>
                <a:spcPts val="0"/>
              </a:spcBef>
              <a:spcAft>
                <a:spcPts val="0"/>
              </a:spcAft>
              <a:buSzPts val="1400"/>
              <a:buChar char="○"/>
              <a:defRPr sz="1500"/>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114" name="Google Shape;114;p27"/>
          <p:cNvSpPr txBox="1"/>
          <p:nvPr>
            <p:ph type="title"/>
          </p:nvPr>
        </p:nvSpPr>
        <p:spPr>
          <a:xfrm>
            <a:off x="395536" y="145350"/>
            <a:ext cx="7427700" cy="6168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2100"/>
            </a:lvl1pPr>
            <a:lvl2pPr lvl="1" rtl="0" algn="l">
              <a:lnSpc>
                <a:spcPct val="100000"/>
              </a:lnSpc>
              <a:spcBef>
                <a:spcPts val="0"/>
              </a:spcBef>
              <a:spcAft>
                <a:spcPts val="0"/>
              </a:spcAft>
              <a:buSzPts val="4200"/>
              <a:buNone/>
              <a:defRPr/>
            </a:lvl2pPr>
            <a:lvl3pPr lvl="2" rtl="0" algn="l">
              <a:lnSpc>
                <a:spcPct val="100000"/>
              </a:lnSpc>
              <a:spcBef>
                <a:spcPts val="0"/>
              </a:spcBef>
              <a:spcAft>
                <a:spcPts val="0"/>
              </a:spcAft>
              <a:buSzPts val="4200"/>
              <a:buNone/>
              <a:defRPr/>
            </a:lvl3pPr>
            <a:lvl4pPr lvl="3" rtl="0" algn="l">
              <a:lnSpc>
                <a:spcPct val="100000"/>
              </a:lnSpc>
              <a:spcBef>
                <a:spcPts val="0"/>
              </a:spcBef>
              <a:spcAft>
                <a:spcPts val="0"/>
              </a:spcAft>
              <a:buSzPts val="4200"/>
              <a:buNone/>
              <a:defRPr/>
            </a:lvl4pPr>
            <a:lvl5pPr lvl="4" rtl="0" algn="l">
              <a:lnSpc>
                <a:spcPct val="100000"/>
              </a:lnSpc>
              <a:spcBef>
                <a:spcPts val="0"/>
              </a:spcBef>
              <a:spcAft>
                <a:spcPts val="0"/>
              </a:spcAft>
              <a:buSzPts val="4200"/>
              <a:buNone/>
              <a:defRPr/>
            </a:lvl5pPr>
            <a:lvl6pPr lvl="5" rtl="0" algn="l">
              <a:lnSpc>
                <a:spcPct val="100000"/>
              </a:lnSpc>
              <a:spcBef>
                <a:spcPts val="0"/>
              </a:spcBef>
              <a:spcAft>
                <a:spcPts val="0"/>
              </a:spcAft>
              <a:buSzPts val="4200"/>
              <a:buNone/>
              <a:defRPr/>
            </a:lvl6pPr>
            <a:lvl7pPr lvl="6" rtl="0" algn="l">
              <a:lnSpc>
                <a:spcPct val="100000"/>
              </a:lnSpc>
              <a:spcBef>
                <a:spcPts val="0"/>
              </a:spcBef>
              <a:spcAft>
                <a:spcPts val="0"/>
              </a:spcAft>
              <a:buSzPts val="4200"/>
              <a:buNone/>
              <a:defRPr/>
            </a:lvl7pPr>
            <a:lvl8pPr lvl="7" rtl="0" algn="l">
              <a:lnSpc>
                <a:spcPct val="100000"/>
              </a:lnSpc>
              <a:spcBef>
                <a:spcPts val="0"/>
              </a:spcBef>
              <a:spcAft>
                <a:spcPts val="0"/>
              </a:spcAft>
              <a:buSzPts val="4200"/>
              <a:buNone/>
              <a:defRPr/>
            </a:lvl8pPr>
            <a:lvl9pPr lvl="8" rtl="0" algn="l">
              <a:lnSpc>
                <a:spcPct val="100000"/>
              </a:lnSpc>
              <a:spcBef>
                <a:spcPts val="0"/>
              </a:spcBef>
              <a:spcAft>
                <a:spcPts val="0"/>
              </a:spcAft>
              <a:buSzPts val="4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Slide">
  <p:cSld name="Copy Slide">
    <p:spTree>
      <p:nvGrpSpPr>
        <p:cNvPr id="115" name="Shape 115"/>
        <p:cNvGrpSpPr/>
        <p:nvPr/>
      </p:nvGrpSpPr>
      <p:grpSpPr>
        <a:xfrm>
          <a:off x="0" y="0"/>
          <a:ext cx="0" cy="0"/>
          <a:chOff x="0" y="0"/>
          <a:chExt cx="0" cy="0"/>
        </a:xfrm>
      </p:grpSpPr>
      <p:pic>
        <p:nvPicPr>
          <p:cNvPr descr="13695-14 Powerpoint for Partnerships V17.jpg" id="116" name="Google Shape;116;p28"/>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13695-14 Powerpoint for Partnerships V25.jpg" id="117" name="Google Shape;117;p28"/>
          <p:cNvPicPr preferRelativeResize="0"/>
          <p:nvPr/>
        </p:nvPicPr>
        <p:blipFill rotWithShape="1">
          <a:blip r:embed="rId3">
            <a:alphaModFix/>
          </a:blip>
          <a:srcRect b="0" l="0" r="0" t="0"/>
          <a:stretch/>
        </p:blipFill>
        <p:spPr>
          <a:xfrm>
            <a:off x="0" y="0"/>
            <a:ext cx="9143998" cy="5143500"/>
          </a:xfrm>
          <a:prstGeom prst="rect">
            <a:avLst/>
          </a:prstGeom>
          <a:noFill/>
          <a:ln>
            <a:noFill/>
          </a:ln>
        </p:spPr>
      </p:pic>
      <p:pic>
        <p:nvPicPr>
          <p:cNvPr descr="13695-14 Powerpoint for Partnerships V22.jpg" id="118" name="Google Shape;118;p28"/>
          <p:cNvPicPr preferRelativeResize="0"/>
          <p:nvPr/>
        </p:nvPicPr>
        <p:blipFill rotWithShape="1">
          <a:blip r:embed="rId4">
            <a:alphaModFix/>
          </a:blip>
          <a:srcRect b="0" l="0" r="0" t="0"/>
          <a:stretch/>
        </p:blipFill>
        <p:spPr>
          <a:xfrm>
            <a:off x="0" y="0"/>
            <a:ext cx="9143998"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s://www.billmonitor.com/consum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type="title"/>
          </p:nvPr>
        </p:nvSpPr>
        <p:spPr>
          <a:xfrm>
            <a:off x="265500" y="929275"/>
            <a:ext cx="4045200" cy="3084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How to facilitate /  support impact / partnership building / international collaboration /  commercialisation</a:t>
            </a:r>
            <a:endParaRPr/>
          </a:p>
        </p:txBody>
      </p:sp>
      <p:sp>
        <p:nvSpPr>
          <p:cNvPr id="124" name="Google Shape;124;p2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GB"/>
              <a:t>- Understand research impact and its precursors (i.e., pathways to impact)</a:t>
            </a:r>
            <a:endParaRPr/>
          </a:p>
          <a:p>
            <a:pPr indent="0" lvl="0" marL="0" rtl="0" algn="l">
              <a:spcBef>
                <a:spcPts val="1200"/>
              </a:spcBef>
              <a:spcAft>
                <a:spcPts val="0"/>
              </a:spcAft>
              <a:buClr>
                <a:schemeClr val="dk1"/>
              </a:buClr>
              <a:buSzPts val="1100"/>
              <a:buFont typeface="Arial"/>
              <a:buNone/>
            </a:pPr>
            <a:r>
              <a:rPr lang="en-GB"/>
              <a:t>- Be able to guide proposals towards greater impact</a:t>
            </a:r>
            <a:endParaRPr/>
          </a:p>
          <a:p>
            <a:pPr indent="0" lvl="0" marL="0" rtl="0" algn="l">
              <a:spcBef>
                <a:spcPts val="1200"/>
              </a:spcBef>
              <a:spcAft>
                <a:spcPts val="0"/>
              </a:spcAft>
              <a:buClr>
                <a:schemeClr val="dk1"/>
              </a:buClr>
              <a:buSzPts val="1100"/>
              <a:buFont typeface="Arial"/>
              <a:buNone/>
            </a:pPr>
            <a:r>
              <a:rPr lang="en-GB"/>
              <a:t>- Understand the importance of industry collaboration and international reach to strengthen impact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125" name="Google Shape;12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SzPts val="4200"/>
              <a:buNone/>
            </a:pPr>
            <a:r>
              <a:rPr lang="en-GB"/>
              <a:t>Aims of this Session</a:t>
            </a:r>
            <a:endParaRPr/>
          </a:p>
        </p:txBody>
      </p:sp>
      <p:sp>
        <p:nvSpPr>
          <p:cNvPr id="131" name="Google Shape;131;p3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114300" rtl="0" algn="l">
              <a:lnSpc>
                <a:spcPct val="100000"/>
              </a:lnSpc>
              <a:spcBef>
                <a:spcPts val="0"/>
              </a:spcBef>
              <a:spcAft>
                <a:spcPts val="0"/>
              </a:spcAft>
              <a:buSzPts val="1800"/>
              <a:buNone/>
            </a:pPr>
            <a:r>
              <a:rPr b="1" lang="en-GB"/>
              <a:t>Delivering Research with Impact </a:t>
            </a:r>
            <a:endParaRPr/>
          </a:p>
          <a:p>
            <a:pPr indent="-228600" lvl="0" marL="457200" rtl="0" algn="l">
              <a:lnSpc>
                <a:spcPct val="100000"/>
              </a:lnSpc>
              <a:spcBef>
                <a:spcPts val="0"/>
              </a:spcBef>
              <a:spcAft>
                <a:spcPts val="0"/>
              </a:spcAft>
              <a:buSzPts val="1800"/>
              <a:buNone/>
            </a:pPr>
            <a:r>
              <a:t/>
            </a:r>
            <a:endParaRPr/>
          </a:p>
          <a:p>
            <a:pPr indent="-342900" lvl="0" marL="457200" rtl="0" algn="l">
              <a:lnSpc>
                <a:spcPct val="100000"/>
              </a:lnSpc>
              <a:spcBef>
                <a:spcPts val="0"/>
              </a:spcBef>
              <a:spcAft>
                <a:spcPts val="0"/>
              </a:spcAft>
              <a:buSzPts val="1800"/>
              <a:buChar char="●"/>
            </a:pPr>
            <a:r>
              <a:rPr lang="en-GB"/>
              <a:t>Stakeholder interest and benefits realisation. </a:t>
            </a:r>
            <a:endParaRPr/>
          </a:p>
          <a:p>
            <a:pPr indent="-228600" lvl="0" marL="457200" rtl="0" algn="l">
              <a:lnSpc>
                <a:spcPct val="100000"/>
              </a:lnSpc>
              <a:spcBef>
                <a:spcPts val="0"/>
              </a:spcBef>
              <a:spcAft>
                <a:spcPts val="0"/>
              </a:spcAft>
              <a:buSzPts val="1800"/>
              <a:buNone/>
            </a:pPr>
            <a:r>
              <a:t/>
            </a:r>
            <a:endParaRPr/>
          </a:p>
          <a:p>
            <a:pPr indent="-342900" lvl="0" marL="457200" rtl="0" algn="l">
              <a:lnSpc>
                <a:spcPct val="100000"/>
              </a:lnSpc>
              <a:spcBef>
                <a:spcPts val="0"/>
              </a:spcBef>
              <a:spcAft>
                <a:spcPts val="0"/>
              </a:spcAft>
              <a:buSzPts val="1800"/>
              <a:buChar char="●"/>
            </a:pPr>
            <a:r>
              <a:rPr lang="en-GB"/>
              <a:t>Planning and delivering research impact.</a:t>
            </a:r>
            <a:endParaRPr/>
          </a:p>
          <a:p>
            <a:pPr indent="-228600" lvl="0" marL="457200" rtl="0" algn="l">
              <a:lnSpc>
                <a:spcPct val="100000"/>
              </a:lnSpc>
              <a:spcBef>
                <a:spcPts val="0"/>
              </a:spcBef>
              <a:spcAft>
                <a:spcPts val="0"/>
              </a:spcAft>
              <a:buSzPts val="1800"/>
              <a:buNone/>
            </a:pPr>
            <a:r>
              <a:t/>
            </a:r>
            <a:endParaRPr/>
          </a:p>
          <a:p>
            <a:pPr indent="-342900" lvl="0" marL="457200" rtl="0" algn="l">
              <a:lnSpc>
                <a:spcPct val="100000"/>
              </a:lnSpc>
              <a:spcBef>
                <a:spcPts val="0"/>
              </a:spcBef>
              <a:spcAft>
                <a:spcPts val="0"/>
              </a:spcAft>
              <a:buSzPts val="1800"/>
              <a:buChar char="●"/>
            </a:pPr>
            <a:r>
              <a:rPr lang="en-GB"/>
              <a:t>Commercialisation and intellectual property </a:t>
            </a:r>
            <a:endParaRPr/>
          </a:p>
          <a:p>
            <a:pPr indent="-228600" lvl="0" marL="457200" rtl="0" algn="l">
              <a:lnSpc>
                <a:spcPct val="100000"/>
              </a:lnSpc>
              <a:spcBef>
                <a:spcPts val="0"/>
              </a:spcBef>
              <a:spcAft>
                <a:spcPts val="0"/>
              </a:spcAft>
              <a:buSzPts val="1800"/>
              <a:buNone/>
            </a:pPr>
            <a:r>
              <a:t/>
            </a:r>
            <a:endParaRPr/>
          </a:p>
          <a:p>
            <a:pPr indent="-342900" lvl="0" marL="457200" rtl="0" algn="l">
              <a:lnSpc>
                <a:spcPct val="100000"/>
              </a:lnSpc>
              <a:spcBef>
                <a:spcPts val="0"/>
              </a:spcBef>
              <a:spcAft>
                <a:spcPts val="0"/>
              </a:spcAft>
              <a:buSzPts val="1800"/>
              <a:buChar char="●"/>
            </a:pPr>
            <a:r>
              <a:rPr lang="en-GB"/>
              <a:t>Collaboration and international partnerships</a:t>
            </a:r>
            <a:endParaRPr/>
          </a:p>
          <a:p>
            <a:pPr indent="-228600" lvl="0" marL="457200" rtl="0" algn="l">
              <a:lnSpc>
                <a:spcPct val="114999"/>
              </a:lnSpc>
              <a:spcBef>
                <a:spcPts val="0"/>
              </a:spcBef>
              <a:spcAft>
                <a:spcPts val="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1"/>
          <p:cNvSpPr txBox="1"/>
          <p:nvPr/>
        </p:nvSpPr>
        <p:spPr>
          <a:xfrm>
            <a:off x="305746" y="1430386"/>
            <a:ext cx="8089200" cy="1200600"/>
          </a:xfrm>
          <a:prstGeom prst="rect">
            <a:avLst/>
          </a:prstGeom>
          <a:solidFill>
            <a:srgbClr val="F2F2F2"/>
          </a:solid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None/>
            </a:pPr>
            <a:r>
              <a:rPr b="0" i="0" lang="en-GB" sz="1800" u="none" cap="none" strike="noStrike">
                <a:solidFill>
                  <a:schemeClr val="dk1"/>
                </a:solidFill>
                <a:latin typeface="Arial"/>
                <a:ea typeface="Arial"/>
                <a:cs typeface="Arial"/>
                <a:sym typeface="Arial"/>
              </a:rPr>
              <a:t>‘Impact is defined as an effect on, change or benefit to the economy, society, culture, public policy or services, health, the environment or quality of life, beyond academia’</a:t>
            </a:r>
            <a:r>
              <a:rPr b="0" i="1" lang="en-GB" sz="1800" u="none" cap="none" strike="noStrike">
                <a:solidFill>
                  <a:schemeClr val="dk1"/>
                </a:solidFill>
                <a:latin typeface="Arial"/>
                <a:ea typeface="Arial"/>
                <a:cs typeface="Arial"/>
                <a:sym typeface="Arial"/>
              </a:rPr>
              <a:t> </a:t>
            </a:r>
            <a:r>
              <a:rPr b="1" i="0" lang="en-GB" sz="1800" u="none" cap="none" strike="noStrike">
                <a:solidFill>
                  <a:schemeClr val="dk1"/>
                </a:solidFill>
                <a:latin typeface="Arial"/>
                <a:ea typeface="Arial"/>
                <a:cs typeface="Arial"/>
                <a:sym typeface="Arial"/>
              </a:rPr>
              <a:t>A provable change in the real world, as a result of research</a:t>
            </a:r>
            <a:endParaRPr b="0" i="0" sz="1500" u="none" cap="none" strike="noStrike">
              <a:solidFill>
                <a:srgbClr val="FF0000"/>
              </a:solidFill>
              <a:latin typeface="Calibri"/>
              <a:ea typeface="Calibri"/>
              <a:cs typeface="Calibri"/>
              <a:sym typeface="Calibri"/>
            </a:endParaRPr>
          </a:p>
        </p:txBody>
      </p:sp>
      <p:sp>
        <p:nvSpPr>
          <p:cNvPr id="138" name="Google Shape;138;p31"/>
          <p:cNvSpPr txBox="1"/>
          <p:nvPr/>
        </p:nvSpPr>
        <p:spPr>
          <a:xfrm>
            <a:off x="305747" y="417666"/>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4200"/>
              <a:buFont typeface="Economica"/>
              <a:buNone/>
            </a:pPr>
            <a:r>
              <a:rPr b="0" i="0" lang="en-GB" sz="4200" u="none" cap="none" strike="noStrike">
                <a:solidFill>
                  <a:schemeClr val="dk1"/>
                </a:solidFill>
                <a:latin typeface="Economica"/>
                <a:ea typeface="Economica"/>
                <a:cs typeface="Economica"/>
                <a:sym typeface="Economica"/>
              </a:rPr>
              <a:t>Impact</a:t>
            </a:r>
            <a:endParaRPr/>
          </a:p>
        </p:txBody>
      </p:sp>
      <p:sp>
        <p:nvSpPr>
          <p:cNvPr id="139" name="Google Shape;139;p31"/>
          <p:cNvSpPr txBox="1"/>
          <p:nvPr/>
        </p:nvSpPr>
        <p:spPr>
          <a:xfrm>
            <a:off x="305746" y="2812135"/>
            <a:ext cx="7758600" cy="214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chemeClr val="dk1"/>
                </a:solidFill>
                <a:latin typeface="Calibri"/>
                <a:ea typeface="Calibri"/>
                <a:cs typeface="Calibri"/>
                <a:sym typeface="Calibri"/>
              </a:rPr>
              <a:t>UK, EU and international funders frequently ask for impact plans and reports to demonstrate to investors value for money. </a:t>
            </a:r>
            <a:endParaRPr/>
          </a:p>
          <a:p>
            <a:pPr indent="0" lvl="0" marL="0" marR="0" rtl="0" algn="l">
              <a:lnSpc>
                <a:spcPct val="100000"/>
              </a:lnSpc>
              <a:spcBef>
                <a:spcPts val="450"/>
              </a:spcBef>
              <a:spcAft>
                <a:spcPts val="0"/>
              </a:spcAft>
              <a:buNone/>
            </a:pPr>
            <a:r>
              <a:rPr b="0" i="0" lang="en-GB" sz="1800" u="none" cap="none" strike="noStrike">
                <a:solidFill>
                  <a:schemeClr val="dk1"/>
                </a:solidFill>
                <a:latin typeface="Calibri"/>
                <a:ea typeface="Calibri"/>
                <a:cs typeface="Calibri"/>
                <a:sym typeface="Calibri"/>
              </a:rPr>
              <a:t>Impact is about ‘real world’ change. It requires planning before, during and even after the life of the grant. </a:t>
            </a:r>
            <a:endParaRPr/>
          </a:p>
          <a:p>
            <a:pPr indent="0" lvl="0" marL="0" marR="0" rtl="0" algn="l">
              <a:lnSpc>
                <a:spcPct val="100000"/>
              </a:lnSpc>
              <a:spcBef>
                <a:spcPts val="450"/>
              </a:spcBef>
              <a:spcAft>
                <a:spcPts val="0"/>
              </a:spcAft>
              <a:buNone/>
            </a:pPr>
            <a:r>
              <a:rPr b="0" i="0" lang="en-GB" sz="1800" u="none" cap="none" strike="noStrike">
                <a:solidFill>
                  <a:schemeClr val="dk1"/>
                </a:solidFill>
                <a:latin typeface="Calibri"/>
                <a:ea typeface="Calibri"/>
                <a:cs typeface="Calibri"/>
                <a:sym typeface="Calibri"/>
              </a:rPr>
              <a:t>PIs are often focused on the research objectives and the immediate contract deliverables. It’s often the role of the management professionals to </a:t>
            </a:r>
            <a:r>
              <a:rPr b="1" i="0" lang="en-GB" sz="1800" u="none" cap="none" strike="noStrike">
                <a:solidFill>
                  <a:schemeClr val="dk1"/>
                </a:solidFill>
                <a:latin typeface="Calibri"/>
                <a:ea typeface="Calibri"/>
                <a:cs typeface="Calibri"/>
                <a:sym typeface="Calibri"/>
              </a:rPr>
              <a:t>coordinate,</a:t>
            </a:r>
            <a:r>
              <a:rPr b="0" i="0" lang="en-GB" sz="1800" u="none" cap="none" strike="noStrike">
                <a:solidFill>
                  <a:schemeClr val="dk1"/>
                </a:solidFill>
                <a:latin typeface="Calibri"/>
                <a:ea typeface="Calibri"/>
                <a:cs typeface="Calibri"/>
                <a:sym typeface="Calibri"/>
              </a:rPr>
              <a:t> </a:t>
            </a:r>
            <a:r>
              <a:rPr b="1" i="0" lang="en-GB" sz="1800" u="none" cap="none" strike="noStrike">
                <a:solidFill>
                  <a:schemeClr val="dk1"/>
                </a:solidFill>
                <a:latin typeface="Calibri"/>
                <a:ea typeface="Calibri"/>
                <a:cs typeface="Calibri"/>
                <a:sym typeface="Calibri"/>
              </a:rPr>
              <a:t>facilitate</a:t>
            </a:r>
            <a:r>
              <a:rPr b="0" i="0" lang="en-GB" sz="1800" u="none" cap="none" strike="noStrike">
                <a:solidFill>
                  <a:schemeClr val="dk1"/>
                </a:solidFill>
                <a:latin typeface="Calibri"/>
                <a:ea typeface="Calibri"/>
                <a:cs typeface="Calibri"/>
                <a:sym typeface="Calibri"/>
              </a:rPr>
              <a:t> and </a:t>
            </a:r>
            <a:r>
              <a:rPr b="1" i="0" lang="en-GB" sz="1800" u="none" cap="none" strike="noStrike">
                <a:solidFill>
                  <a:schemeClr val="dk1"/>
                </a:solidFill>
                <a:latin typeface="Calibri"/>
                <a:ea typeface="Calibri"/>
                <a:cs typeface="Calibri"/>
                <a:sym typeface="Calibri"/>
              </a:rPr>
              <a:t>record</a:t>
            </a:r>
            <a:r>
              <a:rPr b="0" i="0" lang="en-GB" sz="1800" u="none" cap="none" strike="noStrike">
                <a:solidFill>
                  <a:schemeClr val="dk1"/>
                </a:solidFill>
                <a:latin typeface="Calibri"/>
                <a:ea typeface="Calibri"/>
                <a:cs typeface="Calibri"/>
                <a:sym typeface="Calibri"/>
              </a:rPr>
              <a:t> the impact of a research project.</a:t>
            </a:r>
            <a:endParaRPr b="0" i="0" sz="1800" u="none" cap="none" strike="noStrike">
              <a:solidFill>
                <a:srgbClr val="0078C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Who has an interest in your research project?</a:t>
            </a:r>
            <a:endParaRPr/>
          </a:p>
        </p:txBody>
      </p:sp>
      <p:sp>
        <p:nvSpPr>
          <p:cNvPr id="145" name="Google Shape;145;p32"/>
          <p:cNvSpPr txBox="1"/>
          <p:nvPr>
            <p:ph idx="1" type="body"/>
          </p:nvPr>
        </p:nvSpPr>
        <p:spPr>
          <a:xfrm>
            <a:off x="311700" y="1225225"/>
            <a:ext cx="8520600" cy="1167900"/>
          </a:xfrm>
          <a:prstGeom prst="rect">
            <a:avLst/>
          </a:prstGeom>
          <a:solidFill>
            <a:srgbClr val="D8D8D8"/>
          </a:solid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b="1" lang="en-GB"/>
              <a:t>Stakeholder</a:t>
            </a:r>
            <a:r>
              <a:rPr lang="en-GB"/>
              <a:t>: an employee, investor, customer, etc. who is involved in or buys from a business and has an interest in its success.</a:t>
            </a:r>
            <a:endParaRPr/>
          </a:p>
          <a:p>
            <a:pPr indent="0" lvl="0" marL="114300" rtl="0" algn="l">
              <a:lnSpc>
                <a:spcPct val="115000"/>
              </a:lnSpc>
              <a:spcBef>
                <a:spcPts val="0"/>
              </a:spcBef>
              <a:spcAft>
                <a:spcPts val="0"/>
              </a:spcAft>
              <a:buSzPts val="1800"/>
              <a:buNone/>
            </a:pPr>
            <a:r>
              <a:rPr lang="en-GB"/>
              <a:t>(Cambridge English Dictionary)</a:t>
            </a:r>
            <a:endParaRPr/>
          </a:p>
        </p:txBody>
      </p:sp>
      <p:sp>
        <p:nvSpPr>
          <p:cNvPr id="146" name="Google Shape;146;p32"/>
          <p:cNvSpPr txBox="1"/>
          <p:nvPr/>
        </p:nvSpPr>
        <p:spPr>
          <a:xfrm>
            <a:off x="311700" y="2597285"/>
            <a:ext cx="65853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The university wanting to spin out more success?</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Partners wanting to exploit economic opportunities?</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Funders wanting to report on achievements? </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Investors looking for new opportunities?</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Participants hoping to gain something from collaboration?</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Potential customers with unmet needs?</a:t>
            </a:r>
            <a:endParaRPr/>
          </a:p>
        </p:txBody>
      </p:sp>
      <p:sp>
        <p:nvSpPr>
          <p:cNvPr id="147" name="Google Shape;147;p32"/>
          <p:cNvSpPr txBox="1"/>
          <p:nvPr/>
        </p:nvSpPr>
        <p:spPr>
          <a:xfrm>
            <a:off x="165785" y="3982281"/>
            <a:ext cx="8520600" cy="949500"/>
          </a:xfrm>
          <a:prstGeom prst="rect">
            <a:avLst/>
          </a:prstGeom>
          <a:noFill/>
          <a:ln>
            <a:noFill/>
          </a:ln>
        </p:spPr>
        <p:txBody>
          <a:bodyPr anchorCtr="0" anchor="t" bIns="91425" lIns="91425" spcFirstLastPara="1" rIns="91425" wrap="square" tIns="91425">
            <a:normAutofit fontScale="70000" lnSpcReduction="20000"/>
          </a:bodyPr>
          <a:lstStyle/>
          <a:p>
            <a:pPr indent="0" lvl="0" marL="114300" marR="0" rtl="0" algn="l">
              <a:lnSpc>
                <a:spcPct val="115000"/>
              </a:lnSpc>
              <a:spcBef>
                <a:spcPts val="0"/>
              </a:spcBef>
              <a:spcAft>
                <a:spcPts val="0"/>
              </a:spcAft>
              <a:buClr>
                <a:schemeClr val="dk1"/>
              </a:buClr>
              <a:buSzPct val="142857"/>
              <a:buFont typeface="Open Sans"/>
              <a:buNone/>
            </a:pPr>
            <a:r>
              <a:rPr b="0" i="0" lang="en-GB" sz="1800" u="none" cap="none" strike="noStrike">
                <a:solidFill>
                  <a:schemeClr val="dk1"/>
                </a:solidFill>
                <a:latin typeface="Open Sans"/>
                <a:ea typeface="Open Sans"/>
                <a:cs typeface="Open Sans"/>
                <a:sym typeface="Open Sans"/>
              </a:rPr>
              <a:t>Understanding stakeholder interests and influence is crucial to realizing what value the research may have for your organization and for others.</a:t>
            </a:r>
            <a:endParaRPr/>
          </a:p>
          <a:p>
            <a:pPr indent="0" lvl="0" marL="114300" marR="0" rtl="0" algn="l">
              <a:lnSpc>
                <a:spcPct val="115000"/>
              </a:lnSpc>
              <a:spcBef>
                <a:spcPts val="0"/>
              </a:spcBef>
              <a:spcAft>
                <a:spcPts val="0"/>
              </a:spcAft>
              <a:buClr>
                <a:schemeClr val="dk1"/>
              </a:buClr>
              <a:buSzPct val="142857"/>
              <a:buFont typeface="Open Sans"/>
              <a:buNone/>
            </a:pPr>
            <a:r>
              <a:t/>
            </a:r>
            <a:endParaRPr b="0" i="0" sz="1800" u="none" cap="none" strike="noStrike">
              <a:solidFill>
                <a:schemeClr val="dk1"/>
              </a:solidFill>
              <a:latin typeface="Open Sans"/>
              <a:ea typeface="Open Sans"/>
              <a:cs typeface="Open Sans"/>
              <a:sym typeface="Open Sans"/>
            </a:endParaRPr>
          </a:p>
          <a:p>
            <a:pPr indent="0" lvl="0" marL="114300" marR="0" rtl="0" algn="l">
              <a:lnSpc>
                <a:spcPct val="115000"/>
              </a:lnSpc>
              <a:spcBef>
                <a:spcPts val="0"/>
              </a:spcBef>
              <a:spcAft>
                <a:spcPts val="0"/>
              </a:spcAft>
              <a:buClr>
                <a:schemeClr val="dk1"/>
              </a:buClr>
              <a:buSzPct val="142857"/>
              <a:buFont typeface="Open Sans"/>
              <a:buNone/>
            </a:pPr>
            <a:r>
              <a:rPr b="0" i="0" lang="en-GB" sz="1800" u="none" cap="none" strike="noStrike">
                <a:solidFill>
                  <a:schemeClr val="dk1"/>
                </a:solidFill>
                <a:latin typeface="Open Sans"/>
                <a:ea typeface="Open Sans"/>
                <a:cs typeface="Open Sans"/>
                <a:sym typeface="Open Sans"/>
              </a:rPr>
              <a:t>This is the first step to identifying what impact the research has the potential to achieve.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3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solidFill>
                  <a:srgbClr val="FF0000"/>
                </a:solidFill>
              </a:rPr>
              <a:t>Activity - Identifying interest</a:t>
            </a:r>
            <a:endParaRPr/>
          </a:p>
        </p:txBody>
      </p:sp>
      <p:sp>
        <p:nvSpPr>
          <p:cNvPr id="153" name="Google Shape;153;p33"/>
          <p:cNvSpPr txBox="1"/>
          <p:nvPr>
            <p:ph idx="1" type="body"/>
          </p:nvPr>
        </p:nvSpPr>
        <p:spPr>
          <a:xfrm>
            <a:off x="311700" y="1225225"/>
            <a:ext cx="3851700" cy="3354000"/>
          </a:xfrm>
          <a:prstGeom prst="rect">
            <a:avLst/>
          </a:prstGeom>
          <a:solidFill>
            <a:srgbClr val="D8D8D8"/>
          </a:solid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lang="en-GB"/>
              <a:t>CASE STUDY : electric vehicle and smart mobility supply chain mapping project</a:t>
            </a:r>
            <a:endParaRPr/>
          </a:p>
          <a:p>
            <a:pPr indent="0" lvl="0" marL="114300" rtl="0" algn="l">
              <a:lnSpc>
                <a:spcPct val="115000"/>
              </a:lnSpc>
              <a:spcBef>
                <a:spcPts val="0"/>
              </a:spcBef>
              <a:spcAft>
                <a:spcPts val="0"/>
              </a:spcAft>
              <a:buSzPts val="1800"/>
              <a:buNone/>
            </a:pPr>
            <a:r>
              <a:t/>
            </a:r>
            <a:endParaRPr/>
          </a:p>
          <a:p>
            <a:pPr indent="0" lvl="0" marL="114300" rtl="0" algn="l">
              <a:lnSpc>
                <a:spcPct val="115000"/>
              </a:lnSpc>
              <a:spcBef>
                <a:spcPts val="0"/>
              </a:spcBef>
              <a:spcAft>
                <a:spcPts val="0"/>
              </a:spcAft>
              <a:buSzPts val="1800"/>
              <a:buNone/>
            </a:pPr>
            <a:r>
              <a:rPr lang="en-GB" sz="1400"/>
              <a:t>Project to identify key opportunities for the transformation of the small business supply chain for new transport technologies in air, sea, road, rail and smart mobility. Partnership includes universities and small business networks.</a:t>
            </a:r>
            <a:endParaRPr/>
          </a:p>
        </p:txBody>
      </p:sp>
      <p:sp>
        <p:nvSpPr>
          <p:cNvPr id="154" name="Google Shape;154;p33"/>
          <p:cNvSpPr txBox="1"/>
          <p:nvPr/>
        </p:nvSpPr>
        <p:spPr>
          <a:xfrm>
            <a:off x="4426085" y="1147225"/>
            <a:ext cx="3793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On your tables take 10 minutes to identify:</a:t>
            </a:r>
            <a:endParaRPr/>
          </a:p>
        </p:txBody>
      </p:sp>
      <p:graphicFrame>
        <p:nvGraphicFramePr>
          <p:cNvPr id="155" name="Google Shape;155;p33"/>
          <p:cNvGraphicFramePr/>
          <p:nvPr/>
        </p:nvGraphicFramePr>
        <p:xfrm>
          <a:off x="4503906" y="1689440"/>
          <a:ext cx="3000000" cy="3000000"/>
        </p:xfrm>
        <a:graphic>
          <a:graphicData uri="http://schemas.openxmlformats.org/drawingml/2006/table">
            <a:tbl>
              <a:tblPr bandRow="1" firstRow="1">
                <a:noFill/>
                <a:tableStyleId>{EF9480BA-C887-423D-933D-6EBDBDD57C4D}</a:tableStyleId>
              </a:tblPr>
              <a:tblGrid>
                <a:gridCol w="3482500"/>
              </a:tblGrid>
              <a:tr h="363125">
                <a:tc>
                  <a:txBody>
                    <a:bodyPr/>
                    <a:lstStyle/>
                    <a:p>
                      <a:pPr indent="0" lvl="0" marL="0" marR="0" rtl="0" algn="l">
                        <a:lnSpc>
                          <a:spcPct val="100000"/>
                        </a:lnSpc>
                        <a:spcBef>
                          <a:spcPts val="0"/>
                        </a:spcBef>
                        <a:spcAft>
                          <a:spcPts val="0"/>
                        </a:spcAft>
                        <a:buNone/>
                      </a:pPr>
                      <a:r>
                        <a:rPr lang="en-GB" sz="1400" u="none" cap="none" strike="noStrike"/>
                        <a:t>What impact could the project achieve in terms of public policy?</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What might be the funder’s objectives and interests in backing the project?</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What is the commercial value for the university? </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Can partnerships be built on or expanded? </a:t>
                      </a:r>
                      <a:endParaRPr/>
                    </a:p>
                    <a:p>
                      <a:pPr indent="-285750" lvl="0" marL="285750" marR="0" rtl="0" algn="l">
                        <a:lnSpc>
                          <a:spcPct val="100000"/>
                        </a:lnSpc>
                        <a:spcBef>
                          <a:spcPts val="0"/>
                        </a:spcBef>
                        <a:spcAft>
                          <a:spcPts val="0"/>
                        </a:spcAft>
                        <a:buClr>
                          <a:srgbClr val="000000"/>
                        </a:buClr>
                        <a:buSzPts val="1400"/>
                        <a:buFont typeface="Arial"/>
                        <a:buChar char="-"/>
                      </a:pPr>
                      <a:r>
                        <a:rPr lang="en-GB" sz="1400" u="none" cap="none" strike="noStrike"/>
                        <a:t>Other strategic partners? </a:t>
                      </a:r>
                      <a:endParaRPr/>
                    </a:p>
                    <a:p>
                      <a:pPr indent="-285750" lvl="0" marL="285750" marR="0" rtl="0" algn="l">
                        <a:lnSpc>
                          <a:spcPct val="100000"/>
                        </a:lnSpc>
                        <a:spcBef>
                          <a:spcPts val="0"/>
                        </a:spcBef>
                        <a:spcAft>
                          <a:spcPts val="0"/>
                        </a:spcAft>
                        <a:buClr>
                          <a:srgbClr val="000000"/>
                        </a:buClr>
                        <a:buSzPts val="1400"/>
                        <a:buFont typeface="Arial"/>
                        <a:buChar char="-"/>
                      </a:pPr>
                      <a:r>
                        <a:rPr lang="en-GB" sz="1400" u="none" cap="none" strike="noStrike"/>
                        <a:t>Other international partners</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How might the SMEs benefit?</a:t>
                      </a:r>
                      <a:endParaRPr/>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nvSpPr>
        <p:spPr>
          <a:xfrm>
            <a:off x="6896100" y="4843462"/>
            <a:ext cx="1228800" cy="18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600" u="none" cap="none" strike="noStrike">
                <a:solidFill>
                  <a:srgbClr val="0078C4"/>
                </a:solidFill>
                <a:latin typeface="Arial"/>
                <a:ea typeface="Arial"/>
                <a:cs typeface="Arial"/>
                <a:sym typeface="Arial"/>
              </a:rPr>
              <a:t>© J.Bayley 2015</a:t>
            </a:r>
            <a:endParaRPr/>
          </a:p>
        </p:txBody>
      </p:sp>
      <p:sp>
        <p:nvSpPr>
          <p:cNvPr id="162" name="Google Shape;162;p34"/>
          <p:cNvSpPr txBox="1"/>
          <p:nvPr/>
        </p:nvSpPr>
        <p:spPr>
          <a:xfrm>
            <a:off x="375554" y="1291232"/>
            <a:ext cx="3024300" cy="3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dk1"/>
                </a:solidFill>
                <a:latin typeface="Arial"/>
                <a:ea typeface="Arial"/>
                <a:cs typeface="Arial"/>
                <a:sym typeface="Arial"/>
              </a:rPr>
              <a:t>Impact is:</a:t>
            </a:r>
            <a:endParaRPr/>
          </a:p>
          <a:p>
            <a:pPr indent="-342900" lvl="0" marL="34290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A definable </a:t>
            </a:r>
            <a:r>
              <a:rPr b="1" i="0" lang="en-GB" sz="1500" u="none" cap="none" strike="noStrike">
                <a:solidFill>
                  <a:schemeClr val="dk1"/>
                </a:solidFill>
                <a:latin typeface="Arial"/>
                <a:ea typeface="Arial"/>
                <a:cs typeface="Arial"/>
                <a:sym typeface="Arial"/>
              </a:rPr>
              <a:t>change</a:t>
            </a:r>
            <a:endParaRPr/>
          </a:p>
          <a:p>
            <a:pPr indent="-342900" lvl="0" marL="342900" marR="0" rtl="0" algn="l">
              <a:lnSpc>
                <a:spcPct val="100000"/>
              </a:lnSpc>
              <a:spcBef>
                <a:spcPts val="300"/>
              </a:spcBef>
              <a:spcAft>
                <a:spcPts val="0"/>
              </a:spcAft>
              <a:buClr>
                <a:srgbClr val="000000"/>
              </a:buClr>
              <a:buSzPts val="1500"/>
              <a:buFont typeface="Noto Sans Symbols"/>
              <a:buChar char="✔"/>
            </a:pPr>
            <a:r>
              <a:rPr b="1" i="0" lang="en-GB" sz="1500" u="none" cap="none" strike="noStrike">
                <a:solidFill>
                  <a:schemeClr val="dk1"/>
                </a:solidFill>
                <a:latin typeface="Arial"/>
                <a:ea typeface="Arial"/>
                <a:cs typeface="Arial"/>
                <a:sym typeface="Arial"/>
              </a:rPr>
              <a:t>Beyond</a:t>
            </a:r>
            <a:r>
              <a:rPr b="0" i="0" lang="en-GB" sz="1500" u="none" cap="none" strike="noStrike">
                <a:solidFill>
                  <a:schemeClr val="dk1"/>
                </a:solidFill>
                <a:latin typeface="Arial"/>
                <a:ea typeface="Arial"/>
                <a:cs typeface="Arial"/>
                <a:sym typeface="Arial"/>
              </a:rPr>
              <a:t> academia</a:t>
            </a:r>
            <a:endParaRPr/>
          </a:p>
          <a:p>
            <a:pPr indent="-342900" lvl="0" marL="34290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As a </a:t>
            </a:r>
            <a:r>
              <a:rPr b="1" i="0" lang="en-GB" sz="1500" u="none" cap="none" strike="noStrike">
                <a:solidFill>
                  <a:schemeClr val="dk1"/>
                </a:solidFill>
                <a:latin typeface="Arial"/>
                <a:ea typeface="Arial"/>
                <a:cs typeface="Arial"/>
                <a:sym typeface="Arial"/>
              </a:rPr>
              <a:t>result</a:t>
            </a:r>
            <a:r>
              <a:rPr b="0" i="0" lang="en-GB" sz="1500" u="none" cap="none" strike="noStrike">
                <a:solidFill>
                  <a:schemeClr val="dk1"/>
                </a:solidFill>
                <a:latin typeface="Arial"/>
                <a:ea typeface="Arial"/>
                <a:cs typeface="Arial"/>
                <a:sym typeface="Arial"/>
              </a:rPr>
              <a:t> of our research</a:t>
            </a:r>
            <a:endParaRPr/>
          </a:p>
          <a:p>
            <a:pPr indent="-342900" lvl="0" marL="342900" marR="0" rtl="0" algn="l">
              <a:lnSpc>
                <a:spcPct val="100000"/>
              </a:lnSpc>
              <a:spcBef>
                <a:spcPts val="300"/>
              </a:spcBef>
              <a:spcAft>
                <a:spcPts val="0"/>
              </a:spcAft>
              <a:buClr>
                <a:srgbClr val="000000"/>
              </a:buClr>
              <a:buSzPts val="1500"/>
              <a:buFont typeface="Noto Sans Symbols"/>
              <a:buChar char="✔"/>
            </a:pPr>
            <a:r>
              <a:rPr b="1" i="0" lang="en-GB" sz="1500" u="none" cap="none" strike="noStrike">
                <a:solidFill>
                  <a:schemeClr val="dk1"/>
                </a:solidFill>
                <a:latin typeface="Arial"/>
                <a:ea typeface="Arial"/>
                <a:cs typeface="Arial"/>
                <a:sym typeface="Arial"/>
              </a:rPr>
              <a:t>Provable</a:t>
            </a:r>
            <a:endParaRPr/>
          </a:p>
          <a:p>
            <a:pPr indent="-342900" lvl="0" marL="342900" marR="0" rtl="0" algn="l">
              <a:lnSpc>
                <a:spcPct val="100000"/>
              </a:lnSpc>
              <a:spcBef>
                <a:spcPts val="45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Examples:</a:t>
            </a:r>
            <a:endParaRPr/>
          </a:p>
          <a:p>
            <a:pPr indent="-213300" lvl="1" marL="556200" marR="0" rtl="0" algn="l">
              <a:lnSpc>
                <a:spcPct val="100000"/>
              </a:lnSpc>
              <a:spcBef>
                <a:spcPts val="270"/>
              </a:spcBef>
              <a:spcAft>
                <a:spcPts val="0"/>
              </a:spcAft>
              <a:buClr>
                <a:srgbClr val="000000"/>
              </a:buClr>
              <a:buSzPts val="1350"/>
              <a:buFont typeface="Calibri"/>
              <a:buChar char="−"/>
            </a:pPr>
            <a:r>
              <a:rPr b="0" i="0" lang="en-GB" sz="1350" u="none" cap="none" strike="noStrike">
                <a:solidFill>
                  <a:srgbClr val="FF0000"/>
                </a:solidFill>
                <a:latin typeface="Arial"/>
                <a:ea typeface="Arial"/>
                <a:cs typeface="Arial"/>
                <a:sym typeface="Arial"/>
              </a:rPr>
              <a:t>Change in policy</a:t>
            </a:r>
            <a:endParaRPr/>
          </a:p>
          <a:p>
            <a:pPr indent="-213300" lvl="1" marL="556200" marR="0" rtl="0" algn="l">
              <a:lnSpc>
                <a:spcPct val="100000"/>
              </a:lnSpc>
              <a:spcBef>
                <a:spcPts val="270"/>
              </a:spcBef>
              <a:spcAft>
                <a:spcPts val="0"/>
              </a:spcAft>
              <a:buClr>
                <a:srgbClr val="000000"/>
              </a:buClr>
              <a:buSzPts val="1350"/>
              <a:buFont typeface="Calibri"/>
              <a:buChar char="−"/>
            </a:pPr>
            <a:r>
              <a:rPr b="0" i="0" lang="en-GB" sz="1350" u="none" cap="none" strike="noStrike">
                <a:solidFill>
                  <a:srgbClr val="FF0000"/>
                </a:solidFill>
                <a:latin typeface="Arial"/>
                <a:ea typeface="Arial"/>
                <a:cs typeface="Arial"/>
                <a:sym typeface="Arial"/>
              </a:rPr>
              <a:t>Increased effectiveness of.. </a:t>
            </a:r>
            <a:endParaRPr/>
          </a:p>
          <a:p>
            <a:pPr indent="-213300" lvl="1" marL="556200" marR="0" rtl="0" algn="l">
              <a:lnSpc>
                <a:spcPct val="100000"/>
              </a:lnSpc>
              <a:spcBef>
                <a:spcPts val="270"/>
              </a:spcBef>
              <a:spcAft>
                <a:spcPts val="0"/>
              </a:spcAft>
              <a:buClr>
                <a:srgbClr val="000000"/>
              </a:buClr>
              <a:buSzPts val="1350"/>
              <a:buFont typeface="Calibri"/>
              <a:buChar char="−"/>
            </a:pPr>
            <a:r>
              <a:rPr b="0" i="0" lang="en-GB" sz="1350" u="none" cap="none" strike="noStrike">
                <a:solidFill>
                  <a:srgbClr val="FF0000"/>
                </a:solidFill>
                <a:latin typeface="Arial"/>
                <a:ea typeface="Arial"/>
                <a:cs typeface="Arial"/>
                <a:sym typeface="Arial"/>
              </a:rPr>
              <a:t>Improved wellbeing of..</a:t>
            </a:r>
            <a:endParaRPr/>
          </a:p>
          <a:p>
            <a:pPr indent="-213300" lvl="1" marL="556200" marR="0" rtl="0" algn="l">
              <a:lnSpc>
                <a:spcPct val="100000"/>
              </a:lnSpc>
              <a:spcBef>
                <a:spcPts val="270"/>
              </a:spcBef>
              <a:spcAft>
                <a:spcPts val="0"/>
              </a:spcAft>
              <a:buClr>
                <a:srgbClr val="000000"/>
              </a:buClr>
              <a:buSzPts val="1350"/>
              <a:buFont typeface="Calibri"/>
              <a:buChar char="−"/>
            </a:pPr>
            <a:r>
              <a:rPr b="0" i="0" lang="en-GB" sz="1350" u="none" cap="none" strike="noStrike">
                <a:solidFill>
                  <a:srgbClr val="FF0000"/>
                </a:solidFill>
                <a:latin typeface="Arial"/>
                <a:ea typeface="Arial"/>
                <a:cs typeface="Arial"/>
                <a:sym typeface="Arial"/>
              </a:rPr>
              <a:t>Reduced costs</a:t>
            </a:r>
            <a:endParaRPr/>
          </a:p>
          <a:p>
            <a:pPr indent="-213300" lvl="1" marL="556200" marR="0" rtl="0" algn="l">
              <a:lnSpc>
                <a:spcPct val="100000"/>
              </a:lnSpc>
              <a:spcBef>
                <a:spcPts val="270"/>
              </a:spcBef>
              <a:spcAft>
                <a:spcPts val="0"/>
              </a:spcAft>
              <a:buClr>
                <a:srgbClr val="000000"/>
              </a:buClr>
              <a:buSzPts val="1350"/>
              <a:buFont typeface="Calibri"/>
              <a:buChar char="−"/>
            </a:pPr>
            <a:r>
              <a:rPr b="0" i="0" lang="en-GB" sz="1350" u="none" cap="none" strike="noStrike">
                <a:solidFill>
                  <a:srgbClr val="FF0000"/>
                </a:solidFill>
                <a:latin typeface="Arial"/>
                <a:ea typeface="Arial"/>
                <a:cs typeface="Arial"/>
                <a:sym typeface="Arial"/>
              </a:rPr>
              <a:t>Improved sales</a:t>
            </a:r>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rgbClr val="1578BF"/>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rgbClr val="1578BF"/>
              </a:solidFill>
              <a:latin typeface="Arial"/>
              <a:ea typeface="Arial"/>
              <a:cs typeface="Arial"/>
              <a:sym typeface="Arial"/>
            </a:endParaRPr>
          </a:p>
        </p:txBody>
      </p:sp>
      <p:sp>
        <p:nvSpPr>
          <p:cNvPr id="163" name="Google Shape;163;p34"/>
          <p:cNvSpPr txBox="1"/>
          <p:nvPr/>
        </p:nvSpPr>
        <p:spPr>
          <a:xfrm>
            <a:off x="5207794" y="1301769"/>
            <a:ext cx="2916900" cy="3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chemeClr val="dk1"/>
                </a:solidFill>
                <a:latin typeface="Arial"/>
                <a:ea typeface="Arial"/>
                <a:cs typeface="Arial"/>
                <a:sym typeface="Arial"/>
              </a:rPr>
              <a:t>Impact isn’t:</a:t>
            </a:r>
            <a:endParaRPr/>
          </a:p>
          <a:p>
            <a:pPr indent="-95250" lvl="0" marL="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  Dissemination</a:t>
            </a:r>
            <a:endParaRPr/>
          </a:p>
          <a:p>
            <a:pPr indent="-95250" lvl="0" marL="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  Communication</a:t>
            </a:r>
            <a:endParaRPr/>
          </a:p>
          <a:p>
            <a:pPr indent="-95250" lvl="0" marL="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  Partnerships</a:t>
            </a:r>
            <a:endParaRPr/>
          </a:p>
          <a:p>
            <a:pPr indent="-95250" lvl="0" marL="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  Unlinked to research</a:t>
            </a:r>
            <a:endParaRPr/>
          </a:p>
          <a:p>
            <a:pPr indent="-95250" lvl="0" marL="0" marR="0" rtl="0" algn="l">
              <a:lnSpc>
                <a:spcPct val="100000"/>
              </a:lnSpc>
              <a:spcBef>
                <a:spcPts val="300"/>
              </a:spcBef>
              <a:spcAft>
                <a:spcPts val="0"/>
              </a:spcAft>
              <a:buClr>
                <a:srgbClr val="000000"/>
              </a:buClr>
              <a:buSzPts val="1500"/>
              <a:buFont typeface="Noto Sans Symbols"/>
              <a:buChar char="🗶"/>
            </a:pPr>
            <a:r>
              <a:rPr b="0" i="0" lang="en-GB" sz="1500" u="none" cap="none" strike="noStrike">
                <a:solidFill>
                  <a:schemeClr val="dk1"/>
                </a:solidFill>
                <a:latin typeface="Arial"/>
                <a:ea typeface="Arial"/>
                <a:cs typeface="Arial"/>
                <a:sym typeface="Arial"/>
              </a:rPr>
              <a:t>  Academic publications</a:t>
            </a:r>
            <a:endParaRPr/>
          </a:p>
          <a:p>
            <a:pPr indent="0" lvl="0" marL="0" marR="0" rtl="0" algn="l">
              <a:lnSpc>
                <a:spcPct val="100000"/>
              </a:lnSpc>
              <a:spcBef>
                <a:spcPts val="300"/>
              </a:spcBef>
              <a:spcAft>
                <a:spcPts val="0"/>
              </a:spcAft>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164" name="Google Shape;164;p34"/>
          <p:cNvSpPr txBox="1"/>
          <p:nvPr/>
        </p:nvSpPr>
        <p:spPr>
          <a:xfrm>
            <a:off x="375554" y="320390"/>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4200"/>
              <a:buFont typeface="Economica"/>
              <a:buNone/>
            </a:pPr>
            <a:r>
              <a:rPr b="0" i="0" lang="en-GB" sz="4200" u="none" cap="none" strike="noStrike">
                <a:solidFill>
                  <a:schemeClr val="dk1"/>
                </a:solidFill>
                <a:latin typeface="Economica"/>
                <a:ea typeface="Economica"/>
                <a:cs typeface="Economica"/>
                <a:sym typeface="Economica"/>
              </a:rPr>
              <a:t>Impact</a:t>
            </a:r>
            <a:endParaRPr/>
          </a:p>
        </p:txBody>
      </p:sp>
      <p:cxnSp>
        <p:nvCxnSpPr>
          <p:cNvPr id="165" name="Google Shape;165;p34"/>
          <p:cNvCxnSpPr/>
          <p:nvPr/>
        </p:nvCxnSpPr>
        <p:spPr>
          <a:xfrm>
            <a:off x="3784060" y="2694563"/>
            <a:ext cx="583800" cy="0"/>
          </a:xfrm>
          <a:prstGeom prst="straightConnector1">
            <a:avLst/>
          </a:prstGeom>
          <a:noFill/>
          <a:ln cap="flat" cmpd="sng" w="38100">
            <a:solidFill>
              <a:schemeClr val="accent2"/>
            </a:solidFill>
            <a:prstDash val="solid"/>
            <a:round/>
            <a:headEnd len="med" w="med" type="triangle"/>
            <a:tailEnd len="med" w="med" type="triangle"/>
          </a:ln>
          <a:effectLst>
            <a:outerShdw blurRad="40000" rotWithShape="0" dir="5400000" dist="23000">
              <a:srgbClr val="000000">
                <a:alpha val="34900"/>
              </a:srgbClr>
            </a:outerShdw>
          </a:effectLst>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35"/>
          <p:cNvGrpSpPr/>
          <p:nvPr/>
        </p:nvGrpSpPr>
        <p:grpSpPr>
          <a:xfrm>
            <a:off x="288732" y="1252259"/>
            <a:ext cx="4052742" cy="3495900"/>
            <a:chOff x="678065" y="75821"/>
            <a:chExt cx="4052742" cy="3495900"/>
          </a:xfrm>
        </p:grpSpPr>
        <p:sp>
          <p:nvSpPr>
            <p:cNvPr id="172" name="Google Shape;172;p35"/>
            <p:cNvSpPr/>
            <p:nvPr/>
          </p:nvSpPr>
          <p:spPr>
            <a:xfrm>
              <a:off x="956420" y="75821"/>
              <a:ext cx="3495900" cy="3495900"/>
            </a:xfrm>
            <a:custGeom>
              <a:rect b="b" l="l" r="r" t="t"/>
              <a:pathLst>
                <a:path extrusionOk="0" h="120000" w="120000">
                  <a:moveTo>
                    <a:pt x="73762" y="5286"/>
                  </a:moveTo>
                  <a:cubicBezTo>
                    <a:pt x="99894" y="11859"/>
                    <a:pt x="117730" y="35994"/>
                    <a:pt x="116343" y="62905"/>
                  </a:cubicBezTo>
                  <a:cubicBezTo>
                    <a:pt x="114956" y="89815"/>
                    <a:pt x="94732" y="111988"/>
                    <a:pt x="68063" y="115839"/>
                  </a:cubicBezTo>
                  <a:cubicBezTo>
                    <a:pt x="41393" y="119690"/>
                    <a:pt x="15723" y="104143"/>
                    <a:pt x="6780" y="78725"/>
                  </a:cubicBezTo>
                  <a:cubicBezTo>
                    <a:pt x="-2163" y="53306"/>
                    <a:pt x="8117" y="25111"/>
                    <a:pt x="31322" y="11414"/>
                  </a:cubicBezTo>
                  <a:lnTo>
                    <a:pt x="29794" y="8191"/>
                  </a:lnTo>
                  <a:lnTo>
                    <a:pt x="37256" y="12027"/>
                  </a:lnTo>
                  <a:lnTo>
                    <a:pt x="35713" y="20675"/>
                  </a:lnTo>
                  <a:lnTo>
                    <a:pt x="34186" y="17454"/>
                  </a:lnTo>
                  <a:cubicBezTo>
                    <a:pt x="13913" y="29753"/>
                    <a:pt x="5135" y="54648"/>
                    <a:pt x="13208" y="76943"/>
                  </a:cubicBezTo>
                  <a:cubicBezTo>
                    <a:pt x="21281" y="99239"/>
                    <a:pt x="43963" y="112741"/>
                    <a:pt x="67411" y="109210"/>
                  </a:cubicBezTo>
                  <a:cubicBezTo>
                    <a:pt x="90858" y="105679"/>
                    <a:pt x="108558" y="86095"/>
                    <a:pt x="109707" y="62411"/>
                  </a:cubicBezTo>
                  <a:cubicBezTo>
                    <a:pt x="110856" y="38727"/>
                    <a:pt x="95135" y="17522"/>
                    <a:pt x="72139" y="11738"/>
                  </a:cubicBezTo>
                  <a:close/>
                </a:path>
              </a:pathLst>
            </a:custGeom>
            <a:solidFill>
              <a:srgbClr val="CE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a:off x="2095636" y="128179"/>
              <a:ext cx="1217400" cy="539400"/>
            </a:xfrm>
            <a:prstGeom prst="roundRect">
              <a:avLst>
                <a:gd fmla="val 16667" name="adj"/>
              </a:avLst>
            </a:prstGeom>
            <a:solidFill>
              <a:srgbClr val="445A6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txBox="1"/>
            <p:nvPr/>
          </p:nvSpPr>
          <p:spPr>
            <a:xfrm>
              <a:off x="2121962" y="154505"/>
              <a:ext cx="1164600" cy="486600"/>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rgbClr val="000000"/>
                </a:buClr>
                <a:buSzPts val="2100"/>
                <a:buFont typeface="Arial"/>
                <a:buNone/>
              </a:pPr>
              <a:r>
                <a:rPr b="0" i="0" lang="en-GB" sz="2100" u="none" cap="none" strike="noStrike">
                  <a:solidFill>
                    <a:schemeClr val="lt1"/>
                  </a:solidFill>
                  <a:latin typeface="Arial"/>
                  <a:ea typeface="Arial"/>
                  <a:cs typeface="Arial"/>
                  <a:sym typeface="Arial"/>
                </a:rPr>
                <a:t>Think</a:t>
              </a:r>
              <a:endParaRPr/>
            </a:p>
          </p:txBody>
        </p:sp>
        <p:sp>
          <p:nvSpPr>
            <p:cNvPr id="175" name="Google Shape;175;p35"/>
            <p:cNvSpPr/>
            <p:nvPr/>
          </p:nvSpPr>
          <p:spPr>
            <a:xfrm>
              <a:off x="3513407" y="1158249"/>
              <a:ext cx="1217400" cy="539400"/>
            </a:xfrm>
            <a:prstGeom prst="roundRect">
              <a:avLst>
                <a:gd fmla="val 16667" name="adj"/>
              </a:avLst>
            </a:prstGeom>
            <a:solidFill>
              <a:srgbClr val="57BB8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txBox="1"/>
            <p:nvPr/>
          </p:nvSpPr>
          <p:spPr>
            <a:xfrm>
              <a:off x="3539733" y="1184575"/>
              <a:ext cx="1164600" cy="486600"/>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rgbClr val="000000"/>
                </a:buClr>
                <a:buSzPts val="2100"/>
                <a:buFont typeface="Arial"/>
                <a:buNone/>
              </a:pPr>
              <a:r>
                <a:rPr b="0" i="0" lang="en-GB" sz="2100" u="none" cap="none" strike="noStrike">
                  <a:solidFill>
                    <a:schemeClr val="lt1"/>
                  </a:solidFill>
                  <a:latin typeface="Arial"/>
                  <a:ea typeface="Arial"/>
                  <a:cs typeface="Arial"/>
                  <a:sym typeface="Arial"/>
                </a:rPr>
                <a:t>Plan</a:t>
              </a:r>
              <a:endParaRPr/>
            </a:p>
          </p:txBody>
        </p:sp>
        <p:sp>
          <p:nvSpPr>
            <p:cNvPr id="177" name="Google Shape;177;p35"/>
            <p:cNvSpPr/>
            <p:nvPr/>
          </p:nvSpPr>
          <p:spPr>
            <a:xfrm>
              <a:off x="2971867" y="2824938"/>
              <a:ext cx="1217400" cy="539400"/>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txBox="1"/>
            <p:nvPr/>
          </p:nvSpPr>
          <p:spPr>
            <a:xfrm>
              <a:off x="2998193" y="2851264"/>
              <a:ext cx="1164600" cy="486600"/>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rgbClr val="000000"/>
                </a:buClr>
                <a:buSzPts val="2100"/>
                <a:buFont typeface="Arial"/>
                <a:buNone/>
              </a:pPr>
              <a:r>
                <a:rPr b="0" i="0" lang="en-GB" sz="2100" u="none" cap="none" strike="noStrike">
                  <a:solidFill>
                    <a:schemeClr val="lt1"/>
                  </a:solidFill>
                  <a:latin typeface="Arial"/>
                  <a:ea typeface="Arial"/>
                  <a:cs typeface="Arial"/>
                  <a:sym typeface="Arial"/>
                </a:rPr>
                <a:t>Write</a:t>
              </a:r>
              <a:endParaRPr/>
            </a:p>
          </p:txBody>
        </p:sp>
        <p:sp>
          <p:nvSpPr>
            <p:cNvPr id="179" name="Google Shape;179;p35"/>
            <p:cNvSpPr/>
            <p:nvPr/>
          </p:nvSpPr>
          <p:spPr>
            <a:xfrm>
              <a:off x="1265052" y="2824501"/>
              <a:ext cx="1125900" cy="540300"/>
            </a:xfrm>
            <a:prstGeom prst="roundRect">
              <a:avLst>
                <a:gd fmla="val 16667" name="adj"/>
              </a:avLst>
            </a:prstGeom>
            <a:solidFill>
              <a:srgbClr val="5F7D8B"/>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txBox="1"/>
            <p:nvPr/>
          </p:nvSpPr>
          <p:spPr>
            <a:xfrm>
              <a:off x="1291420" y="2850869"/>
              <a:ext cx="1073400" cy="487500"/>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rgbClr val="000000"/>
                </a:buClr>
                <a:buSzPts val="2100"/>
                <a:buFont typeface="Arial"/>
                <a:buNone/>
              </a:pPr>
              <a:r>
                <a:rPr b="0" i="0" lang="en-GB" sz="2100" u="none" cap="none" strike="noStrike">
                  <a:solidFill>
                    <a:schemeClr val="lt1"/>
                  </a:solidFill>
                  <a:latin typeface="Arial"/>
                  <a:ea typeface="Arial"/>
                  <a:cs typeface="Arial"/>
                  <a:sym typeface="Arial"/>
                </a:rPr>
                <a:t>Do</a:t>
              </a:r>
              <a:endParaRPr/>
            </a:p>
          </p:txBody>
        </p:sp>
        <p:sp>
          <p:nvSpPr>
            <p:cNvPr id="181" name="Google Shape;181;p35"/>
            <p:cNvSpPr/>
            <p:nvPr/>
          </p:nvSpPr>
          <p:spPr>
            <a:xfrm>
              <a:off x="678065" y="1116228"/>
              <a:ext cx="1216800" cy="623400"/>
            </a:xfrm>
            <a:prstGeom prst="roundRect">
              <a:avLst>
                <a:gd fmla="val 16667" name="adj"/>
              </a:avLst>
            </a:prstGeom>
            <a:solidFill>
              <a:srgbClr val="DCE75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txBox="1"/>
            <p:nvPr/>
          </p:nvSpPr>
          <p:spPr>
            <a:xfrm>
              <a:off x="708493" y="1146656"/>
              <a:ext cx="1156200" cy="562500"/>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rgbClr val="000000"/>
                </a:buClr>
                <a:buSzPts val="2100"/>
                <a:buFont typeface="Arial"/>
                <a:buNone/>
              </a:pPr>
              <a:r>
                <a:rPr b="0" i="0" lang="en-GB" sz="2100" u="none" cap="none" strike="noStrike">
                  <a:solidFill>
                    <a:schemeClr val="lt1"/>
                  </a:solidFill>
                  <a:latin typeface="Arial"/>
                  <a:ea typeface="Arial"/>
                  <a:cs typeface="Arial"/>
                  <a:sym typeface="Arial"/>
                </a:rPr>
                <a:t>Capture</a:t>
              </a:r>
              <a:endParaRPr/>
            </a:p>
          </p:txBody>
        </p:sp>
      </p:grpSp>
      <p:sp>
        <p:nvSpPr>
          <p:cNvPr id="183" name="Google Shape;183;p35"/>
          <p:cNvSpPr txBox="1"/>
          <p:nvPr/>
        </p:nvSpPr>
        <p:spPr>
          <a:xfrm>
            <a:off x="305747" y="345138"/>
            <a:ext cx="8520600" cy="8313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4200"/>
              <a:buFont typeface="Economica"/>
              <a:buNone/>
            </a:pPr>
            <a:r>
              <a:rPr b="0" i="0" lang="en-GB" sz="4200" u="none" cap="none" strike="noStrike">
                <a:solidFill>
                  <a:schemeClr val="dk1"/>
                </a:solidFill>
                <a:latin typeface="Economica"/>
                <a:ea typeface="Economica"/>
                <a:cs typeface="Economica"/>
                <a:sym typeface="Economica"/>
              </a:rPr>
              <a:t>Impact - Example</a:t>
            </a:r>
            <a:endParaRPr/>
          </a:p>
        </p:txBody>
      </p:sp>
      <p:sp>
        <p:nvSpPr>
          <p:cNvPr id="184" name="Google Shape;184;p35"/>
          <p:cNvSpPr txBox="1"/>
          <p:nvPr/>
        </p:nvSpPr>
        <p:spPr>
          <a:xfrm>
            <a:off x="4717915" y="622015"/>
            <a:ext cx="3511800" cy="4048200"/>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Electric Vehicle Supply Chain Example</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100" u="sng" cap="none" strike="noStrike">
                <a:solidFill>
                  <a:srgbClr val="000000"/>
                </a:solidFill>
                <a:latin typeface="Arial"/>
                <a:ea typeface="Arial"/>
                <a:cs typeface="Arial"/>
                <a:sym typeface="Arial"/>
              </a:rPr>
              <a:t>Think</a:t>
            </a:r>
            <a:r>
              <a:rPr b="0" i="0" lang="en-GB" sz="1100" u="none" cap="none" strike="noStrike">
                <a:solidFill>
                  <a:srgbClr val="000000"/>
                </a:solidFill>
                <a:latin typeface="Arial"/>
                <a:ea typeface="Arial"/>
                <a:cs typeface="Arial"/>
                <a:sym typeface="Arial"/>
              </a:rPr>
              <a:t>: We aim to change EU innovation investment policy. </a:t>
            </a:r>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100" u="sng" cap="none" strike="noStrike">
                <a:solidFill>
                  <a:srgbClr val="000000"/>
                </a:solidFill>
                <a:latin typeface="Arial"/>
                <a:ea typeface="Arial"/>
                <a:cs typeface="Arial"/>
                <a:sym typeface="Arial"/>
              </a:rPr>
              <a:t>Plan</a:t>
            </a:r>
            <a:r>
              <a:rPr b="0" i="0" lang="en-GB" sz="1100" u="none" cap="none" strike="noStrike">
                <a:solidFill>
                  <a:srgbClr val="000000"/>
                </a:solidFill>
                <a:latin typeface="Arial"/>
                <a:ea typeface="Arial"/>
                <a:cs typeface="Arial"/>
                <a:sym typeface="Arial"/>
              </a:rPr>
              <a:t>: We need to identify </a:t>
            </a:r>
            <a:r>
              <a:rPr b="1" i="0" lang="en-GB" sz="1100" u="none" cap="none" strike="noStrike">
                <a:solidFill>
                  <a:srgbClr val="000000"/>
                </a:solidFill>
                <a:latin typeface="Arial"/>
                <a:ea typeface="Arial"/>
                <a:cs typeface="Arial"/>
                <a:sym typeface="Arial"/>
              </a:rPr>
              <a:t>who </a:t>
            </a:r>
            <a:r>
              <a:rPr b="0" i="0" lang="en-GB" sz="1100" u="none" cap="none" strike="noStrike">
                <a:solidFill>
                  <a:srgbClr val="000000"/>
                </a:solidFill>
                <a:latin typeface="Arial"/>
                <a:ea typeface="Arial"/>
                <a:cs typeface="Arial"/>
                <a:sym typeface="Arial"/>
              </a:rPr>
              <a:t>needs to be involved (e.g. EU, national actors, regions, organisations) what </a:t>
            </a:r>
            <a:r>
              <a:rPr b="1" i="0" lang="en-GB" sz="1100" u="none" cap="none" strike="noStrike">
                <a:solidFill>
                  <a:srgbClr val="000000"/>
                </a:solidFill>
                <a:latin typeface="Arial"/>
                <a:ea typeface="Arial"/>
                <a:cs typeface="Arial"/>
                <a:sym typeface="Arial"/>
              </a:rPr>
              <a:t>interests</a:t>
            </a:r>
            <a:r>
              <a:rPr b="0" i="0" lang="en-GB" sz="1100" u="none" cap="none" strike="noStrike">
                <a:solidFill>
                  <a:srgbClr val="000000"/>
                </a:solidFill>
                <a:latin typeface="Arial"/>
                <a:ea typeface="Arial"/>
                <a:cs typeface="Arial"/>
                <a:sym typeface="Arial"/>
              </a:rPr>
              <a:t> they have and what </a:t>
            </a:r>
            <a:r>
              <a:rPr b="1" i="0" lang="en-GB" sz="1100" u="none" cap="none" strike="noStrike">
                <a:solidFill>
                  <a:srgbClr val="000000"/>
                </a:solidFill>
                <a:latin typeface="Arial"/>
                <a:ea typeface="Arial"/>
                <a:cs typeface="Arial"/>
                <a:sym typeface="Arial"/>
              </a:rPr>
              <a:t>influence/resources </a:t>
            </a:r>
            <a:r>
              <a:rPr b="0" i="0" lang="en-GB" sz="1100" u="none" cap="none" strike="noStrike">
                <a:solidFill>
                  <a:srgbClr val="000000"/>
                </a:solidFill>
                <a:latin typeface="Arial"/>
                <a:ea typeface="Arial"/>
                <a:cs typeface="Arial"/>
                <a:sym typeface="Arial"/>
              </a:rPr>
              <a:t>they can bring.</a:t>
            </a:r>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100" u="sng" cap="none" strike="noStrike">
                <a:solidFill>
                  <a:srgbClr val="000000"/>
                </a:solidFill>
                <a:latin typeface="Arial"/>
                <a:ea typeface="Arial"/>
                <a:cs typeface="Arial"/>
                <a:sym typeface="Arial"/>
              </a:rPr>
              <a:t>Write</a:t>
            </a:r>
            <a:r>
              <a:rPr b="0" i="0" lang="en-GB" sz="1100" u="none" cap="none" strike="noStrike">
                <a:solidFill>
                  <a:srgbClr val="000000"/>
                </a:solidFill>
                <a:latin typeface="Arial"/>
                <a:ea typeface="Arial"/>
                <a:cs typeface="Arial"/>
                <a:sym typeface="Arial"/>
              </a:rPr>
              <a:t>: We start off with a plan but will often need to update and change it as we…</a:t>
            </a:r>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100" u="sng" cap="none" strike="noStrike">
                <a:solidFill>
                  <a:srgbClr val="000000"/>
                </a:solidFill>
                <a:latin typeface="Arial"/>
                <a:ea typeface="Arial"/>
                <a:cs typeface="Arial"/>
                <a:sym typeface="Arial"/>
              </a:rPr>
              <a:t>Do</a:t>
            </a:r>
            <a:r>
              <a:rPr b="0" i="0" lang="en-GB" sz="1100" u="none" cap="none" strike="noStrike">
                <a:solidFill>
                  <a:srgbClr val="000000"/>
                </a:solidFill>
                <a:latin typeface="Arial"/>
                <a:ea typeface="Arial"/>
                <a:cs typeface="Arial"/>
                <a:sym typeface="Arial"/>
              </a:rPr>
              <a:t>: Bring in new partners, work with them on developing plans, identify resources they can put to common aims. With activities often continuing after the project results.</a:t>
            </a:r>
            <a:endParaRPr/>
          </a:p>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100" u="sng" cap="none" strike="noStrike">
                <a:solidFill>
                  <a:srgbClr val="000000"/>
                </a:solidFill>
                <a:latin typeface="Arial"/>
                <a:ea typeface="Arial"/>
                <a:cs typeface="Arial"/>
                <a:sym typeface="Arial"/>
              </a:rPr>
              <a:t>Capture</a:t>
            </a:r>
            <a:r>
              <a:rPr b="0" i="0" lang="en-GB" sz="1100" u="none" cap="none" strike="noStrike">
                <a:solidFill>
                  <a:srgbClr val="000000"/>
                </a:solidFill>
                <a:latin typeface="Arial"/>
                <a:ea typeface="Arial"/>
                <a:cs typeface="Arial"/>
                <a:sym typeface="Arial"/>
              </a:rPr>
              <a:t>: We need to be able to identify what the </a:t>
            </a:r>
            <a:r>
              <a:rPr b="1" i="0" lang="en-GB" sz="1100" u="none" cap="none" strike="noStrike">
                <a:solidFill>
                  <a:srgbClr val="000000"/>
                </a:solidFill>
                <a:latin typeface="Arial"/>
                <a:ea typeface="Arial"/>
                <a:cs typeface="Arial"/>
                <a:sym typeface="Arial"/>
              </a:rPr>
              <a:t>change</a:t>
            </a:r>
            <a:r>
              <a:rPr b="0" i="0" lang="en-GB" sz="1100" u="none" cap="none" strike="noStrike">
                <a:solidFill>
                  <a:srgbClr val="000000"/>
                </a:solidFill>
                <a:latin typeface="Arial"/>
                <a:ea typeface="Arial"/>
                <a:cs typeface="Arial"/>
                <a:sym typeface="Arial"/>
              </a:rPr>
              <a:t> was, </a:t>
            </a:r>
            <a:r>
              <a:rPr b="1" i="0" lang="en-GB" sz="1100" u="none" cap="none" strike="noStrike">
                <a:solidFill>
                  <a:srgbClr val="000000"/>
                </a:solidFill>
                <a:latin typeface="Arial"/>
                <a:ea typeface="Arial"/>
                <a:cs typeface="Arial"/>
                <a:sym typeface="Arial"/>
              </a:rPr>
              <a:t>how</a:t>
            </a:r>
            <a:r>
              <a:rPr b="0" i="0" lang="en-GB" sz="1100" u="none" cap="none" strike="noStrike">
                <a:solidFill>
                  <a:srgbClr val="000000"/>
                </a:solidFill>
                <a:latin typeface="Arial"/>
                <a:ea typeface="Arial"/>
                <a:cs typeface="Arial"/>
                <a:sym typeface="Arial"/>
              </a:rPr>
              <a:t> it was made, and what the </a:t>
            </a:r>
            <a:r>
              <a:rPr b="1" i="0" lang="en-GB" sz="1100" u="none" cap="none" strike="noStrike">
                <a:solidFill>
                  <a:srgbClr val="000000"/>
                </a:solidFill>
                <a:latin typeface="Arial"/>
                <a:ea typeface="Arial"/>
                <a:cs typeface="Arial"/>
                <a:sym typeface="Arial"/>
              </a:rPr>
              <a:t>connection is to the research </a:t>
            </a:r>
            <a:r>
              <a:rPr b="0" i="0" lang="en-GB" sz="1100" u="none" cap="none" strike="noStrike">
                <a:solidFill>
                  <a:srgbClr val="000000"/>
                </a:solidFill>
                <a:latin typeface="Arial"/>
                <a:ea typeface="Arial"/>
                <a:cs typeface="Arial"/>
                <a:sym typeface="Arial"/>
              </a:rPr>
              <a:t>(i.e. five years on have the principles informed policy in the German electric vehicle industry?)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Commercialisation</a:t>
            </a:r>
            <a:endParaRPr/>
          </a:p>
        </p:txBody>
      </p:sp>
      <p:sp>
        <p:nvSpPr>
          <p:cNvPr id="190" name="Google Shape;190;p36"/>
          <p:cNvSpPr txBox="1"/>
          <p:nvPr>
            <p:ph idx="1" type="body"/>
          </p:nvPr>
        </p:nvSpPr>
        <p:spPr>
          <a:xfrm>
            <a:off x="311700" y="1225225"/>
            <a:ext cx="8520600" cy="837000"/>
          </a:xfrm>
          <a:prstGeom prst="rect">
            <a:avLst/>
          </a:prstGeom>
          <a:solidFill>
            <a:srgbClr val="D8D8D8"/>
          </a:solid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lang="en-GB"/>
              <a:t>Commercialisation is the process of ‘translating’ research into a commercial product. </a:t>
            </a:r>
            <a:endParaRPr/>
          </a:p>
        </p:txBody>
      </p:sp>
      <p:sp>
        <p:nvSpPr>
          <p:cNvPr id="191" name="Google Shape;191;p36"/>
          <p:cNvSpPr txBox="1"/>
          <p:nvPr/>
        </p:nvSpPr>
        <p:spPr>
          <a:xfrm>
            <a:off x="311700" y="2159540"/>
            <a:ext cx="4056000" cy="2678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May relate to new business development, applied research funding, consultancy, CPD or spin-outs.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Often requires </a:t>
            </a:r>
            <a:r>
              <a:rPr b="1" i="0" lang="en-GB" sz="1400" u="none" cap="none" strike="noStrike">
                <a:solidFill>
                  <a:srgbClr val="000000"/>
                </a:solidFill>
                <a:latin typeface="Arial"/>
                <a:ea typeface="Arial"/>
                <a:cs typeface="Arial"/>
                <a:sym typeface="Arial"/>
              </a:rPr>
              <a:t>careful early thinking </a:t>
            </a:r>
            <a:r>
              <a:rPr b="0" i="0" lang="en-GB" sz="1400" u="none" cap="none" strike="noStrike">
                <a:solidFill>
                  <a:srgbClr val="000000"/>
                </a:solidFill>
                <a:latin typeface="Arial"/>
                <a:ea typeface="Arial"/>
                <a:cs typeface="Arial"/>
                <a:sym typeface="Arial"/>
              </a:rPr>
              <a:t>about IP management, contracts, partner management and publication of IP.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en-GB" sz="1400" u="none" cap="none" strike="noStrike">
                <a:solidFill>
                  <a:srgbClr val="000000"/>
                </a:solidFill>
                <a:latin typeface="Arial"/>
                <a:ea typeface="Arial"/>
                <a:cs typeface="Arial"/>
                <a:sym typeface="Arial"/>
              </a:rPr>
              <a:t>Facilitation</a:t>
            </a:r>
            <a:r>
              <a:rPr b="0" i="0" lang="en-GB" sz="1400" u="none" cap="none" strike="noStrike">
                <a:solidFill>
                  <a:srgbClr val="000000"/>
                </a:solidFill>
                <a:latin typeface="Arial"/>
                <a:ea typeface="Arial"/>
                <a:cs typeface="Arial"/>
                <a:sym typeface="Arial"/>
              </a:rPr>
              <a:t> is a key skills for bringing in commercial expertise and new thinking at different stages of projects.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192" name="Google Shape;192;p36"/>
          <p:cNvGraphicFramePr/>
          <p:nvPr/>
        </p:nvGraphicFramePr>
        <p:xfrm>
          <a:off x="5243209" y="2140264"/>
          <a:ext cx="3000000" cy="3000000"/>
        </p:xfrm>
        <a:graphic>
          <a:graphicData uri="http://schemas.openxmlformats.org/drawingml/2006/table">
            <a:tbl>
              <a:tblPr>
                <a:noFill/>
                <a:tableStyleId>{5B004C3F-0FF8-4E91-8DC2-FA1394D41009}</a:tableStyleId>
              </a:tblPr>
              <a:tblGrid>
                <a:gridCol w="1730925"/>
                <a:gridCol w="1730925"/>
              </a:tblGrid>
              <a:tr h="139700">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Knowledge Exchange and Business Development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Promote and support knowledge exchange and transfer activities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9700">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Technology Transfer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Provide support for technology transfer activities such as identifying opportunities, brokering relationships, licensing IP, creating ‘spin out’ companies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39700">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Supporting CPD Courses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GB" sz="1100" u="none" cap="none" strike="noStrike">
                          <a:latin typeface="Calibri"/>
                          <a:ea typeface="Calibri"/>
                          <a:cs typeface="Calibri"/>
                          <a:sym typeface="Calibri"/>
                        </a:rPr>
                        <a:t>Identify opportunities and provide sound administrative support for CPD course provision </a:t>
                      </a:r>
                      <a:endParaRPr b="0" i="0" sz="1100" u="none" cap="none" strike="noStrike"/>
                    </a:p>
                  </a:txBody>
                  <a:tcPr marT="45725" marB="45725" marR="91450" marL="9145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93" name="Google Shape;193;p36"/>
          <p:cNvSpPr txBox="1"/>
          <p:nvPr/>
        </p:nvSpPr>
        <p:spPr>
          <a:xfrm rot="-5400000">
            <a:off x="3494149" y="3297077"/>
            <a:ext cx="2548500" cy="307800"/>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1400" u="none" cap="none" strike="noStrike">
                <a:solidFill>
                  <a:srgbClr val="000000"/>
                </a:solidFill>
                <a:latin typeface="Calibri"/>
                <a:ea typeface="Calibri"/>
                <a:cs typeface="Calibri"/>
                <a:sym typeface="Calibri"/>
              </a:rPr>
              <a:t>Development Framework Skills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solidFill>
                  <a:srgbClr val="FF0000"/>
                </a:solidFill>
              </a:rPr>
              <a:t>Activity - Managing Intellectual Property</a:t>
            </a:r>
            <a:endParaRPr/>
          </a:p>
        </p:txBody>
      </p:sp>
      <p:sp>
        <p:nvSpPr>
          <p:cNvPr id="199" name="Google Shape;199;p37"/>
          <p:cNvSpPr txBox="1"/>
          <p:nvPr/>
        </p:nvSpPr>
        <p:spPr>
          <a:xfrm>
            <a:off x="4445540" y="1225225"/>
            <a:ext cx="3793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On your tables take 10 minutes to identify: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200" name="Google Shape;200;p37"/>
          <p:cNvGraphicFramePr/>
          <p:nvPr/>
        </p:nvGraphicFramePr>
        <p:xfrm>
          <a:off x="4572000" y="1606825"/>
          <a:ext cx="3000000" cy="3000000"/>
        </p:xfrm>
        <a:graphic>
          <a:graphicData uri="http://schemas.openxmlformats.org/drawingml/2006/table">
            <a:tbl>
              <a:tblPr bandRow="1" firstRow="1">
                <a:noFill/>
                <a:tableStyleId>{EF9480BA-C887-423D-933D-6EBDBDD57C4D}</a:tableStyleId>
              </a:tblPr>
              <a:tblGrid>
                <a:gridCol w="3784050"/>
              </a:tblGrid>
              <a:tr h="363125">
                <a:tc>
                  <a:txBody>
                    <a:bodyPr/>
                    <a:lstStyle/>
                    <a:p>
                      <a:pPr indent="0" lvl="0" marL="0" marR="0" rtl="0" algn="l">
                        <a:lnSpc>
                          <a:spcPct val="100000"/>
                        </a:lnSpc>
                        <a:spcBef>
                          <a:spcPts val="0"/>
                        </a:spcBef>
                        <a:spcAft>
                          <a:spcPts val="0"/>
                        </a:spcAft>
                        <a:buNone/>
                      </a:pPr>
                      <a:r>
                        <a:rPr lang="en-GB" sz="1400" u="none" cap="none" strike="noStrike"/>
                        <a:t>What is the intellectual property (IP) for the university coordinating this?</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What benefits could be achieved from that IP for the university? </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Who might need to be brought in to help achieve that benefit?</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What agreements need to be in place at the start to avoid conflict? </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GB" sz="1400" u="none" cap="none" strike="noStrike"/>
                        <a:t>What does the research team need to know to avoid releasing confidential details?</a:t>
                      </a:r>
                      <a:endParaRPr/>
                    </a:p>
                  </a:txBody>
                  <a:tcPr marT="45725" marB="45725" marR="91450" marL="91450"/>
                </a:tc>
              </a:tr>
            </a:tbl>
          </a:graphicData>
        </a:graphic>
      </p:graphicFrame>
      <p:sp>
        <p:nvSpPr>
          <p:cNvPr id="201" name="Google Shape;201;p3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SzPts val="1800"/>
              <a:buNone/>
            </a:pPr>
            <a:r>
              <a:t/>
            </a:r>
            <a:endParaRPr/>
          </a:p>
        </p:txBody>
      </p:sp>
      <p:sp>
        <p:nvSpPr>
          <p:cNvPr id="202" name="Google Shape;202;p37"/>
          <p:cNvSpPr txBox="1"/>
          <p:nvPr/>
        </p:nvSpPr>
        <p:spPr>
          <a:xfrm>
            <a:off x="311700" y="1225225"/>
            <a:ext cx="3851700" cy="3354000"/>
          </a:xfrm>
          <a:prstGeom prst="rect">
            <a:avLst/>
          </a:prstGeom>
          <a:solidFill>
            <a:srgbClr val="D8D8D8"/>
          </a:solidFill>
          <a:ln>
            <a:noFill/>
          </a:ln>
        </p:spPr>
        <p:txBody>
          <a:bodyPr anchorCtr="0" anchor="t" bIns="91425" lIns="91425" spcFirstLastPara="1" rIns="91425" wrap="square" tIns="91425">
            <a:normAutofit/>
          </a:bodyPr>
          <a:lstStyle/>
          <a:p>
            <a:pPr indent="0" lvl="0" marL="114300" marR="0" rtl="0" algn="l">
              <a:lnSpc>
                <a:spcPct val="115000"/>
              </a:lnSpc>
              <a:spcBef>
                <a:spcPts val="0"/>
              </a:spcBef>
              <a:spcAft>
                <a:spcPts val="0"/>
              </a:spcAft>
              <a:buClr>
                <a:schemeClr val="dk1"/>
              </a:buClr>
              <a:buSzPts val="1800"/>
              <a:buFont typeface="Open Sans"/>
              <a:buNone/>
            </a:pPr>
            <a:r>
              <a:rPr b="0" i="0" lang="en-GB" sz="1800" u="none" cap="none" strike="noStrike">
                <a:solidFill>
                  <a:schemeClr val="dk1"/>
                </a:solidFill>
                <a:latin typeface="Open Sans"/>
                <a:ea typeface="Open Sans"/>
                <a:cs typeface="Open Sans"/>
                <a:sym typeface="Open Sans"/>
              </a:rPr>
              <a:t>CASE STUDY : electric vehicle and smart mobility supply chain mapping project</a:t>
            </a:r>
            <a:endParaRPr/>
          </a:p>
          <a:p>
            <a:pPr indent="0" lvl="0" marL="114300" marR="0" rtl="0" algn="l">
              <a:lnSpc>
                <a:spcPct val="115000"/>
              </a:lnSpc>
              <a:spcBef>
                <a:spcPts val="0"/>
              </a:spcBef>
              <a:spcAft>
                <a:spcPts val="0"/>
              </a:spcAft>
              <a:buClr>
                <a:schemeClr val="dk1"/>
              </a:buClr>
              <a:buSzPts val="1800"/>
              <a:buFont typeface="Open Sans"/>
              <a:buNone/>
            </a:pPr>
            <a:r>
              <a:t/>
            </a:r>
            <a:endParaRPr b="0" i="0" sz="1800" u="none" cap="none" strike="noStrike">
              <a:solidFill>
                <a:schemeClr val="dk1"/>
              </a:solidFill>
              <a:latin typeface="Open Sans"/>
              <a:ea typeface="Open Sans"/>
              <a:cs typeface="Open Sans"/>
              <a:sym typeface="Open Sans"/>
            </a:endParaRPr>
          </a:p>
          <a:p>
            <a:pPr indent="0" lvl="0" marL="114300" marR="0" rtl="0" algn="l">
              <a:lnSpc>
                <a:spcPct val="115000"/>
              </a:lnSpc>
              <a:spcBef>
                <a:spcPts val="0"/>
              </a:spcBef>
              <a:spcAft>
                <a:spcPts val="0"/>
              </a:spcAft>
              <a:buClr>
                <a:schemeClr val="dk1"/>
              </a:buClr>
              <a:buSzPts val="1800"/>
              <a:buFont typeface="Open Sans"/>
              <a:buNone/>
            </a:pPr>
            <a:r>
              <a:rPr b="0" i="0" lang="en-GB" sz="1400" u="none" cap="none" strike="noStrike">
                <a:solidFill>
                  <a:schemeClr val="dk1"/>
                </a:solidFill>
                <a:latin typeface="Open Sans"/>
                <a:ea typeface="Open Sans"/>
                <a:cs typeface="Open Sans"/>
                <a:sym typeface="Open Sans"/>
              </a:rPr>
              <a:t>Project to identify key opportunities for the transformation of the small business supply chain for new transport technologies in air, sea, road, rail and smart mobility. Partnership includes universities and small business networks.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idx="1" type="body"/>
          </p:nvPr>
        </p:nvSpPr>
        <p:spPr>
          <a:xfrm>
            <a:off x="398834" y="1225225"/>
            <a:ext cx="8433600" cy="924600"/>
          </a:xfrm>
          <a:prstGeom prst="rect">
            <a:avLst/>
          </a:prstGeom>
          <a:solidFill>
            <a:srgbClr val="D8D8D8"/>
          </a:solidFill>
          <a:ln>
            <a:noFill/>
          </a:ln>
        </p:spPr>
        <p:txBody>
          <a:bodyPr anchorCtr="0" anchor="t" bIns="91425" lIns="91425" spcFirstLastPara="1" rIns="91425" wrap="square" tIns="91425">
            <a:normAutofit fontScale="55000"/>
          </a:bodyPr>
          <a:lstStyle/>
          <a:p>
            <a:pPr indent="0" lvl="0" marL="0" rtl="0" algn="ctr">
              <a:lnSpc>
                <a:spcPct val="115000"/>
              </a:lnSpc>
              <a:spcBef>
                <a:spcPts val="0"/>
              </a:spcBef>
              <a:spcAft>
                <a:spcPts val="0"/>
              </a:spcAft>
              <a:buSzPct val="106667"/>
              <a:buNone/>
            </a:pPr>
            <a:r>
              <a:rPr lang="en-GB" sz="2700">
                <a:solidFill>
                  <a:schemeClr val="dk1"/>
                </a:solidFill>
              </a:rPr>
              <a:t>‘Collaboration occurs when a number of institutions or individuals make a commitment to work together and contribute resources to obtain a common long-term goal’</a:t>
            </a:r>
            <a:endParaRPr/>
          </a:p>
          <a:p>
            <a:pPr indent="0" lvl="0" marL="0" rtl="0" algn="l">
              <a:lnSpc>
                <a:spcPct val="115000"/>
              </a:lnSpc>
              <a:spcBef>
                <a:spcPts val="0"/>
              </a:spcBef>
              <a:spcAft>
                <a:spcPts val="0"/>
              </a:spcAft>
              <a:buSzPct val="160000"/>
              <a:buNone/>
            </a:pPr>
            <a:r>
              <a:t/>
            </a:r>
            <a:endParaRPr>
              <a:solidFill>
                <a:schemeClr val="dk1"/>
              </a:solidFill>
            </a:endParaRPr>
          </a:p>
        </p:txBody>
      </p:sp>
      <p:sp>
        <p:nvSpPr>
          <p:cNvPr id="208" name="Google Shape;208;p3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Collaboration</a:t>
            </a:r>
            <a:endParaRPr/>
          </a:p>
        </p:txBody>
      </p:sp>
      <p:sp>
        <p:nvSpPr>
          <p:cNvPr id="209" name="Google Shape;209;p38"/>
          <p:cNvSpPr txBox="1"/>
          <p:nvPr/>
        </p:nvSpPr>
        <p:spPr>
          <a:xfrm>
            <a:off x="398834" y="2227813"/>
            <a:ext cx="43386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Arial"/>
                <a:ea typeface="Arial"/>
                <a:cs typeface="Arial"/>
                <a:sym typeface="Arial"/>
              </a:rPr>
              <a:t>Why Collaborate?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It is a ’force multiplier’ expanding access to expertise, capacity and reach.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Collaboration can enable the development of more permanent teams, networks and institutions.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Creates a diversity of perspectives often crucial to innovation, adapting to diverse viewpoints, or finding new problem/solution fits.</a:t>
            </a:r>
            <a:endParaRPr/>
          </a:p>
        </p:txBody>
      </p:sp>
      <p:sp>
        <p:nvSpPr>
          <p:cNvPr id="210" name="Google Shape;210;p38"/>
          <p:cNvSpPr txBox="1"/>
          <p:nvPr/>
        </p:nvSpPr>
        <p:spPr>
          <a:xfrm>
            <a:off x="4737371" y="2227813"/>
            <a:ext cx="4095000" cy="3324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0000"/>
                </a:solidFill>
                <a:latin typeface="Arial"/>
                <a:ea typeface="Arial"/>
                <a:cs typeface="Arial"/>
                <a:sym typeface="Arial"/>
              </a:rPr>
              <a:t>Challenges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More partners means more management of complexity </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Contracts and agreements need to reflect the differing interest of stakeholders, especially around IP.</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Collaboration can expand the impact and life of the project beyond the research itself, but dedicated management is needed so the PI doesn’t become overwhelmed.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39"/>
          <p:cNvGrpSpPr/>
          <p:nvPr/>
        </p:nvGrpSpPr>
        <p:grpSpPr>
          <a:xfrm>
            <a:off x="629234" y="981886"/>
            <a:ext cx="3843300" cy="3843401"/>
            <a:chOff x="1242304" y="0"/>
            <a:chExt cx="3843300" cy="3843401"/>
          </a:xfrm>
        </p:grpSpPr>
        <p:sp>
          <p:nvSpPr>
            <p:cNvPr id="216" name="Google Shape;216;p39"/>
            <p:cNvSpPr/>
            <p:nvPr/>
          </p:nvSpPr>
          <p:spPr>
            <a:xfrm>
              <a:off x="1242304" y="0"/>
              <a:ext cx="3843300" cy="3843300"/>
            </a:xfrm>
            <a:prstGeom prst="ellipse">
              <a:avLst/>
            </a:prstGeom>
            <a:gradFill>
              <a:gsLst>
                <a:gs pos="0">
                  <a:srgbClr val="2E424B"/>
                </a:gs>
                <a:gs pos="100000">
                  <a:srgbClr val="B8BFC2"/>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9"/>
            <p:cNvSpPr txBox="1"/>
            <p:nvPr/>
          </p:nvSpPr>
          <p:spPr>
            <a:xfrm>
              <a:off x="2443348" y="192166"/>
              <a:ext cx="1441200" cy="384300"/>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Institutional collaboration</a:t>
              </a:r>
              <a:endParaRPr/>
            </a:p>
          </p:txBody>
        </p:sp>
        <p:sp>
          <p:nvSpPr>
            <p:cNvPr id="218" name="Google Shape;218;p39"/>
            <p:cNvSpPr/>
            <p:nvPr/>
          </p:nvSpPr>
          <p:spPr>
            <a:xfrm>
              <a:off x="1525904" y="576500"/>
              <a:ext cx="3266700" cy="3266700"/>
            </a:xfrm>
            <a:prstGeom prst="ellipse">
              <a:avLst/>
            </a:prstGeom>
            <a:gradFill>
              <a:gsLst>
                <a:gs pos="0">
                  <a:srgbClr val="617B88"/>
                </a:gs>
                <a:gs pos="100000">
                  <a:srgbClr val="BBCCD7"/>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9"/>
            <p:cNvSpPr txBox="1"/>
            <p:nvPr/>
          </p:nvSpPr>
          <p:spPr>
            <a:xfrm>
              <a:off x="2454911" y="764343"/>
              <a:ext cx="1408800" cy="375600"/>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Stakeholder networks</a:t>
              </a:r>
              <a:endParaRPr/>
            </a:p>
          </p:txBody>
        </p:sp>
        <p:sp>
          <p:nvSpPr>
            <p:cNvPr id="220" name="Google Shape;220;p39"/>
            <p:cNvSpPr/>
            <p:nvPr/>
          </p:nvSpPr>
          <p:spPr>
            <a:xfrm>
              <a:off x="1814155" y="1153001"/>
              <a:ext cx="2690400" cy="2690400"/>
            </a:xfrm>
            <a:prstGeom prst="ellipse">
              <a:avLst/>
            </a:prstGeom>
            <a:gradFill>
              <a:gsLst>
                <a:gs pos="0">
                  <a:srgbClr val="A7B0B4"/>
                </a:gs>
                <a:gs pos="100000">
                  <a:srgbClr val="D4DEE1"/>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9"/>
            <p:cNvSpPr txBox="1"/>
            <p:nvPr/>
          </p:nvSpPr>
          <p:spPr>
            <a:xfrm>
              <a:off x="2463198" y="1338634"/>
              <a:ext cx="1392300" cy="371400"/>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Research Partners</a:t>
              </a:r>
              <a:endParaRPr/>
            </a:p>
          </p:txBody>
        </p:sp>
        <p:sp>
          <p:nvSpPr>
            <p:cNvPr id="222" name="Google Shape;222;p39"/>
            <p:cNvSpPr/>
            <p:nvPr/>
          </p:nvSpPr>
          <p:spPr>
            <a:xfrm>
              <a:off x="2141321" y="1729502"/>
              <a:ext cx="2113800" cy="2113800"/>
            </a:xfrm>
            <a:prstGeom prst="ellipse">
              <a:avLst/>
            </a:prstGeom>
            <a:gradFill>
              <a:gsLst>
                <a:gs pos="0">
                  <a:srgbClr val="A7B0B4"/>
                </a:gs>
                <a:gs pos="100000">
                  <a:srgbClr val="D4DEE1"/>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9"/>
            <p:cNvSpPr txBox="1"/>
            <p:nvPr/>
          </p:nvSpPr>
          <p:spPr>
            <a:xfrm>
              <a:off x="2627503" y="1919747"/>
              <a:ext cx="1141500" cy="380400"/>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Research Office (s)</a:t>
              </a:r>
              <a:endParaRPr/>
            </a:p>
          </p:txBody>
        </p:sp>
        <p:sp>
          <p:nvSpPr>
            <p:cNvPr id="224" name="Google Shape;224;p39"/>
            <p:cNvSpPr/>
            <p:nvPr/>
          </p:nvSpPr>
          <p:spPr>
            <a:xfrm>
              <a:off x="2390655" y="2306002"/>
              <a:ext cx="1537200" cy="1537200"/>
            </a:xfrm>
            <a:prstGeom prst="ellipse">
              <a:avLst/>
            </a:prstGeom>
            <a:gradFill>
              <a:gsLst>
                <a:gs pos="0">
                  <a:srgbClr val="617B88"/>
                </a:gs>
                <a:gs pos="100000">
                  <a:srgbClr val="BBCCD7"/>
                </a:gs>
              </a:gsLst>
              <a:lin ang="16200038" scaled="0"/>
            </a:gradFill>
            <a:ln>
              <a:noFill/>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9"/>
            <p:cNvSpPr txBox="1"/>
            <p:nvPr/>
          </p:nvSpPr>
          <p:spPr>
            <a:xfrm>
              <a:off x="2615793" y="2690336"/>
              <a:ext cx="1087200" cy="768600"/>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Funder &amp;</a:t>
              </a:r>
              <a:endParaRPr/>
            </a:p>
            <a:p>
              <a:pPr indent="0" lvl="0" marL="0" marR="0" rtl="0" algn="ctr">
                <a:lnSpc>
                  <a:spcPct val="90000"/>
                </a:lnSpc>
                <a:spcBef>
                  <a:spcPts val="490"/>
                </a:spcBef>
                <a:spcAft>
                  <a:spcPts val="0"/>
                </a:spcAft>
                <a:buClr>
                  <a:srgbClr val="000000"/>
                </a:buClr>
                <a:buSzPts val="1400"/>
                <a:buFont typeface="Arial"/>
                <a:buNone/>
              </a:pPr>
              <a:r>
                <a:rPr b="1" i="0" lang="en-GB" sz="1400" u="none" cap="none" strike="noStrike">
                  <a:solidFill>
                    <a:schemeClr val="lt1"/>
                  </a:solidFill>
                  <a:latin typeface="Arial"/>
                  <a:ea typeface="Arial"/>
                  <a:cs typeface="Arial"/>
                  <a:sym typeface="Arial"/>
                </a:rPr>
                <a:t>Academic Lead</a:t>
              </a:r>
              <a:endParaRPr/>
            </a:p>
          </p:txBody>
        </p:sp>
      </p:grpSp>
      <p:sp>
        <p:nvSpPr>
          <p:cNvPr id="226" name="Google Shape;226;p39"/>
          <p:cNvSpPr txBox="1"/>
          <p:nvPr/>
        </p:nvSpPr>
        <p:spPr>
          <a:xfrm>
            <a:off x="5856050" y="3756496"/>
            <a:ext cx="21012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Funder Offer, Contract – formal and informal funder expectations</a:t>
            </a:r>
            <a:endParaRPr/>
          </a:p>
        </p:txBody>
      </p:sp>
      <p:sp>
        <p:nvSpPr>
          <p:cNvPr id="227" name="Google Shape;227;p39"/>
          <p:cNvSpPr txBox="1"/>
          <p:nvPr/>
        </p:nvSpPr>
        <p:spPr>
          <a:xfrm>
            <a:off x="5828489" y="2275287"/>
            <a:ext cx="2363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Collaboration Agreement, Terms of Reference, IP agreement</a:t>
            </a:r>
            <a:endParaRPr/>
          </a:p>
        </p:txBody>
      </p:sp>
      <p:sp>
        <p:nvSpPr>
          <p:cNvPr id="228" name="Google Shape;228;p39"/>
          <p:cNvSpPr txBox="1"/>
          <p:nvPr/>
        </p:nvSpPr>
        <p:spPr>
          <a:xfrm>
            <a:off x="5856050" y="1546003"/>
            <a:ext cx="2363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Non-Disclosure Agreements, Advisory Boards, Communications</a:t>
            </a:r>
            <a:endParaRPr/>
          </a:p>
        </p:txBody>
      </p:sp>
      <p:sp>
        <p:nvSpPr>
          <p:cNvPr id="229" name="Google Shape;229;p39"/>
          <p:cNvSpPr txBox="1"/>
          <p:nvPr/>
        </p:nvSpPr>
        <p:spPr>
          <a:xfrm>
            <a:off x="5856050" y="847900"/>
            <a:ext cx="2363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Strategic Partnerships, Institutional Leadership</a:t>
            </a:r>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Public Relations</a:t>
            </a:r>
            <a:endParaRPr/>
          </a:p>
        </p:txBody>
      </p:sp>
      <p:sp>
        <p:nvSpPr>
          <p:cNvPr id="230" name="Google Shape;230;p39"/>
          <p:cNvSpPr txBox="1"/>
          <p:nvPr/>
        </p:nvSpPr>
        <p:spPr>
          <a:xfrm>
            <a:off x="5828489" y="3001965"/>
            <a:ext cx="23637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Engaging internal &amp; partner contacts in legal, HR procurement and media.</a:t>
            </a:r>
            <a:endParaRPr/>
          </a:p>
        </p:txBody>
      </p:sp>
      <p:sp>
        <p:nvSpPr>
          <p:cNvPr id="231" name="Google Shape;231;p39"/>
          <p:cNvSpPr txBox="1"/>
          <p:nvPr/>
        </p:nvSpPr>
        <p:spPr>
          <a:xfrm>
            <a:off x="282517" y="56689"/>
            <a:ext cx="8520600" cy="831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4200"/>
              <a:buFont typeface="Economica"/>
              <a:buNone/>
            </a:pPr>
            <a:r>
              <a:rPr b="0" i="0" lang="en-GB" sz="4300" u="none" cap="none" strike="noStrike">
                <a:solidFill>
                  <a:schemeClr val="dk1"/>
                </a:solidFill>
                <a:latin typeface="Economica"/>
                <a:ea typeface="Economica"/>
                <a:cs typeface="Economica"/>
                <a:sym typeface="Economica"/>
              </a:rPr>
              <a:t>Collaboration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International Collaboration</a:t>
            </a:r>
            <a:endParaRPr/>
          </a:p>
        </p:txBody>
      </p:sp>
      <p:sp>
        <p:nvSpPr>
          <p:cNvPr id="237" name="Google Shape;237;p4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lang="en-GB"/>
              <a:t>International collaboration is increasingly vital to forge strategic partnerships, expand reach and research demonstrate validity beyond one market or culture.</a:t>
            </a:r>
            <a:endParaRPr/>
          </a:p>
          <a:p>
            <a:pPr indent="0" lvl="0" marL="114300" rtl="0" algn="l">
              <a:lnSpc>
                <a:spcPct val="115000"/>
              </a:lnSpc>
              <a:spcBef>
                <a:spcPts val="0"/>
              </a:spcBef>
              <a:spcAft>
                <a:spcPts val="0"/>
              </a:spcAft>
              <a:buSzPts val="1800"/>
              <a:buNone/>
            </a:pPr>
            <a:r>
              <a:t/>
            </a:r>
            <a:endParaRPr/>
          </a:p>
          <a:p>
            <a:pPr indent="0" lvl="0" marL="114300" rtl="0" algn="l">
              <a:lnSpc>
                <a:spcPct val="115000"/>
              </a:lnSpc>
              <a:spcBef>
                <a:spcPts val="0"/>
              </a:spcBef>
              <a:spcAft>
                <a:spcPts val="0"/>
              </a:spcAft>
              <a:buSzPts val="1800"/>
              <a:buNone/>
            </a:pPr>
            <a:r>
              <a:rPr lang="en-GB"/>
              <a:t>BUT</a:t>
            </a:r>
            <a:endParaRPr/>
          </a:p>
          <a:p>
            <a:pPr indent="-342900" lvl="0" marL="457200" rtl="0" algn="l">
              <a:lnSpc>
                <a:spcPct val="115000"/>
              </a:lnSpc>
              <a:spcBef>
                <a:spcPts val="0"/>
              </a:spcBef>
              <a:spcAft>
                <a:spcPts val="0"/>
              </a:spcAft>
              <a:buSzPts val="1800"/>
              <a:buChar char="●"/>
            </a:pPr>
            <a:r>
              <a:rPr lang="en-GB"/>
              <a:t>Different jurisdictions operate different formal and informal practices</a:t>
            </a:r>
            <a:endParaRPr/>
          </a:p>
          <a:p>
            <a:pPr indent="-342900" lvl="0" marL="457200" rtl="0" algn="l">
              <a:lnSpc>
                <a:spcPct val="115000"/>
              </a:lnSpc>
              <a:spcBef>
                <a:spcPts val="0"/>
              </a:spcBef>
              <a:spcAft>
                <a:spcPts val="0"/>
              </a:spcAft>
              <a:buSzPts val="1800"/>
              <a:buChar char="●"/>
            </a:pPr>
            <a:r>
              <a:rPr lang="en-GB"/>
              <a:t>Cultural practice and languages need to be factored in to anticipate risks</a:t>
            </a:r>
            <a:endParaRPr/>
          </a:p>
          <a:p>
            <a:pPr indent="-342900" lvl="0" marL="457200" rtl="0" algn="l">
              <a:lnSpc>
                <a:spcPct val="115000"/>
              </a:lnSpc>
              <a:spcBef>
                <a:spcPts val="0"/>
              </a:spcBef>
              <a:spcAft>
                <a:spcPts val="0"/>
              </a:spcAft>
              <a:buSzPts val="1800"/>
              <a:buChar char="●"/>
            </a:pPr>
            <a:r>
              <a:rPr lang="en-GB"/>
              <a:t>Due diligence is often needed where the validity of a partner harder to ascertain.</a:t>
            </a:r>
            <a:endParaRPr/>
          </a:p>
          <a:p>
            <a:pPr indent="-228600" lvl="0" marL="457200" rtl="0" algn="l">
              <a:lnSpc>
                <a:spcPct val="115000"/>
              </a:lnSpc>
              <a:spcBef>
                <a:spcPts val="0"/>
              </a:spcBef>
              <a:spcAft>
                <a:spcPts val="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1"/>
          <p:cNvSpPr txBox="1"/>
          <p:nvPr>
            <p:ph idx="1" type="body"/>
          </p:nvPr>
        </p:nvSpPr>
        <p:spPr>
          <a:xfrm>
            <a:off x="1439466" y="942975"/>
            <a:ext cx="6318600" cy="38433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SzPts val="1800"/>
              <a:buFont typeface="Arial"/>
              <a:buNone/>
            </a:pPr>
            <a:r>
              <a:t/>
            </a:r>
            <a:endParaRPr>
              <a:solidFill>
                <a:srgbClr val="0070C0"/>
              </a:solidFill>
            </a:endParaRPr>
          </a:p>
          <a:p>
            <a:pPr indent="0" lvl="0" marL="0" rtl="0" algn="l">
              <a:lnSpc>
                <a:spcPct val="115000"/>
              </a:lnSpc>
              <a:spcBef>
                <a:spcPts val="0"/>
              </a:spcBef>
              <a:spcAft>
                <a:spcPts val="0"/>
              </a:spcAft>
              <a:buSzPts val="1800"/>
              <a:buNone/>
            </a:pPr>
            <a:r>
              <a:t/>
            </a:r>
            <a:endParaRPr>
              <a:solidFill>
                <a:srgbClr val="0070C0"/>
              </a:solidFill>
            </a:endParaRPr>
          </a:p>
          <a:p>
            <a:pPr indent="0" lvl="0" marL="0" rtl="0" algn="l">
              <a:lnSpc>
                <a:spcPct val="115000"/>
              </a:lnSpc>
              <a:spcBef>
                <a:spcPts val="0"/>
              </a:spcBef>
              <a:spcAft>
                <a:spcPts val="0"/>
              </a:spcAft>
              <a:buSzPts val="1800"/>
              <a:buNone/>
            </a:pPr>
            <a:r>
              <a:t/>
            </a:r>
            <a:endParaRPr>
              <a:solidFill>
                <a:srgbClr val="0070C0"/>
              </a:solidFill>
            </a:endParaRPr>
          </a:p>
          <a:p>
            <a:pPr indent="0" lvl="0" marL="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Font typeface="Arial"/>
              <a:buNone/>
            </a:pPr>
            <a:r>
              <a:t/>
            </a:r>
            <a:endParaRPr>
              <a:solidFill>
                <a:srgbClr val="0078C4"/>
              </a:solidFill>
            </a:endParaRPr>
          </a:p>
        </p:txBody>
      </p:sp>
      <p:pic>
        <p:nvPicPr>
          <p:cNvPr descr="https://media.licdn.com/mpr/mpr/shrinknp_800_800/AAEAAQAAAAAAAAOGAAAAJDkzMTZjZTViLTJkOTItNGM1Yy04ODY3LTdmMWFjZGNkNTUxNg.jpg" id="244" name="Google Shape;244;p41"/>
          <p:cNvPicPr preferRelativeResize="0"/>
          <p:nvPr/>
        </p:nvPicPr>
        <p:blipFill rotWithShape="1">
          <a:blip r:embed="rId3">
            <a:alphaModFix/>
          </a:blip>
          <a:srcRect b="0" l="0" r="0" t="0"/>
          <a:stretch/>
        </p:blipFill>
        <p:spPr>
          <a:xfrm>
            <a:off x="2888677" y="1703415"/>
            <a:ext cx="5204734" cy="2800492"/>
          </a:xfrm>
          <a:prstGeom prst="rect">
            <a:avLst/>
          </a:prstGeom>
          <a:noFill/>
          <a:ln>
            <a:noFill/>
          </a:ln>
        </p:spPr>
      </p:pic>
      <p:sp>
        <p:nvSpPr>
          <p:cNvPr id="245" name="Google Shape;245;p41"/>
          <p:cNvSpPr txBox="1"/>
          <p:nvPr>
            <p:ph type="title"/>
          </p:nvPr>
        </p:nvSpPr>
        <p:spPr>
          <a:xfrm>
            <a:off x="250940" y="617514"/>
            <a:ext cx="8520600" cy="83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GB" sz="4200"/>
              <a:t>One meeting may not be enough to establish similar expectations….</a:t>
            </a:r>
            <a:endParaRPr/>
          </a:p>
        </p:txBody>
      </p:sp>
      <p:sp>
        <p:nvSpPr>
          <p:cNvPr id="246" name="Google Shape;246;p41"/>
          <p:cNvSpPr txBox="1"/>
          <p:nvPr/>
        </p:nvSpPr>
        <p:spPr>
          <a:xfrm>
            <a:off x="426039" y="1774275"/>
            <a:ext cx="20544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Formal rules are needed for managing consortia…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…but informal meetings and individual catch-up discussions are important to identify different interests, approaches and expectations.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solidFill>
                  <a:srgbClr val="FF0000"/>
                </a:solidFill>
              </a:rPr>
              <a:t>Activity - Building partnerships beyond the contract</a:t>
            </a:r>
            <a:endParaRPr/>
          </a:p>
        </p:txBody>
      </p:sp>
      <p:sp>
        <p:nvSpPr>
          <p:cNvPr id="252" name="Google Shape;252;p42"/>
          <p:cNvSpPr txBox="1"/>
          <p:nvPr>
            <p:ph idx="1" type="body"/>
          </p:nvPr>
        </p:nvSpPr>
        <p:spPr>
          <a:xfrm>
            <a:off x="311700" y="1225225"/>
            <a:ext cx="3306900" cy="3354000"/>
          </a:xfrm>
          <a:prstGeom prst="rect">
            <a:avLst/>
          </a:prstGeom>
          <a:solidFill>
            <a:srgbClr val="D8D8D8"/>
          </a:solidFill>
          <a:ln>
            <a:noFill/>
          </a:ln>
        </p:spPr>
        <p:txBody>
          <a:bodyPr anchorCtr="0" anchor="t" bIns="91425" lIns="91425" spcFirstLastPara="1" rIns="91425" wrap="square" tIns="91425">
            <a:normAutofit fontScale="70000"/>
          </a:bodyPr>
          <a:lstStyle/>
          <a:p>
            <a:pPr indent="0" lvl="0" marL="114300" rtl="0" algn="l">
              <a:lnSpc>
                <a:spcPct val="115000"/>
              </a:lnSpc>
              <a:spcBef>
                <a:spcPts val="0"/>
              </a:spcBef>
              <a:spcAft>
                <a:spcPts val="0"/>
              </a:spcAft>
              <a:buSzPct val="142857"/>
              <a:buNone/>
            </a:pPr>
            <a:r>
              <a:rPr lang="en-GB"/>
              <a:t>Case-Study: Major Events Legacy</a:t>
            </a:r>
            <a:endParaRPr/>
          </a:p>
          <a:p>
            <a:pPr indent="0" lvl="0" marL="114300" rtl="0" algn="l">
              <a:lnSpc>
                <a:spcPct val="115000"/>
              </a:lnSpc>
              <a:spcBef>
                <a:spcPts val="0"/>
              </a:spcBef>
              <a:spcAft>
                <a:spcPts val="0"/>
              </a:spcAft>
              <a:buSzPct val="142857"/>
              <a:buNone/>
            </a:pPr>
            <a:r>
              <a:t/>
            </a:r>
            <a:endParaRPr/>
          </a:p>
          <a:p>
            <a:pPr indent="0" lvl="0" marL="114300" rtl="0" algn="l">
              <a:lnSpc>
                <a:spcPct val="115000"/>
              </a:lnSpc>
              <a:spcBef>
                <a:spcPts val="0"/>
              </a:spcBef>
              <a:spcAft>
                <a:spcPts val="0"/>
              </a:spcAft>
              <a:buSzPct val="142857"/>
              <a:buNone/>
            </a:pPr>
            <a:r>
              <a:rPr lang="en-GB"/>
              <a:t>A project is won to provide international mobilities for researchers working on projects around major events planning and how this can create better events, urban environments, regeneration or healthy living.</a:t>
            </a:r>
            <a:endParaRPr/>
          </a:p>
          <a:p>
            <a:pPr indent="0" lvl="0" marL="114300" rtl="0" algn="l">
              <a:lnSpc>
                <a:spcPct val="115000"/>
              </a:lnSpc>
              <a:spcBef>
                <a:spcPts val="0"/>
              </a:spcBef>
              <a:spcAft>
                <a:spcPts val="0"/>
              </a:spcAft>
              <a:buSzPct val="142857"/>
              <a:buNone/>
            </a:pPr>
            <a:r>
              <a:t/>
            </a:r>
            <a:endParaRPr/>
          </a:p>
          <a:p>
            <a:pPr indent="0" lvl="0" marL="114300" rtl="0" algn="l">
              <a:lnSpc>
                <a:spcPct val="115000"/>
              </a:lnSpc>
              <a:spcBef>
                <a:spcPts val="0"/>
              </a:spcBef>
              <a:spcAft>
                <a:spcPts val="0"/>
              </a:spcAft>
              <a:buSzPct val="142857"/>
              <a:buNone/>
            </a:pPr>
            <a:r>
              <a:rPr lang="en-GB"/>
              <a:t>The funder, PI and university believe that with  the Olympics coming to your city, this project has significant potential to attract more funding, raise visibility and create something lasting. </a:t>
            </a:r>
            <a:endParaRPr/>
          </a:p>
        </p:txBody>
      </p:sp>
      <p:sp>
        <p:nvSpPr>
          <p:cNvPr id="253" name="Google Shape;253;p42"/>
          <p:cNvSpPr txBox="1"/>
          <p:nvPr/>
        </p:nvSpPr>
        <p:spPr>
          <a:xfrm>
            <a:off x="4056433" y="1225225"/>
            <a:ext cx="4649700" cy="323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20 minute activity, on your table consider: </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What are the opportunities for a lasting impact? Agree one.</a:t>
            </a:r>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What are the risks if the university mishandles the project and the opportunity?</a:t>
            </a:r>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What internal expertise do you need within the university? Name give colleagues and when they need to be involved.</a:t>
            </a:r>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What are the partnerships that need to be established at a city, national and international level? Name three, and identify the benefits for you and for your partners.</a:t>
            </a:r>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Do you need to make a case for more funding? If so, to whom - the university, a sponsor or the funder? How do you define success?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i="1" lang="en-GB"/>
              <a:t>Key Points</a:t>
            </a:r>
            <a:endParaRPr/>
          </a:p>
        </p:txBody>
      </p:sp>
      <p:sp>
        <p:nvSpPr>
          <p:cNvPr id="259" name="Google Shape;259;p43"/>
          <p:cNvSpPr txBox="1"/>
          <p:nvPr>
            <p:ph idx="1" type="body"/>
          </p:nvPr>
        </p:nvSpPr>
        <p:spPr>
          <a:xfrm>
            <a:off x="311700" y="1225225"/>
            <a:ext cx="8520600" cy="3828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p>
          <a:p>
            <a:pPr indent="-171450" lvl="0" marL="285750" rtl="0" algn="l">
              <a:lnSpc>
                <a:spcPct val="100000"/>
              </a:lnSpc>
              <a:spcBef>
                <a:spcPts val="0"/>
              </a:spcBef>
              <a:spcAft>
                <a:spcPts val="0"/>
              </a:spcAft>
              <a:buSzPts val="1800"/>
              <a:buFont typeface="Arial"/>
              <a:buNone/>
            </a:pPr>
            <a:r>
              <a:t/>
            </a:r>
            <a:endParaRPr/>
          </a:p>
          <a:p>
            <a:pPr indent="-285750" lvl="0" marL="285750" rtl="0" algn="l">
              <a:lnSpc>
                <a:spcPct val="100000"/>
              </a:lnSpc>
              <a:spcBef>
                <a:spcPts val="0"/>
              </a:spcBef>
              <a:spcAft>
                <a:spcPts val="0"/>
              </a:spcAft>
              <a:buSzPts val="1800"/>
              <a:buFont typeface="Arial"/>
              <a:buChar char="•"/>
            </a:pPr>
            <a:r>
              <a:rPr lang="en-GB"/>
              <a:t>Impact planning is about expanding the scope of the project to identify how social or economic change can be achieved as a result of the research. </a:t>
            </a:r>
            <a:endParaRPr/>
          </a:p>
          <a:p>
            <a:pPr indent="-171450" lvl="0" marL="285750" rtl="0" algn="l">
              <a:lnSpc>
                <a:spcPct val="100000"/>
              </a:lnSpc>
              <a:spcBef>
                <a:spcPts val="0"/>
              </a:spcBef>
              <a:spcAft>
                <a:spcPts val="0"/>
              </a:spcAft>
              <a:buSzPts val="1800"/>
              <a:buFont typeface="Arial"/>
              <a:buNone/>
            </a:pPr>
            <a:r>
              <a:t/>
            </a:r>
            <a:endParaRPr/>
          </a:p>
          <a:p>
            <a:pPr indent="-285750" lvl="0" marL="285750" rtl="0" algn="l">
              <a:lnSpc>
                <a:spcPct val="100000"/>
              </a:lnSpc>
              <a:spcBef>
                <a:spcPts val="0"/>
              </a:spcBef>
              <a:spcAft>
                <a:spcPts val="0"/>
              </a:spcAft>
              <a:buSzPts val="1800"/>
              <a:buFont typeface="Arial"/>
              <a:buChar char="•"/>
            </a:pPr>
            <a:r>
              <a:rPr lang="en-GB"/>
              <a:t>Commercial planning is about identifying, protecting and exploiting the commercial value of the project for your organisation</a:t>
            </a:r>
            <a:endParaRPr/>
          </a:p>
          <a:p>
            <a:pPr indent="-171450" lvl="0" marL="285750" rtl="0" algn="l">
              <a:lnSpc>
                <a:spcPct val="100000"/>
              </a:lnSpc>
              <a:spcBef>
                <a:spcPts val="0"/>
              </a:spcBef>
              <a:spcAft>
                <a:spcPts val="0"/>
              </a:spcAft>
              <a:buSzPts val="1800"/>
              <a:buFont typeface="Arial"/>
              <a:buNone/>
            </a:pPr>
            <a:r>
              <a:t/>
            </a:r>
            <a:endParaRPr/>
          </a:p>
          <a:p>
            <a:pPr indent="-285750" lvl="0" marL="285750" rtl="0" algn="l">
              <a:lnSpc>
                <a:spcPct val="100000"/>
              </a:lnSpc>
              <a:spcBef>
                <a:spcPts val="0"/>
              </a:spcBef>
              <a:spcAft>
                <a:spcPts val="0"/>
              </a:spcAft>
              <a:buSzPts val="1800"/>
              <a:buFont typeface="Arial"/>
              <a:buChar char="•"/>
            </a:pPr>
            <a:r>
              <a:rPr lang="en-GB"/>
              <a:t>All impact and commercial planning will require collaboration with internal or external stakeholders. This requires planning, focus and leadership, but also access to diverse specialist skills if the project is to be a success.</a:t>
            </a:r>
            <a:endParaRPr/>
          </a:p>
          <a:p>
            <a:pPr indent="0" lvl="0" marL="114300" rtl="0" algn="l">
              <a:lnSpc>
                <a:spcPct val="100000"/>
              </a:lnSpc>
              <a:spcBef>
                <a:spcPts val="0"/>
              </a:spcBef>
              <a:spcAft>
                <a:spcPts val="0"/>
              </a:spcAft>
              <a:buSzPts val="1800"/>
              <a:buNone/>
            </a:pPr>
            <a:r>
              <a:t/>
            </a:r>
            <a:endParaRPr b="1"/>
          </a:p>
          <a:p>
            <a:pPr indent="-228600" lvl="0" marL="457200" rtl="0" algn="l">
              <a:lnSpc>
                <a:spcPct val="114999"/>
              </a:lnSpc>
              <a:spcBef>
                <a:spcPts val="0"/>
              </a:spcBef>
              <a:spcAft>
                <a:spcPts val="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 name="Shape 263"/>
        <p:cNvGrpSpPr/>
        <p:nvPr/>
      </p:nvGrpSpPr>
      <p:grpSpPr>
        <a:xfrm>
          <a:off x="0" y="0"/>
          <a:ext cx="0" cy="0"/>
          <a:chOff x="0" y="0"/>
          <a:chExt cx="0" cy="0"/>
        </a:xfrm>
      </p:grpSpPr>
      <p:sp>
        <p:nvSpPr>
          <p:cNvPr id="264" name="Google Shape;264;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research impact?</a:t>
            </a:r>
            <a:endParaRPr/>
          </a:p>
        </p:txBody>
      </p:sp>
      <p:sp>
        <p:nvSpPr>
          <p:cNvPr id="265" name="Google Shape;265;p4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“an effect on, change or benefit to the economy, society, culture, public policy or services, health, the environment or quality of life, beyond academia”</a:t>
            </a:r>
            <a:endParaRPr/>
          </a:p>
          <a:p>
            <a:pPr indent="0" lvl="0" marL="0" rtl="0" algn="l">
              <a:spcBef>
                <a:spcPts val="1200"/>
              </a:spcBef>
              <a:spcAft>
                <a:spcPts val="0"/>
              </a:spcAft>
              <a:buClr>
                <a:schemeClr val="dk1"/>
              </a:buClr>
              <a:buSzPts val="1100"/>
              <a:buFont typeface="Arial"/>
              <a:buNone/>
            </a:pPr>
            <a:r>
              <a:rPr lang="en-GB"/>
              <a:t>— UK Research Excellence Framework (REF)</a:t>
            </a:r>
            <a:endParaRPr/>
          </a:p>
          <a:p>
            <a:pPr indent="0" lvl="0" marL="0" rtl="0" algn="l">
              <a:spcBef>
                <a:spcPts val="1200"/>
              </a:spcBef>
              <a:spcAft>
                <a:spcPts val="1200"/>
              </a:spcAft>
              <a:buNone/>
            </a:pPr>
            <a:r>
              <a:t/>
            </a:r>
            <a:endParaRPr/>
          </a:p>
        </p:txBody>
      </p:sp>
      <p:sp>
        <p:nvSpPr>
          <p:cNvPr id="266" name="Google Shape;26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Routes to impact</a:t>
            </a:r>
            <a:endParaRPr/>
          </a:p>
        </p:txBody>
      </p:sp>
      <p:sp>
        <p:nvSpPr>
          <p:cNvPr id="272" name="Google Shape;272;p4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Dissemination of research results</a:t>
            </a:r>
            <a:endParaRPr/>
          </a:p>
          <a:p>
            <a:pPr indent="-342900" lvl="0" marL="457200" rtl="0" algn="l">
              <a:spcBef>
                <a:spcPts val="0"/>
              </a:spcBef>
              <a:spcAft>
                <a:spcPts val="0"/>
              </a:spcAft>
              <a:buSzPts val="1800"/>
              <a:buChar char="●"/>
            </a:pPr>
            <a:r>
              <a:rPr lang="en-GB"/>
              <a:t>Engaging key stakeholders</a:t>
            </a:r>
            <a:endParaRPr/>
          </a:p>
          <a:p>
            <a:pPr indent="-342900" lvl="0" marL="457200" rtl="0" algn="l">
              <a:spcBef>
                <a:spcPts val="0"/>
              </a:spcBef>
              <a:spcAft>
                <a:spcPts val="0"/>
              </a:spcAft>
              <a:buSzPts val="1800"/>
              <a:buChar char="●"/>
            </a:pPr>
            <a:r>
              <a:rPr lang="en-GB"/>
              <a:t>Involving possible end-users</a:t>
            </a:r>
            <a:endParaRPr/>
          </a:p>
          <a:p>
            <a:pPr indent="-342900" lvl="0" marL="457200" rtl="0" algn="l">
              <a:spcBef>
                <a:spcPts val="0"/>
              </a:spcBef>
              <a:spcAft>
                <a:spcPts val="0"/>
              </a:spcAft>
              <a:buSzPts val="1800"/>
              <a:buChar char="●"/>
            </a:pPr>
            <a:r>
              <a:rPr lang="en-GB"/>
              <a:t>Co-production</a:t>
            </a:r>
            <a:endParaRPr/>
          </a:p>
          <a:p>
            <a:pPr indent="0" lvl="0" marL="0" rtl="0" algn="l">
              <a:spcBef>
                <a:spcPts val="1200"/>
              </a:spcBef>
              <a:spcAft>
                <a:spcPts val="0"/>
              </a:spcAft>
              <a:buNone/>
            </a:pPr>
            <a:r>
              <a:rPr lang="en-GB"/>
              <a:t>Leading to:</a:t>
            </a:r>
            <a:endParaRPr/>
          </a:p>
          <a:p>
            <a:pPr indent="-342900" lvl="0" marL="457200" rtl="0" algn="l">
              <a:spcBef>
                <a:spcPts val="1200"/>
              </a:spcBef>
              <a:spcAft>
                <a:spcPts val="0"/>
              </a:spcAft>
              <a:buSzPts val="1800"/>
              <a:buChar char="❏"/>
            </a:pPr>
            <a:r>
              <a:rPr lang="en-GB"/>
              <a:t>Uptake of research outside academia</a:t>
            </a:r>
            <a:endParaRPr/>
          </a:p>
          <a:p>
            <a:pPr indent="0" lvl="0" marL="0" rtl="0" algn="l">
              <a:spcBef>
                <a:spcPts val="1200"/>
              </a:spcBef>
              <a:spcAft>
                <a:spcPts val="0"/>
              </a:spcAft>
              <a:buNone/>
            </a:pPr>
            <a:r>
              <a:rPr lang="en-GB"/>
              <a:t>Which is:</a:t>
            </a:r>
            <a:endParaRPr/>
          </a:p>
          <a:p>
            <a:pPr indent="-342900" lvl="0" marL="457200" rtl="0" algn="l">
              <a:spcBef>
                <a:spcPts val="1200"/>
              </a:spcBef>
              <a:spcAft>
                <a:spcPts val="0"/>
              </a:spcAft>
              <a:buSzPts val="1800"/>
              <a:buChar char="★"/>
            </a:pPr>
            <a:r>
              <a:rPr lang="en-GB"/>
              <a:t>Impact!</a:t>
            </a:r>
            <a:endParaRPr/>
          </a:p>
        </p:txBody>
      </p:sp>
      <p:sp>
        <p:nvSpPr>
          <p:cNvPr id="273" name="Google Shape;27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Pathways to impact</a:t>
            </a:r>
            <a:endParaRPr/>
          </a:p>
        </p:txBody>
      </p:sp>
      <p:sp>
        <p:nvSpPr>
          <p:cNvPr id="279" name="Google Shape;279;p4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What will you actually do to ensure the people that you have previously identified will benefit from your research?</a:t>
            </a:r>
            <a:endParaRPr/>
          </a:p>
          <a:p>
            <a:pPr indent="0" lvl="0" marL="114300" rtl="0" algn="l">
              <a:lnSpc>
                <a:spcPct val="115000"/>
              </a:lnSpc>
              <a:spcBef>
                <a:spcPts val="0"/>
              </a:spcBef>
              <a:spcAft>
                <a:spcPts val="0"/>
              </a:spcAft>
              <a:buSzPts val="1800"/>
              <a:buNone/>
            </a:pPr>
            <a:r>
              <a:t/>
            </a:r>
            <a:endParaRPr b="0" i="0" u="none" strike="noStrike">
              <a:solidFill>
                <a:srgbClr val="262626"/>
              </a:solidFill>
              <a:latin typeface="Open Sans"/>
              <a:ea typeface="Open Sans"/>
              <a:cs typeface="Open Sans"/>
              <a:sym typeface="Open Sans"/>
            </a:endParaRPr>
          </a:p>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Methods for communications and engagement </a:t>
            </a:r>
            <a:endParaRPr/>
          </a:p>
          <a:p>
            <a:pPr indent="0" lvl="0" marL="114300" rtl="0" algn="l">
              <a:lnSpc>
                <a:spcPct val="115000"/>
              </a:lnSpc>
              <a:spcBef>
                <a:spcPts val="0"/>
              </a:spcBef>
              <a:spcAft>
                <a:spcPts val="0"/>
              </a:spcAft>
              <a:buSzPts val="1800"/>
              <a:buNone/>
            </a:pPr>
            <a:r>
              <a:t/>
            </a:r>
            <a:endParaRPr b="0" i="0" u="none" strike="noStrike">
              <a:solidFill>
                <a:srgbClr val="262626"/>
              </a:solidFill>
              <a:latin typeface="Open Sans"/>
              <a:ea typeface="Open Sans"/>
              <a:cs typeface="Open Sans"/>
              <a:sym typeface="Open Sans"/>
            </a:endParaRPr>
          </a:p>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Collaboration and exploitation in the most effective and appropriate manner </a:t>
            </a:r>
            <a:endParaRPr/>
          </a:p>
          <a:p>
            <a:pPr indent="0" lvl="0" marL="114300" rtl="0" algn="l">
              <a:lnSpc>
                <a:spcPct val="115000"/>
              </a:lnSpc>
              <a:spcBef>
                <a:spcPts val="0"/>
              </a:spcBef>
              <a:spcAft>
                <a:spcPts val="0"/>
              </a:spcAft>
              <a:buSzPts val="1800"/>
              <a:buNone/>
            </a:pPr>
            <a:r>
              <a:t/>
            </a:r>
            <a:endParaRPr b="0" i="0" u="none" strike="noStrike">
              <a:solidFill>
                <a:srgbClr val="262626"/>
              </a:solidFill>
              <a:latin typeface="Open Sans"/>
              <a:ea typeface="Open Sans"/>
              <a:cs typeface="Open Sans"/>
              <a:sym typeface="Open Sans"/>
            </a:endParaRPr>
          </a:p>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The project team’s track record in this area </a:t>
            </a:r>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4" name="Shape 284"/>
        <p:cNvGrpSpPr/>
        <p:nvPr/>
      </p:nvGrpSpPr>
      <p:grpSpPr>
        <a:xfrm>
          <a:off x="0" y="0"/>
          <a:ext cx="0" cy="0"/>
          <a:chOff x="0" y="0"/>
          <a:chExt cx="0" cy="0"/>
        </a:xfrm>
      </p:grpSpPr>
      <p:sp>
        <p:nvSpPr>
          <p:cNvPr id="285" name="Google Shape;285;p47"/>
          <p:cNvSpPr/>
          <p:nvPr/>
        </p:nvSpPr>
        <p:spPr>
          <a:xfrm>
            <a:off x="1925706" y="4461960"/>
            <a:ext cx="5346600" cy="216000"/>
          </a:xfrm>
          <a:prstGeom prst="rightArrow">
            <a:avLst>
              <a:gd fmla="val 50000" name="adj1"/>
              <a:gd fmla="val 50000" name="adj2"/>
            </a:avLst>
          </a:prstGeom>
          <a:solidFill>
            <a:schemeClr val="accent1"/>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86" name="Google Shape;286;p47"/>
          <p:cNvSpPr txBox="1"/>
          <p:nvPr/>
        </p:nvSpPr>
        <p:spPr>
          <a:xfrm>
            <a:off x="4388168" y="4628774"/>
            <a:ext cx="4845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Time</a:t>
            </a:r>
            <a:endParaRPr/>
          </a:p>
        </p:txBody>
      </p:sp>
      <p:sp>
        <p:nvSpPr>
          <p:cNvPr id="287" name="Google Shape;287;p47"/>
          <p:cNvSpPr/>
          <p:nvPr/>
        </p:nvSpPr>
        <p:spPr>
          <a:xfrm>
            <a:off x="5976156" y="100557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1</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Change an industrial process for the better</a:t>
            </a:r>
            <a:endParaRPr/>
          </a:p>
        </p:txBody>
      </p:sp>
      <p:sp>
        <p:nvSpPr>
          <p:cNvPr id="288" name="Google Shape;288;p47"/>
          <p:cNvSpPr/>
          <p:nvPr/>
        </p:nvSpPr>
        <p:spPr>
          <a:xfrm>
            <a:off x="5991299" y="181566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2</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UK’s policy changed</a:t>
            </a:r>
            <a:endParaRPr/>
          </a:p>
        </p:txBody>
      </p:sp>
      <p:sp>
        <p:nvSpPr>
          <p:cNvPr id="289" name="Google Shape;289;p47"/>
          <p:cNvSpPr/>
          <p:nvPr/>
        </p:nvSpPr>
        <p:spPr>
          <a:xfrm>
            <a:off x="5976156" y="270430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3</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Raise Awareness of UK public about XXXX</a:t>
            </a:r>
            <a:endParaRPr/>
          </a:p>
        </p:txBody>
      </p:sp>
      <p:sp>
        <p:nvSpPr>
          <p:cNvPr id="290" name="Google Shape;290;p47"/>
          <p:cNvSpPr/>
          <p:nvPr/>
        </p:nvSpPr>
        <p:spPr>
          <a:xfrm>
            <a:off x="5976156" y="3597864"/>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4</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Trained staff</a:t>
            </a:r>
            <a:endParaRPr/>
          </a:p>
        </p:txBody>
      </p:sp>
      <p:sp>
        <p:nvSpPr>
          <p:cNvPr id="291" name="Google Shape;291;p47"/>
          <p:cNvSpPr/>
          <p:nvPr/>
        </p:nvSpPr>
        <p:spPr>
          <a:xfrm>
            <a:off x="1412219" y="2370460"/>
            <a:ext cx="837600" cy="4026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1050" u="none" cap="none" strike="noStrike">
                <a:solidFill>
                  <a:schemeClr val="dk1"/>
                </a:solidFill>
                <a:latin typeface="Arial"/>
                <a:ea typeface="Arial"/>
                <a:cs typeface="Arial"/>
                <a:sym typeface="Arial"/>
              </a:rPr>
              <a:t>Project</a:t>
            </a:r>
            <a:endParaRPr/>
          </a:p>
        </p:txBody>
      </p:sp>
      <p:cxnSp>
        <p:nvCxnSpPr>
          <p:cNvPr id="292" name="Google Shape;292;p47"/>
          <p:cNvCxnSpPr>
            <a:stCxn id="291" idx="3"/>
            <a:endCxn id="287" idx="1"/>
          </p:cNvCxnSpPr>
          <p:nvPr/>
        </p:nvCxnSpPr>
        <p:spPr>
          <a:xfrm flipH="1" rot="10800000">
            <a:off x="2249819" y="1275460"/>
            <a:ext cx="3726300" cy="1296300"/>
          </a:xfrm>
          <a:prstGeom prst="straightConnector1">
            <a:avLst/>
          </a:prstGeom>
          <a:noFill/>
          <a:ln cap="flat" cmpd="sng" w="9525">
            <a:solidFill>
              <a:srgbClr val="5A3D34"/>
            </a:solidFill>
            <a:prstDash val="solid"/>
            <a:round/>
            <a:headEnd len="sm" w="sm" type="none"/>
            <a:tailEnd len="med" w="med" type="stealth"/>
          </a:ln>
        </p:spPr>
      </p:cxnSp>
      <p:cxnSp>
        <p:nvCxnSpPr>
          <p:cNvPr id="293" name="Google Shape;293;p47"/>
          <p:cNvCxnSpPr>
            <a:stCxn id="291" idx="3"/>
            <a:endCxn id="288" idx="1"/>
          </p:cNvCxnSpPr>
          <p:nvPr/>
        </p:nvCxnSpPr>
        <p:spPr>
          <a:xfrm flipH="1" rot="10800000">
            <a:off x="2249819" y="2085760"/>
            <a:ext cx="3741600" cy="486000"/>
          </a:xfrm>
          <a:prstGeom prst="straightConnector1">
            <a:avLst/>
          </a:prstGeom>
          <a:noFill/>
          <a:ln cap="flat" cmpd="sng" w="9525">
            <a:solidFill>
              <a:srgbClr val="5A3D34"/>
            </a:solidFill>
            <a:prstDash val="solid"/>
            <a:round/>
            <a:headEnd len="sm" w="sm" type="none"/>
            <a:tailEnd len="med" w="med" type="stealth"/>
          </a:ln>
        </p:spPr>
      </p:cxnSp>
      <p:cxnSp>
        <p:nvCxnSpPr>
          <p:cNvPr id="294" name="Google Shape;294;p47"/>
          <p:cNvCxnSpPr>
            <a:stCxn id="291" idx="3"/>
            <a:endCxn id="289" idx="1"/>
          </p:cNvCxnSpPr>
          <p:nvPr/>
        </p:nvCxnSpPr>
        <p:spPr>
          <a:xfrm>
            <a:off x="2249819" y="2571760"/>
            <a:ext cx="3726300" cy="402600"/>
          </a:xfrm>
          <a:prstGeom prst="straightConnector1">
            <a:avLst/>
          </a:prstGeom>
          <a:noFill/>
          <a:ln cap="flat" cmpd="sng" w="9525">
            <a:solidFill>
              <a:srgbClr val="5A3D34"/>
            </a:solidFill>
            <a:prstDash val="solid"/>
            <a:round/>
            <a:headEnd len="sm" w="sm" type="none"/>
            <a:tailEnd len="med" w="med" type="stealth"/>
          </a:ln>
        </p:spPr>
      </p:cxnSp>
      <p:cxnSp>
        <p:nvCxnSpPr>
          <p:cNvPr id="295" name="Google Shape;295;p47"/>
          <p:cNvCxnSpPr>
            <a:stCxn id="291" idx="3"/>
            <a:endCxn id="290" idx="1"/>
          </p:cNvCxnSpPr>
          <p:nvPr/>
        </p:nvCxnSpPr>
        <p:spPr>
          <a:xfrm>
            <a:off x="2249819" y="2571760"/>
            <a:ext cx="3726300" cy="1296000"/>
          </a:xfrm>
          <a:prstGeom prst="straightConnector1">
            <a:avLst/>
          </a:prstGeom>
          <a:noFill/>
          <a:ln cap="flat" cmpd="sng" w="9525">
            <a:solidFill>
              <a:srgbClr val="5A3D34"/>
            </a:solidFill>
            <a:prstDash val="solid"/>
            <a:round/>
            <a:headEnd len="sm" w="sm" type="none"/>
            <a:tailEnd len="med" w="med" type="stealth"/>
          </a:ln>
        </p:spPr>
      </p:cxnSp>
      <p:sp>
        <p:nvSpPr>
          <p:cNvPr descr="Image result for coventry university logo" id="296" name="Google Shape;296;p47"/>
          <p:cNvSpPr/>
          <p:nvPr/>
        </p:nvSpPr>
        <p:spPr>
          <a:xfrm>
            <a:off x="1259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1" name="Shape 301"/>
        <p:cNvGrpSpPr/>
        <p:nvPr/>
      </p:nvGrpSpPr>
      <p:grpSpPr>
        <a:xfrm>
          <a:off x="0" y="0"/>
          <a:ext cx="0" cy="0"/>
          <a:chOff x="0" y="0"/>
          <a:chExt cx="0" cy="0"/>
        </a:xfrm>
      </p:grpSpPr>
      <p:sp>
        <p:nvSpPr>
          <p:cNvPr id="302" name="Google Shape;302;p48"/>
          <p:cNvSpPr/>
          <p:nvPr/>
        </p:nvSpPr>
        <p:spPr>
          <a:xfrm rot="-1338701">
            <a:off x="2308772" y="1529443"/>
            <a:ext cx="3496689" cy="79109"/>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03" name="Google Shape;303;p48"/>
          <p:cNvSpPr/>
          <p:nvPr/>
        </p:nvSpPr>
        <p:spPr>
          <a:xfrm>
            <a:off x="1925706" y="4461960"/>
            <a:ext cx="5346600" cy="216000"/>
          </a:xfrm>
          <a:prstGeom prst="rightArrow">
            <a:avLst>
              <a:gd fmla="val 50000" name="adj1"/>
              <a:gd fmla="val 50000" name="adj2"/>
            </a:avLst>
          </a:prstGeom>
          <a:solidFill>
            <a:schemeClr val="accent1"/>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04" name="Google Shape;304;p48"/>
          <p:cNvSpPr txBox="1"/>
          <p:nvPr/>
        </p:nvSpPr>
        <p:spPr>
          <a:xfrm>
            <a:off x="4388168" y="4628774"/>
            <a:ext cx="4845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Time</a:t>
            </a:r>
            <a:endParaRPr/>
          </a:p>
        </p:txBody>
      </p:sp>
      <p:sp>
        <p:nvSpPr>
          <p:cNvPr id="305" name="Google Shape;305;p48"/>
          <p:cNvSpPr/>
          <p:nvPr/>
        </p:nvSpPr>
        <p:spPr>
          <a:xfrm>
            <a:off x="5976156" y="100557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1</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Change an industrial process for the better</a:t>
            </a:r>
            <a:endParaRPr/>
          </a:p>
        </p:txBody>
      </p:sp>
      <p:sp>
        <p:nvSpPr>
          <p:cNvPr id="306" name="Google Shape;306;p48"/>
          <p:cNvSpPr/>
          <p:nvPr/>
        </p:nvSpPr>
        <p:spPr>
          <a:xfrm>
            <a:off x="5991299" y="181566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2</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UK’s policy changed</a:t>
            </a:r>
            <a:endParaRPr/>
          </a:p>
        </p:txBody>
      </p:sp>
      <p:sp>
        <p:nvSpPr>
          <p:cNvPr id="307" name="Google Shape;307;p48"/>
          <p:cNvSpPr/>
          <p:nvPr/>
        </p:nvSpPr>
        <p:spPr>
          <a:xfrm>
            <a:off x="5976156" y="270430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3</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Raise Awareness of UK public about XXXX</a:t>
            </a:r>
            <a:endParaRPr/>
          </a:p>
        </p:txBody>
      </p:sp>
      <p:sp>
        <p:nvSpPr>
          <p:cNvPr id="308" name="Google Shape;308;p48"/>
          <p:cNvSpPr/>
          <p:nvPr/>
        </p:nvSpPr>
        <p:spPr>
          <a:xfrm>
            <a:off x="5976156" y="3597864"/>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4</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Trained staff</a:t>
            </a:r>
            <a:endParaRPr/>
          </a:p>
        </p:txBody>
      </p:sp>
      <p:sp>
        <p:nvSpPr>
          <p:cNvPr id="309" name="Google Shape;309;p48"/>
          <p:cNvSpPr/>
          <p:nvPr/>
        </p:nvSpPr>
        <p:spPr>
          <a:xfrm>
            <a:off x="1412219" y="2370460"/>
            <a:ext cx="837600" cy="4026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1050" u="none" cap="none" strike="noStrike">
                <a:solidFill>
                  <a:schemeClr val="dk1"/>
                </a:solidFill>
                <a:latin typeface="Arial"/>
                <a:ea typeface="Arial"/>
                <a:cs typeface="Arial"/>
                <a:sym typeface="Arial"/>
              </a:rPr>
              <a:t>Project</a:t>
            </a:r>
            <a:endParaRPr/>
          </a:p>
        </p:txBody>
      </p:sp>
      <p:cxnSp>
        <p:nvCxnSpPr>
          <p:cNvPr id="310" name="Google Shape;310;p48"/>
          <p:cNvCxnSpPr>
            <a:stCxn id="309" idx="3"/>
            <a:endCxn id="305" idx="1"/>
          </p:cNvCxnSpPr>
          <p:nvPr/>
        </p:nvCxnSpPr>
        <p:spPr>
          <a:xfrm flipH="1" rot="10800000">
            <a:off x="2249819" y="1275460"/>
            <a:ext cx="3726300" cy="1296300"/>
          </a:xfrm>
          <a:prstGeom prst="straightConnector1">
            <a:avLst/>
          </a:prstGeom>
          <a:noFill/>
          <a:ln cap="flat" cmpd="sng" w="9525">
            <a:solidFill>
              <a:srgbClr val="5A3D34"/>
            </a:solidFill>
            <a:prstDash val="solid"/>
            <a:round/>
            <a:headEnd len="sm" w="sm" type="none"/>
            <a:tailEnd len="med" w="med" type="stealth"/>
          </a:ln>
        </p:spPr>
      </p:cxnSp>
      <p:cxnSp>
        <p:nvCxnSpPr>
          <p:cNvPr id="311" name="Google Shape;311;p48"/>
          <p:cNvCxnSpPr>
            <a:stCxn id="309" idx="3"/>
            <a:endCxn id="306" idx="1"/>
          </p:cNvCxnSpPr>
          <p:nvPr/>
        </p:nvCxnSpPr>
        <p:spPr>
          <a:xfrm flipH="1" rot="10800000">
            <a:off x="2249819" y="2085760"/>
            <a:ext cx="3741600" cy="486000"/>
          </a:xfrm>
          <a:prstGeom prst="straightConnector1">
            <a:avLst/>
          </a:prstGeom>
          <a:noFill/>
          <a:ln cap="flat" cmpd="sng" w="9525">
            <a:solidFill>
              <a:srgbClr val="5A3D34"/>
            </a:solidFill>
            <a:prstDash val="solid"/>
            <a:round/>
            <a:headEnd len="sm" w="sm" type="none"/>
            <a:tailEnd len="med" w="med" type="stealth"/>
          </a:ln>
        </p:spPr>
      </p:cxnSp>
      <p:cxnSp>
        <p:nvCxnSpPr>
          <p:cNvPr id="312" name="Google Shape;312;p48"/>
          <p:cNvCxnSpPr>
            <a:stCxn id="309" idx="3"/>
            <a:endCxn id="307" idx="1"/>
          </p:cNvCxnSpPr>
          <p:nvPr/>
        </p:nvCxnSpPr>
        <p:spPr>
          <a:xfrm>
            <a:off x="2249819" y="2571760"/>
            <a:ext cx="3726300" cy="402600"/>
          </a:xfrm>
          <a:prstGeom prst="straightConnector1">
            <a:avLst/>
          </a:prstGeom>
          <a:noFill/>
          <a:ln cap="flat" cmpd="sng" w="9525">
            <a:solidFill>
              <a:srgbClr val="5A3D34"/>
            </a:solidFill>
            <a:prstDash val="solid"/>
            <a:round/>
            <a:headEnd len="sm" w="sm" type="none"/>
            <a:tailEnd len="med" w="med" type="stealth"/>
          </a:ln>
        </p:spPr>
      </p:cxnSp>
      <p:cxnSp>
        <p:nvCxnSpPr>
          <p:cNvPr id="313" name="Google Shape;313;p48"/>
          <p:cNvCxnSpPr>
            <a:stCxn id="309" idx="3"/>
            <a:endCxn id="308" idx="1"/>
          </p:cNvCxnSpPr>
          <p:nvPr/>
        </p:nvCxnSpPr>
        <p:spPr>
          <a:xfrm>
            <a:off x="2249819" y="2571760"/>
            <a:ext cx="3726300" cy="1296000"/>
          </a:xfrm>
          <a:prstGeom prst="straightConnector1">
            <a:avLst/>
          </a:prstGeom>
          <a:noFill/>
          <a:ln cap="flat" cmpd="sng" w="9525">
            <a:solidFill>
              <a:srgbClr val="5A3D34"/>
            </a:solidFill>
            <a:prstDash val="solid"/>
            <a:round/>
            <a:headEnd len="sm" w="sm" type="none"/>
            <a:tailEnd len="med" w="med" type="stealth"/>
          </a:ln>
        </p:spPr>
      </p:cxnSp>
      <p:sp>
        <p:nvSpPr>
          <p:cNvPr id="314" name="Google Shape;314;p48"/>
          <p:cNvSpPr/>
          <p:nvPr/>
        </p:nvSpPr>
        <p:spPr>
          <a:xfrm>
            <a:off x="5490102" y="1301443"/>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15" name="Google Shape;315;p48"/>
          <p:cNvSpPr/>
          <p:nvPr/>
        </p:nvSpPr>
        <p:spPr>
          <a:xfrm>
            <a:off x="4875317" y="1545636"/>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16" name="Google Shape;316;p48"/>
          <p:cNvSpPr/>
          <p:nvPr/>
        </p:nvSpPr>
        <p:spPr>
          <a:xfrm>
            <a:off x="4307156" y="1734657"/>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17" name="Google Shape;317;p48"/>
          <p:cNvSpPr/>
          <p:nvPr/>
        </p:nvSpPr>
        <p:spPr>
          <a:xfrm>
            <a:off x="3761910" y="1923678"/>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18" name="Google Shape;318;p48"/>
          <p:cNvSpPr/>
          <p:nvPr/>
        </p:nvSpPr>
        <p:spPr>
          <a:xfrm>
            <a:off x="3227606" y="2107449"/>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19" name="Google Shape;319;p48"/>
          <p:cNvSpPr/>
          <p:nvPr/>
        </p:nvSpPr>
        <p:spPr>
          <a:xfrm>
            <a:off x="2673651" y="2289447"/>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20" name="Google Shape;320;p48"/>
          <p:cNvCxnSpPr/>
          <p:nvPr/>
        </p:nvCxnSpPr>
        <p:spPr>
          <a:xfrm rot="10800000">
            <a:off x="2249757" y="1504022"/>
            <a:ext cx="477900" cy="824700"/>
          </a:xfrm>
          <a:prstGeom prst="straightConnector1">
            <a:avLst/>
          </a:prstGeom>
          <a:noFill/>
          <a:ln cap="flat" cmpd="sng" w="9525">
            <a:solidFill>
              <a:srgbClr val="5A3D34"/>
            </a:solidFill>
            <a:prstDash val="solid"/>
            <a:round/>
            <a:headEnd len="sm" w="sm" type="none"/>
            <a:tailEnd len="sm" w="sm" type="none"/>
          </a:ln>
        </p:spPr>
      </p:cxnSp>
      <p:sp>
        <p:nvSpPr>
          <p:cNvPr id="321" name="Google Shape;321;p48"/>
          <p:cNvSpPr txBox="1"/>
          <p:nvPr/>
        </p:nvSpPr>
        <p:spPr>
          <a:xfrm>
            <a:off x="1566162" y="1105235"/>
            <a:ext cx="13671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Regular meetings with an Industry partner</a:t>
            </a:r>
            <a:endParaRPr/>
          </a:p>
        </p:txBody>
      </p:sp>
      <p:sp>
        <p:nvSpPr>
          <p:cNvPr id="322" name="Google Shape;322;p48"/>
          <p:cNvSpPr/>
          <p:nvPr/>
        </p:nvSpPr>
        <p:spPr>
          <a:xfrm>
            <a:off x="5112060" y="1348123"/>
            <a:ext cx="324000" cy="316500"/>
          </a:xfrm>
          <a:prstGeom prst="ellipse">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23" name="Google Shape;323;p48"/>
          <p:cNvCxnSpPr>
            <a:endCxn id="324" idx="2"/>
          </p:cNvCxnSpPr>
          <p:nvPr/>
        </p:nvCxnSpPr>
        <p:spPr>
          <a:xfrm flipH="1" rot="10800000">
            <a:off x="5274130" y="974337"/>
            <a:ext cx="2400" cy="489300"/>
          </a:xfrm>
          <a:prstGeom prst="straightConnector1">
            <a:avLst/>
          </a:prstGeom>
          <a:noFill/>
          <a:ln cap="flat" cmpd="sng" w="9525">
            <a:solidFill>
              <a:srgbClr val="5A3D34"/>
            </a:solidFill>
            <a:prstDash val="solid"/>
            <a:round/>
            <a:headEnd len="sm" w="sm" type="none"/>
            <a:tailEnd len="sm" w="sm" type="none"/>
          </a:ln>
        </p:spPr>
      </p:cxnSp>
      <p:sp>
        <p:nvSpPr>
          <p:cNvPr id="324" name="Google Shape;324;p48"/>
          <p:cNvSpPr txBox="1"/>
          <p:nvPr/>
        </p:nvSpPr>
        <p:spPr>
          <a:xfrm>
            <a:off x="4644580" y="397137"/>
            <a:ext cx="12639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Stakeholder meeting near end of project</a:t>
            </a:r>
            <a:endParaRPr/>
          </a:p>
        </p:txBody>
      </p:sp>
      <p:sp>
        <p:nvSpPr>
          <p:cNvPr id="325" name="Google Shape;325;p48"/>
          <p:cNvSpPr/>
          <p:nvPr/>
        </p:nvSpPr>
        <p:spPr>
          <a:xfrm>
            <a:off x="3507652" y="1916312"/>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26" name="Google Shape;326;p48"/>
          <p:cNvCxnSpPr>
            <a:stCxn id="325" idx="0"/>
          </p:cNvCxnSpPr>
          <p:nvPr/>
        </p:nvCxnSpPr>
        <p:spPr>
          <a:xfrm rot="10800000">
            <a:off x="3113752" y="951512"/>
            <a:ext cx="501900" cy="964800"/>
          </a:xfrm>
          <a:prstGeom prst="straightConnector1">
            <a:avLst/>
          </a:prstGeom>
          <a:noFill/>
          <a:ln cap="flat" cmpd="sng" w="9525">
            <a:solidFill>
              <a:srgbClr val="5A3D34"/>
            </a:solidFill>
            <a:prstDash val="solid"/>
            <a:round/>
            <a:headEnd len="sm" w="sm" type="none"/>
            <a:tailEnd len="sm" w="sm" type="none"/>
          </a:ln>
        </p:spPr>
      </p:cxnSp>
      <p:sp>
        <p:nvSpPr>
          <p:cNvPr id="327" name="Google Shape;327;p48"/>
          <p:cNvSpPr txBox="1"/>
          <p:nvPr/>
        </p:nvSpPr>
        <p:spPr>
          <a:xfrm>
            <a:off x="2326682" y="397137"/>
            <a:ext cx="14352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Visit to a trade fair or conference that industry attends</a:t>
            </a:r>
            <a:endParaRPr/>
          </a:p>
        </p:txBody>
      </p:sp>
      <p:sp>
        <p:nvSpPr>
          <p:cNvPr id="328" name="Google Shape;328;p48"/>
          <p:cNvSpPr/>
          <p:nvPr/>
        </p:nvSpPr>
        <p:spPr>
          <a:xfrm>
            <a:off x="4005045" y="1788663"/>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29" name="Google Shape;329;p48"/>
          <p:cNvCxnSpPr>
            <a:stCxn id="328" idx="0"/>
            <a:endCxn id="330" idx="2"/>
          </p:cNvCxnSpPr>
          <p:nvPr/>
        </p:nvCxnSpPr>
        <p:spPr>
          <a:xfrm flipH="1" rot="10800000">
            <a:off x="4142595" y="502863"/>
            <a:ext cx="326700" cy="1285800"/>
          </a:xfrm>
          <a:prstGeom prst="straightConnector1">
            <a:avLst/>
          </a:prstGeom>
          <a:noFill/>
          <a:ln cap="flat" cmpd="sng" w="9525">
            <a:solidFill>
              <a:srgbClr val="5A3D34"/>
            </a:solidFill>
            <a:prstDash val="solid"/>
            <a:round/>
            <a:headEnd len="sm" w="sm" type="none"/>
            <a:tailEnd len="sm" w="sm" type="none"/>
          </a:ln>
        </p:spPr>
      </p:cxnSp>
      <p:sp>
        <p:nvSpPr>
          <p:cNvPr id="330" name="Google Shape;330;p48"/>
          <p:cNvSpPr txBox="1"/>
          <p:nvPr/>
        </p:nvSpPr>
        <p:spPr>
          <a:xfrm>
            <a:off x="3555220" y="87477"/>
            <a:ext cx="18279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Industry funded summer studentship</a:t>
            </a:r>
            <a:endParaRPr/>
          </a:p>
        </p:txBody>
      </p:sp>
      <p:sp>
        <p:nvSpPr>
          <p:cNvPr descr="Image result for coventry university logo" id="331" name="Google Shape;331;p48"/>
          <p:cNvSpPr/>
          <p:nvPr/>
        </p:nvSpPr>
        <p:spPr>
          <a:xfrm>
            <a:off x="1259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cxnSp>
        <p:nvCxnSpPr>
          <p:cNvPr id="332" name="Google Shape;332;p48"/>
          <p:cNvCxnSpPr/>
          <p:nvPr/>
        </p:nvCxnSpPr>
        <p:spPr>
          <a:xfrm flipH="1" rot="10800000">
            <a:off x="5571113" y="397035"/>
            <a:ext cx="675000" cy="554100"/>
          </a:xfrm>
          <a:prstGeom prst="straightConnector1">
            <a:avLst/>
          </a:prstGeom>
          <a:noFill/>
          <a:ln cap="flat" cmpd="sng" w="9525">
            <a:solidFill>
              <a:srgbClr val="5A3D34"/>
            </a:solidFill>
            <a:prstDash val="solid"/>
            <a:round/>
            <a:headEnd len="sm" w="sm" type="none"/>
            <a:tailEnd len="sm" w="sm" type="none"/>
          </a:ln>
        </p:spPr>
      </p:cxnSp>
      <p:sp>
        <p:nvSpPr>
          <p:cNvPr id="333" name="Google Shape;333;p48"/>
          <p:cNvSpPr txBox="1"/>
          <p:nvPr/>
        </p:nvSpPr>
        <p:spPr>
          <a:xfrm>
            <a:off x="5991301" y="195492"/>
            <a:ext cx="10857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Advisory group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8" name="Shape 338"/>
        <p:cNvGrpSpPr/>
        <p:nvPr/>
      </p:nvGrpSpPr>
      <p:grpSpPr>
        <a:xfrm>
          <a:off x="0" y="0"/>
          <a:ext cx="0" cy="0"/>
          <a:chOff x="0" y="0"/>
          <a:chExt cx="0" cy="0"/>
        </a:xfrm>
      </p:grpSpPr>
      <p:sp>
        <p:nvSpPr>
          <p:cNvPr id="339" name="Google Shape;339;p49"/>
          <p:cNvSpPr/>
          <p:nvPr/>
        </p:nvSpPr>
        <p:spPr>
          <a:xfrm>
            <a:off x="1925706" y="4461960"/>
            <a:ext cx="5346600" cy="216000"/>
          </a:xfrm>
          <a:prstGeom prst="rightArrow">
            <a:avLst>
              <a:gd fmla="val 50000" name="adj1"/>
              <a:gd fmla="val 50000" name="adj2"/>
            </a:avLst>
          </a:prstGeom>
          <a:solidFill>
            <a:schemeClr val="accent1"/>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40" name="Google Shape;340;p49"/>
          <p:cNvSpPr txBox="1"/>
          <p:nvPr/>
        </p:nvSpPr>
        <p:spPr>
          <a:xfrm>
            <a:off x="4388168" y="4628774"/>
            <a:ext cx="4845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Time</a:t>
            </a:r>
            <a:endParaRPr/>
          </a:p>
        </p:txBody>
      </p:sp>
      <p:sp>
        <p:nvSpPr>
          <p:cNvPr id="341" name="Google Shape;341;p49"/>
          <p:cNvSpPr/>
          <p:nvPr/>
        </p:nvSpPr>
        <p:spPr>
          <a:xfrm>
            <a:off x="5976156" y="100557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1</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Change an industrial process for the better</a:t>
            </a:r>
            <a:endParaRPr/>
          </a:p>
        </p:txBody>
      </p:sp>
      <p:sp>
        <p:nvSpPr>
          <p:cNvPr id="342" name="Google Shape;342;p49"/>
          <p:cNvSpPr/>
          <p:nvPr/>
        </p:nvSpPr>
        <p:spPr>
          <a:xfrm>
            <a:off x="5991299" y="181566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2</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UK’s policy changed</a:t>
            </a:r>
            <a:endParaRPr/>
          </a:p>
        </p:txBody>
      </p:sp>
      <p:sp>
        <p:nvSpPr>
          <p:cNvPr id="343" name="Google Shape;343;p49"/>
          <p:cNvSpPr/>
          <p:nvPr/>
        </p:nvSpPr>
        <p:spPr>
          <a:xfrm>
            <a:off x="5976156" y="270430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3</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Raise Awareness of UK public about XXXX</a:t>
            </a:r>
            <a:endParaRPr/>
          </a:p>
        </p:txBody>
      </p:sp>
      <p:sp>
        <p:nvSpPr>
          <p:cNvPr id="344" name="Google Shape;344;p49"/>
          <p:cNvSpPr/>
          <p:nvPr/>
        </p:nvSpPr>
        <p:spPr>
          <a:xfrm>
            <a:off x="5976156" y="3597864"/>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4</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Trained staff</a:t>
            </a:r>
            <a:endParaRPr/>
          </a:p>
        </p:txBody>
      </p:sp>
      <p:sp>
        <p:nvSpPr>
          <p:cNvPr id="345" name="Google Shape;345;p49"/>
          <p:cNvSpPr/>
          <p:nvPr/>
        </p:nvSpPr>
        <p:spPr>
          <a:xfrm>
            <a:off x="1412219" y="2370460"/>
            <a:ext cx="837600" cy="4026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1050" u="none" cap="none" strike="noStrike">
                <a:solidFill>
                  <a:schemeClr val="dk1"/>
                </a:solidFill>
                <a:latin typeface="Arial"/>
                <a:ea typeface="Arial"/>
                <a:cs typeface="Arial"/>
                <a:sym typeface="Arial"/>
              </a:rPr>
              <a:t>Project</a:t>
            </a:r>
            <a:endParaRPr/>
          </a:p>
        </p:txBody>
      </p:sp>
      <p:cxnSp>
        <p:nvCxnSpPr>
          <p:cNvPr id="346" name="Google Shape;346;p49"/>
          <p:cNvCxnSpPr>
            <a:stCxn id="345" idx="3"/>
            <a:endCxn id="341" idx="1"/>
          </p:cNvCxnSpPr>
          <p:nvPr/>
        </p:nvCxnSpPr>
        <p:spPr>
          <a:xfrm flipH="1" rot="10800000">
            <a:off x="2249819" y="1275460"/>
            <a:ext cx="3726300" cy="1296300"/>
          </a:xfrm>
          <a:prstGeom prst="straightConnector1">
            <a:avLst/>
          </a:prstGeom>
          <a:noFill/>
          <a:ln cap="flat" cmpd="sng" w="9525">
            <a:solidFill>
              <a:srgbClr val="5A3D34"/>
            </a:solidFill>
            <a:prstDash val="solid"/>
            <a:round/>
            <a:headEnd len="sm" w="sm" type="none"/>
            <a:tailEnd len="med" w="med" type="stealth"/>
          </a:ln>
        </p:spPr>
      </p:cxnSp>
      <p:cxnSp>
        <p:nvCxnSpPr>
          <p:cNvPr id="347" name="Google Shape;347;p49"/>
          <p:cNvCxnSpPr>
            <a:stCxn id="345" idx="3"/>
            <a:endCxn id="342" idx="1"/>
          </p:cNvCxnSpPr>
          <p:nvPr/>
        </p:nvCxnSpPr>
        <p:spPr>
          <a:xfrm flipH="1" rot="10800000">
            <a:off x="2249819" y="2085760"/>
            <a:ext cx="3741600" cy="486000"/>
          </a:xfrm>
          <a:prstGeom prst="straightConnector1">
            <a:avLst/>
          </a:prstGeom>
          <a:noFill/>
          <a:ln cap="flat" cmpd="sng" w="9525">
            <a:solidFill>
              <a:srgbClr val="5A3D34"/>
            </a:solidFill>
            <a:prstDash val="solid"/>
            <a:round/>
            <a:headEnd len="sm" w="sm" type="none"/>
            <a:tailEnd len="med" w="med" type="stealth"/>
          </a:ln>
        </p:spPr>
      </p:cxnSp>
      <p:cxnSp>
        <p:nvCxnSpPr>
          <p:cNvPr id="348" name="Google Shape;348;p49"/>
          <p:cNvCxnSpPr>
            <a:stCxn id="345" idx="3"/>
            <a:endCxn id="343" idx="1"/>
          </p:cNvCxnSpPr>
          <p:nvPr/>
        </p:nvCxnSpPr>
        <p:spPr>
          <a:xfrm>
            <a:off x="2249819" y="2571760"/>
            <a:ext cx="3726300" cy="402600"/>
          </a:xfrm>
          <a:prstGeom prst="straightConnector1">
            <a:avLst/>
          </a:prstGeom>
          <a:noFill/>
          <a:ln cap="flat" cmpd="sng" w="9525">
            <a:solidFill>
              <a:srgbClr val="5A3D34"/>
            </a:solidFill>
            <a:prstDash val="solid"/>
            <a:round/>
            <a:headEnd len="sm" w="sm" type="none"/>
            <a:tailEnd len="med" w="med" type="stealth"/>
          </a:ln>
        </p:spPr>
      </p:cxnSp>
      <p:cxnSp>
        <p:nvCxnSpPr>
          <p:cNvPr id="349" name="Google Shape;349;p49"/>
          <p:cNvCxnSpPr>
            <a:stCxn id="345" idx="3"/>
            <a:endCxn id="344" idx="1"/>
          </p:cNvCxnSpPr>
          <p:nvPr/>
        </p:nvCxnSpPr>
        <p:spPr>
          <a:xfrm>
            <a:off x="2249819" y="2571760"/>
            <a:ext cx="3726300" cy="1296000"/>
          </a:xfrm>
          <a:prstGeom prst="straightConnector1">
            <a:avLst/>
          </a:prstGeom>
          <a:noFill/>
          <a:ln cap="flat" cmpd="sng" w="9525">
            <a:solidFill>
              <a:srgbClr val="5A3D34"/>
            </a:solidFill>
            <a:prstDash val="solid"/>
            <a:round/>
            <a:headEnd len="sm" w="sm" type="none"/>
            <a:tailEnd len="med" w="med" type="stealth"/>
          </a:ln>
        </p:spPr>
      </p:cxnSp>
      <p:sp>
        <p:nvSpPr>
          <p:cNvPr id="350" name="Google Shape;350;p49"/>
          <p:cNvSpPr/>
          <p:nvPr/>
        </p:nvSpPr>
        <p:spPr>
          <a:xfrm>
            <a:off x="4355976" y="2193708"/>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51" name="Google Shape;351;p49"/>
          <p:cNvCxnSpPr>
            <a:stCxn id="352" idx="0"/>
            <a:endCxn id="353" idx="2"/>
          </p:cNvCxnSpPr>
          <p:nvPr/>
        </p:nvCxnSpPr>
        <p:spPr>
          <a:xfrm rot="10800000">
            <a:off x="2337924" y="1678224"/>
            <a:ext cx="1027800" cy="615000"/>
          </a:xfrm>
          <a:prstGeom prst="straightConnector1">
            <a:avLst/>
          </a:prstGeom>
          <a:noFill/>
          <a:ln cap="flat" cmpd="sng" w="9525">
            <a:solidFill>
              <a:srgbClr val="5A3D34"/>
            </a:solidFill>
            <a:prstDash val="solid"/>
            <a:round/>
            <a:headEnd len="sm" w="sm" type="none"/>
            <a:tailEnd len="sm" w="sm" type="none"/>
          </a:ln>
        </p:spPr>
      </p:cxnSp>
      <p:sp>
        <p:nvSpPr>
          <p:cNvPr id="353" name="Google Shape;353;p49"/>
          <p:cNvSpPr txBox="1"/>
          <p:nvPr/>
        </p:nvSpPr>
        <p:spPr>
          <a:xfrm>
            <a:off x="1654493" y="1262686"/>
            <a:ext cx="1367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Focus groups with stakeholders</a:t>
            </a:r>
            <a:endParaRPr/>
          </a:p>
        </p:txBody>
      </p:sp>
      <p:sp>
        <p:nvSpPr>
          <p:cNvPr id="354" name="Google Shape;354;p49"/>
          <p:cNvSpPr/>
          <p:nvPr/>
        </p:nvSpPr>
        <p:spPr>
          <a:xfrm>
            <a:off x="5382090" y="2010517"/>
            <a:ext cx="324000" cy="316500"/>
          </a:xfrm>
          <a:prstGeom prst="ellipse">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55" name="Google Shape;355;p49"/>
          <p:cNvCxnSpPr>
            <a:stCxn id="350" idx="0"/>
          </p:cNvCxnSpPr>
          <p:nvPr/>
        </p:nvCxnSpPr>
        <p:spPr>
          <a:xfrm rot="10800000">
            <a:off x="3707976" y="855708"/>
            <a:ext cx="729000" cy="1338000"/>
          </a:xfrm>
          <a:prstGeom prst="straightConnector1">
            <a:avLst/>
          </a:prstGeom>
          <a:noFill/>
          <a:ln cap="flat" cmpd="sng" w="9525">
            <a:solidFill>
              <a:srgbClr val="5A3D34"/>
            </a:solidFill>
            <a:prstDash val="solid"/>
            <a:round/>
            <a:headEnd len="sm" w="sm" type="none"/>
            <a:tailEnd len="sm" w="sm" type="none"/>
          </a:ln>
        </p:spPr>
      </p:cxnSp>
      <p:sp>
        <p:nvSpPr>
          <p:cNvPr id="356" name="Google Shape;356;p49"/>
          <p:cNvSpPr txBox="1"/>
          <p:nvPr/>
        </p:nvSpPr>
        <p:spPr>
          <a:xfrm>
            <a:off x="4789384" y="364670"/>
            <a:ext cx="7896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Policy Brief</a:t>
            </a:r>
            <a:endParaRPr/>
          </a:p>
        </p:txBody>
      </p:sp>
      <p:sp>
        <p:nvSpPr>
          <p:cNvPr id="357" name="Google Shape;357;p49"/>
          <p:cNvSpPr/>
          <p:nvPr/>
        </p:nvSpPr>
        <p:spPr>
          <a:xfrm>
            <a:off x="3740709" y="2178443"/>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descr="Image result for coventry university logo" id="358" name="Google Shape;358;p49"/>
          <p:cNvSpPr/>
          <p:nvPr/>
        </p:nvSpPr>
        <p:spPr>
          <a:xfrm>
            <a:off x="1259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59" name="Google Shape;359;p49"/>
          <p:cNvSpPr/>
          <p:nvPr/>
        </p:nvSpPr>
        <p:spPr>
          <a:xfrm>
            <a:off x="3474791" y="2235441"/>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52" name="Google Shape;352;p49"/>
          <p:cNvSpPr/>
          <p:nvPr/>
        </p:nvSpPr>
        <p:spPr>
          <a:xfrm>
            <a:off x="3228174" y="2293224"/>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60" name="Google Shape;360;p49"/>
          <p:cNvCxnSpPr>
            <a:stCxn id="359" idx="0"/>
            <a:endCxn id="353" idx="2"/>
          </p:cNvCxnSpPr>
          <p:nvPr/>
        </p:nvCxnSpPr>
        <p:spPr>
          <a:xfrm rot="10800000">
            <a:off x="2337941" y="1678041"/>
            <a:ext cx="1274400" cy="557400"/>
          </a:xfrm>
          <a:prstGeom prst="straightConnector1">
            <a:avLst/>
          </a:prstGeom>
          <a:noFill/>
          <a:ln cap="flat" cmpd="sng" w="9525">
            <a:solidFill>
              <a:srgbClr val="5A3D34"/>
            </a:solidFill>
            <a:prstDash val="solid"/>
            <a:round/>
            <a:headEnd len="sm" w="sm" type="none"/>
            <a:tailEnd len="sm" w="sm" type="none"/>
          </a:ln>
        </p:spPr>
      </p:cxnSp>
      <p:cxnSp>
        <p:nvCxnSpPr>
          <p:cNvPr id="361" name="Google Shape;361;p49"/>
          <p:cNvCxnSpPr>
            <a:stCxn id="357" idx="0"/>
            <a:endCxn id="353" idx="2"/>
          </p:cNvCxnSpPr>
          <p:nvPr/>
        </p:nvCxnSpPr>
        <p:spPr>
          <a:xfrm rot="10800000">
            <a:off x="2338059" y="1678043"/>
            <a:ext cx="1540200" cy="500400"/>
          </a:xfrm>
          <a:prstGeom prst="straightConnector1">
            <a:avLst/>
          </a:prstGeom>
          <a:noFill/>
          <a:ln cap="flat" cmpd="sng" w="9525">
            <a:solidFill>
              <a:srgbClr val="5A3D34"/>
            </a:solidFill>
            <a:prstDash val="solid"/>
            <a:round/>
            <a:headEnd len="sm" w="sm" type="none"/>
            <a:tailEnd len="sm" w="sm" type="none"/>
          </a:ln>
        </p:spPr>
      </p:cxnSp>
      <p:cxnSp>
        <p:nvCxnSpPr>
          <p:cNvPr id="362" name="Google Shape;362;p49"/>
          <p:cNvCxnSpPr>
            <a:stCxn id="354" idx="0"/>
          </p:cNvCxnSpPr>
          <p:nvPr/>
        </p:nvCxnSpPr>
        <p:spPr>
          <a:xfrm rot="10800000">
            <a:off x="5075790" y="826117"/>
            <a:ext cx="468300" cy="1184400"/>
          </a:xfrm>
          <a:prstGeom prst="straightConnector1">
            <a:avLst/>
          </a:prstGeom>
          <a:noFill/>
          <a:ln cap="flat" cmpd="sng" w="9525">
            <a:solidFill>
              <a:srgbClr val="5A3D34"/>
            </a:solidFill>
            <a:prstDash val="solid"/>
            <a:round/>
            <a:headEnd len="sm" w="sm" type="none"/>
            <a:tailEnd len="sm" w="sm" type="none"/>
          </a:ln>
        </p:spPr>
      </p:cxnSp>
      <p:sp>
        <p:nvSpPr>
          <p:cNvPr id="363" name="Google Shape;363;p49"/>
          <p:cNvSpPr txBox="1"/>
          <p:nvPr/>
        </p:nvSpPr>
        <p:spPr>
          <a:xfrm>
            <a:off x="2264366" y="547098"/>
            <a:ext cx="18486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Workshop for policy makers</a:t>
            </a:r>
            <a:endParaRPr/>
          </a:p>
        </p:txBody>
      </p:sp>
      <p:sp>
        <p:nvSpPr>
          <p:cNvPr id="364" name="Google Shape;364;p49"/>
          <p:cNvSpPr/>
          <p:nvPr/>
        </p:nvSpPr>
        <p:spPr>
          <a:xfrm rot="-492770">
            <a:off x="2460707" y="1995796"/>
            <a:ext cx="3496661" cy="79126"/>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65" name="Google Shape;365;p49"/>
          <p:cNvSpPr/>
          <p:nvPr/>
        </p:nvSpPr>
        <p:spPr>
          <a:xfrm>
            <a:off x="4803832" y="2077152"/>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366" name="Google Shape;366;p49"/>
          <p:cNvCxnSpPr>
            <a:stCxn id="365" idx="1"/>
          </p:cNvCxnSpPr>
          <p:nvPr/>
        </p:nvCxnSpPr>
        <p:spPr>
          <a:xfrm rot="10800000">
            <a:off x="3878332" y="410502"/>
            <a:ext cx="979500" cy="1799100"/>
          </a:xfrm>
          <a:prstGeom prst="straightConnector1">
            <a:avLst/>
          </a:prstGeom>
          <a:noFill/>
          <a:ln cap="flat" cmpd="sng" w="9525">
            <a:solidFill>
              <a:srgbClr val="5A3D34"/>
            </a:solidFill>
            <a:prstDash val="solid"/>
            <a:round/>
            <a:headEnd len="sm" w="sm" type="none"/>
            <a:tailEnd len="sm" w="sm" type="none"/>
          </a:ln>
        </p:spPr>
      </p:cxnSp>
      <p:sp>
        <p:nvSpPr>
          <p:cNvPr id="367" name="Google Shape;367;p49"/>
          <p:cNvSpPr txBox="1"/>
          <p:nvPr/>
        </p:nvSpPr>
        <p:spPr>
          <a:xfrm>
            <a:off x="3401167" y="179726"/>
            <a:ext cx="11001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Shadow an MP</a:t>
            </a:r>
            <a:endParaRPr/>
          </a:p>
        </p:txBody>
      </p:sp>
      <p:cxnSp>
        <p:nvCxnSpPr>
          <p:cNvPr id="368" name="Google Shape;368;p49"/>
          <p:cNvCxnSpPr>
            <a:endCxn id="369" idx="2"/>
          </p:cNvCxnSpPr>
          <p:nvPr/>
        </p:nvCxnSpPr>
        <p:spPr>
          <a:xfrm rot="10800000">
            <a:off x="2261192" y="676128"/>
            <a:ext cx="1488900" cy="1401000"/>
          </a:xfrm>
          <a:prstGeom prst="straightConnector1">
            <a:avLst/>
          </a:prstGeom>
          <a:noFill/>
          <a:ln cap="flat" cmpd="sng" w="9525">
            <a:solidFill>
              <a:srgbClr val="5A3D34"/>
            </a:solidFill>
            <a:prstDash val="solid"/>
            <a:round/>
            <a:headEnd len="sm" w="sm" type="none"/>
            <a:tailEnd len="sm" w="sm" type="none"/>
          </a:ln>
        </p:spPr>
      </p:cxnSp>
      <p:sp>
        <p:nvSpPr>
          <p:cNvPr id="369" name="Google Shape;369;p49"/>
          <p:cNvSpPr txBox="1"/>
          <p:nvPr/>
        </p:nvSpPr>
        <p:spPr>
          <a:xfrm>
            <a:off x="1266692" y="98928"/>
            <a:ext cx="19890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Have someone on the team who is used to lobbying policy makers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4" name="Shape 374"/>
        <p:cNvGrpSpPr/>
        <p:nvPr/>
      </p:nvGrpSpPr>
      <p:grpSpPr>
        <a:xfrm>
          <a:off x="0" y="0"/>
          <a:ext cx="0" cy="0"/>
          <a:chOff x="0" y="0"/>
          <a:chExt cx="0" cy="0"/>
        </a:xfrm>
      </p:grpSpPr>
      <p:sp>
        <p:nvSpPr>
          <p:cNvPr id="375" name="Google Shape;375;p50"/>
          <p:cNvSpPr/>
          <p:nvPr/>
        </p:nvSpPr>
        <p:spPr>
          <a:xfrm>
            <a:off x="1925706" y="4461960"/>
            <a:ext cx="5346600" cy="216000"/>
          </a:xfrm>
          <a:prstGeom prst="rightArrow">
            <a:avLst>
              <a:gd fmla="val 50000" name="adj1"/>
              <a:gd fmla="val 50000" name="adj2"/>
            </a:avLst>
          </a:prstGeom>
          <a:solidFill>
            <a:schemeClr val="accent1"/>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76" name="Google Shape;376;p50"/>
          <p:cNvSpPr txBox="1"/>
          <p:nvPr/>
        </p:nvSpPr>
        <p:spPr>
          <a:xfrm>
            <a:off x="4388168" y="4628774"/>
            <a:ext cx="4845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Time</a:t>
            </a:r>
            <a:endParaRPr/>
          </a:p>
        </p:txBody>
      </p:sp>
      <p:sp>
        <p:nvSpPr>
          <p:cNvPr id="377" name="Google Shape;377;p50"/>
          <p:cNvSpPr/>
          <p:nvPr/>
        </p:nvSpPr>
        <p:spPr>
          <a:xfrm>
            <a:off x="5976156" y="100557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1</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Change an industrial process for the better</a:t>
            </a:r>
            <a:endParaRPr/>
          </a:p>
        </p:txBody>
      </p:sp>
      <p:sp>
        <p:nvSpPr>
          <p:cNvPr id="378" name="Google Shape;378;p50"/>
          <p:cNvSpPr/>
          <p:nvPr/>
        </p:nvSpPr>
        <p:spPr>
          <a:xfrm>
            <a:off x="5991299" y="181566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2</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UK’s policy changed</a:t>
            </a:r>
            <a:endParaRPr/>
          </a:p>
        </p:txBody>
      </p:sp>
      <p:sp>
        <p:nvSpPr>
          <p:cNvPr id="379" name="Google Shape;379;p50"/>
          <p:cNvSpPr/>
          <p:nvPr/>
        </p:nvSpPr>
        <p:spPr>
          <a:xfrm>
            <a:off x="5976156" y="270430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3</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Raise Awareness of UK public about XXXX</a:t>
            </a:r>
            <a:endParaRPr/>
          </a:p>
        </p:txBody>
      </p:sp>
      <p:sp>
        <p:nvSpPr>
          <p:cNvPr id="380" name="Google Shape;380;p50"/>
          <p:cNvSpPr/>
          <p:nvPr/>
        </p:nvSpPr>
        <p:spPr>
          <a:xfrm>
            <a:off x="5976156" y="3597864"/>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4</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Trained staff</a:t>
            </a:r>
            <a:endParaRPr/>
          </a:p>
        </p:txBody>
      </p:sp>
      <p:sp>
        <p:nvSpPr>
          <p:cNvPr id="381" name="Google Shape;381;p50"/>
          <p:cNvSpPr/>
          <p:nvPr/>
        </p:nvSpPr>
        <p:spPr>
          <a:xfrm>
            <a:off x="1412219" y="2370460"/>
            <a:ext cx="837600" cy="4026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1050" u="none" cap="none" strike="noStrike">
                <a:solidFill>
                  <a:schemeClr val="dk1"/>
                </a:solidFill>
                <a:latin typeface="Arial"/>
                <a:ea typeface="Arial"/>
                <a:cs typeface="Arial"/>
                <a:sym typeface="Arial"/>
              </a:rPr>
              <a:t>Project</a:t>
            </a:r>
            <a:endParaRPr/>
          </a:p>
        </p:txBody>
      </p:sp>
      <p:cxnSp>
        <p:nvCxnSpPr>
          <p:cNvPr id="382" name="Google Shape;382;p50"/>
          <p:cNvCxnSpPr>
            <a:stCxn id="381" idx="3"/>
            <a:endCxn id="377" idx="1"/>
          </p:cNvCxnSpPr>
          <p:nvPr/>
        </p:nvCxnSpPr>
        <p:spPr>
          <a:xfrm flipH="1" rot="10800000">
            <a:off x="2249819" y="1275460"/>
            <a:ext cx="3726300" cy="1296300"/>
          </a:xfrm>
          <a:prstGeom prst="straightConnector1">
            <a:avLst/>
          </a:prstGeom>
          <a:noFill/>
          <a:ln cap="flat" cmpd="sng" w="9525">
            <a:solidFill>
              <a:srgbClr val="5A3D34"/>
            </a:solidFill>
            <a:prstDash val="solid"/>
            <a:round/>
            <a:headEnd len="sm" w="sm" type="none"/>
            <a:tailEnd len="med" w="med" type="stealth"/>
          </a:ln>
        </p:spPr>
      </p:cxnSp>
      <p:cxnSp>
        <p:nvCxnSpPr>
          <p:cNvPr id="383" name="Google Shape;383;p50"/>
          <p:cNvCxnSpPr>
            <a:stCxn id="381" idx="3"/>
            <a:endCxn id="378" idx="1"/>
          </p:cNvCxnSpPr>
          <p:nvPr/>
        </p:nvCxnSpPr>
        <p:spPr>
          <a:xfrm flipH="1" rot="10800000">
            <a:off x="2249819" y="2085760"/>
            <a:ext cx="3741600" cy="486000"/>
          </a:xfrm>
          <a:prstGeom prst="straightConnector1">
            <a:avLst/>
          </a:prstGeom>
          <a:noFill/>
          <a:ln cap="flat" cmpd="sng" w="9525">
            <a:solidFill>
              <a:srgbClr val="5A3D34"/>
            </a:solidFill>
            <a:prstDash val="solid"/>
            <a:round/>
            <a:headEnd len="sm" w="sm" type="none"/>
            <a:tailEnd len="med" w="med" type="stealth"/>
          </a:ln>
        </p:spPr>
      </p:cxnSp>
      <p:cxnSp>
        <p:nvCxnSpPr>
          <p:cNvPr id="384" name="Google Shape;384;p50"/>
          <p:cNvCxnSpPr>
            <a:stCxn id="381" idx="3"/>
            <a:endCxn id="379" idx="1"/>
          </p:cNvCxnSpPr>
          <p:nvPr/>
        </p:nvCxnSpPr>
        <p:spPr>
          <a:xfrm>
            <a:off x="2249819" y="2571760"/>
            <a:ext cx="3726300" cy="402600"/>
          </a:xfrm>
          <a:prstGeom prst="straightConnector1">
            <a:avLst/>
          </a:prstGeom>
          <a:noFill/>
          <a:ln cap="flat" cmpd="sng" w="9525">
            <a:solidFill>
              <a:srgbClr val="5A3D34"/>
            </a:solidFill>
            <a:prstDash val="solid"/>
            <a:round/>
            <a:headEnd len="sm" w="sm" type="none"/>
            <a:tailEnd len="med" w="med" type="stealth"/>
          </a:ln>
        </p:spPr>
      </p:cxnSp>
      <p:cxnSp>
        <p:nvCxnSpPr>
          <p:cNvPr id="385" name="Google Shape;385;p50"/>
          <p:cNvCxnSpPr>
            <a:stCxn id="381" idx="3"/>
            <a:endCxn id="380" idx="1"/>
          </p:cNvCxnSpPr>
          <p:nvPr/>
        </p:nvCxnSpPr>
        <p:spPr>
          <a:xfrm>
            <a:off x="2249819" y="2571760"/>
            <a:ext cx="3726300" cy="1296000"/>
          </a:xfrm>
          <a:prstGeom prst="straightConnector1">
            <a:avLst/>
          </a:prstGeom>
          <a:noFill/>
          <a:ln cap="flat" cmpd="sng" w="9525">
            <a:solidFill>
              <a:srgbClr val="5A3D34"/>
            </a:solidFill>
            <a:prstDash val="solid"/>
            <a:round/>
            <a:headEnd len="sm" w="sm" type="none"/>
            <a:tailEnd len="med" w="med" type="stealth"/>
          </a:ln>
        </p:spPr>
      </p:cxnSp>
      <p:sp>
        <p:nvSpPr>
          <p:cNvPr id="386" name="Google Shape;386;p50"/>
          <p:cNvSpPr/>
          <p:nvPr/>
        </p:nvSpPr>
        <p:spPr>
          <a:xfrm>
            <a:off x="2762799" y="2551201"/>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87" name="Google Shape;387;p50"/>
          <p:cNvSpPr txBox="1"/>
          <p:nvPr/>
        </p:nvSpPr>
        <p:spPr>
          <a:xfrm>
            <a:off x="2350168" y="1275608"/>
            <a:ext cx="13671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Press releases</a:t>
            </a:r>
            <a:endParaRPr/>
          </a:p>
        </p:txBody>
      </p:sp>
      <p:sp>
        <p:nvSpPr>
          <p:cNvPr id="388" name="Google Shape;388;p50"/>
          <p:cNvSpPr/>
          <p:nvPr/>
        </p:nvSpPr>
        <p:spPr>
          <a:xfrm>
            <a:off x="4647515" y="2687293"/>
            <a:ext cx="324000" cy="316500"/>
          </a:xfrm>
          <a:prstGeom prst="ellipse">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89" name="Google Shape;389;p50"/>
          <p:cNvSpPr txBox="1"/>
          <p:nvPr/>
        </p:nvSpPr>
        <p:spPr>
          <a:xfrm>
            <a:off x="3310630" y="3903628"/>
            <a:ext cx="20733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Social media, Facebook, twitter, interactive website, blog</a:t>
            </a:r>
            <a:endParaRPr/>
          </a:p>
        </p:txBody>
      </p:sp>
      <p:sp>
        <p:nvSpPr>
          <p:cNvPr descr="Image result for coventry university logo" id="390" name="Google Shape;390;p50"/>
          <p:cNvSpPr/>
          <p:nvPr/>
        </p:nvSpPr>
        <p:spPr>
          <a:xfrm>
            <a:off x="1259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91" name="Google Shape;391;p50"/>
          <p:cNvSpPr/>
          <p:nvPr/>
        </p:nvSpPr>
        <p:spPr>
          <a:xfrm>
            <a:off x="5490102" y="2774132"/>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92" name="Google Shape;392;p50"/>
          <p:cNvSpPr/>
          <p:nvPr/>
        </p:nvSpPr>
        <p:spPr>
          <a:xfrm>
            <a:off x="3442113" y="2569291"/>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93" name="Google Shape;393;p50"/>
          <p:cNvSpPr txBox="1"/>
          <p:nvPr/>
        </p:nvSpPr>
        <p:spPr>
          <a:xfrm>
            <a:off x="3260689" y="905630"/>
            <a:ext cx="10488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Radio or news</a:t>
            </a:r>
            <a:endParaRPr/>
          </a:p>
        </p:txBody>
      </p:sp>
      <p:sp>
        <p:nvSpPr>
          <p:cNvPr id="394" name="Google Shape;394;p50"/>
          <p:cNvSpPr/>
          <p:nvPr/>
        </p:nvSpPr>
        <p:spPr>
          <a:xfrm rot="395784">
            <a:off x="2351888" y="2993868"/>
            <a:ext cx="3496849" cy="79114"/>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95" name="Google Shape;395;p50"/>
          <p:cNvSpPr/>
          <p:nvPr/>
        </p:nvSpPr>
        <p:spPr>
          <a:xfrm>
            <a:off x="3005828" y="2501930"/>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96" name="Google Shape;396;p50"/>
          <p:cNvSpPr txBox="1"/>
          <p:nvPr/>
        </p:nvSpPr>
        <p:spPr>
          <a:xfrm>
            <a:off x="4517148" y="451146"/>
            <a:ext cx="14742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Interactive Science activity</a:t>
            </a:r>
            <a:endParaRPr/>
          </a:p>
        </p:txBody>
      </p:sp>
      <p:sp>
        <p:nvSpPr>
          <p:cNvPr id="397" name="Google Shape;397;p50"/>
          <p:cNvSpPr txBox="1"/>
          <p:nvPr/>
        </p:nvSpPr>
        <p:spPr>
          <a:xfrm>
            <a:off x="1258445" y="1005576"/>
            <a:ext cx="11451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Co-creation of research with public</a:t>
            </a:r>
            <a:endParaRPr/>
          </a:p>
        </p:txBody>
      </p:sp>
      <p:sp>
        <p:nvSpPr>
          <p:cNvPr id="398" name="Google Shape;398;p50"/>
          <p:cNvSpPr/>
          <p:nvPr/>
        </p:nvSpPr>
        <p:spPr>
          <a:xfrm>
            <a:off x="4012509" y="2616230"/>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399" name="Google Shape;399;p50"/>
          <p:cNvSpPr/>
          <p:nvPr/>
        </p:nvSpPr>
        <p:spPr>
          <a:xfrm>
            <a:off x="5167904" y="2713219"/>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400" name="Google Shape;400;p50"/>
          <p:cNvCxnSpPr>
            <a:stCxn id="395" idx="1"/>
            <a:endCxn id="387" idx="2"/>
          </p:cNvCxnSpPr>
          <p:nvPr/>
        </p:nvCxnSpPr>
        <p:spPr>
          <a:xfrm rot="10800000">
            <a:off x="3033728" y="1529480"/>
            <a:ext cx="26100" cy="1104900"/>
          </a:xfrm>
          <a:prstGeom prst="straightConnector1">
            <a:avLst/>
          </a:prstGeom>
          <a:noFill/>
          <a:ln cap="flat" cmpd="sng" w="9525">
            <a:solidFill>
              <a:srgbClr val="5A3D34"/>
            </a:solidFill>
            <a:prstDash val="solid"/>
            <a:round/>
            <a:headEnd len="sm" w="sm" type="none"/>
            <a:tailEnd len="sm" w="sm" type="none"/>
          </a:ln>
        </p:spPr>
      </p:cxnSp>
      <p:cxnSp>
        <p:nvCxnSpPr>
          <p:cNvPr id="401" name="Google Shape;401;p50"/>
          <p:cNvCxnSpPr/>
          <p:nvPr/>
        </p:nvCxnSpPr>
        <p:spPr>
          <a:xfrm flipH="1">
            <a:off x="3708012" y="3033558"/>
            <a:ext cx="304500" cy="834300"/>
          </a:xfrm>
          <a:prstGeom prst="straightConnector1">
            <a:avLst/>
          </a:prstGeom>
          <a:noFill/>
          <a:ln cap="flat" cmpd="sng" w="9525">
            <a:solidFill>
              <a:srgbClr val="5A3D34"/>
            </a:solidFill>
            <a:prstDash val="solid"/>
            <a:round/>
            <a:headEnd len="sm" w="sm" type="none"/>
            <a:tailEnd len="sm" w="sm" type="none"/>
          </a:ln>
        </p:spPr>
      </p:cxnSp>
      <p:cxnSp>
        <p:nvCxnSpPr>
          <p:cNvPr id="402" name="Google Shape;402;p50"/>
          <p:cNvCxnSpPr>
            <a:stCxn id="392" idx="0"/>
            <a:endCxn id="393" idx="2"/>
          </p:cNvCxnSpPr>
          <p:nvPr/>
        </p:nvCxnSpPr>
        <p:spPr>
          <a:xfrm flipH="1" rot="10800000">
            <a:off x="3579663" y="1159291"/>
            <a:ext cx="205500" cy="1410000"/>
          </a:xfrm>
          <a:prstGeom prst="straightConnector1">
            <a:avLst/>
          </a:prstGeom>
          <a:noFill/>
          <a:ln cap="flat" cmpd="sng" w="9525">
            <a:solidFill>
              <a:srgbClr val="5A3D34"/>
            </a:solidFill>
            <a:prstDash val="solid"/>
            <a:round/>
            <a:headEnd len="sm" w="sm" type="none"/>
            <a:tailEnd len="sm" w="sm" type="none"/>
          </a:ln>
        </p:spPr>
      </p:cxnSp>
      <p:cxnSp>
        <p:nvCxnSpPr>
          <p:cNvPr id="403" name="Google Shape;403;p50"/>
          <p:cNvCxnSpPr>
            <a:stCxn id="388" idx="0"/>
          </p:cNvCxnSpPr>
          <p:nvPr/>
        </p:nvCxnSpPr>
        <p:spPr>
          <a:xfrm flipH="1" rot="10800000">
            <a:off x="4809515" y="869593"/>
            <a:ext cx="536100" cy="1817700"/>
          </a:xfrm>
          <a:prstGeom prst="straightConnector1">
            <a:avLst/>
          </a:prstGeom>
          <a:noFill/>
          <a:ln cap="flat" cmpd="sng" w="9525">
            <a:solidFill>
              <a:srgbClr val="5A3D34"/>
            </a:solidFill>
            <a:prstDash val="solid"/>
            <a:round/>
            <a:headEnd len="sm" w="sm" type="none"/>
            <a:tailEnd len="sm" w="sm" type="none"/>
          </a:ln>
        </p:spPr>
      </p:cxnSp>
      <p:sp>
        <p:nvSpPr>
          <p:cNvPr id="404" name="Google Shape;404;p50"/>
          <p:cNvSpPr/>
          <p:nvPr/>
        </p:nvSpPr>
        <p:spPr>
          <a:xfrm>
            <a:off x="4266268" y="2693123"/>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05" name="Google Shape;405;p50"/>
          <p:cNvSpPr/>
          <p:nvPr/>
        </p:nvSpPr>
        <p:spPr>
          <a:xfrm>
            <a:off x="3779197" y="2653008"/>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06" name="Google Shape;406;p50"/>
          <p:cNvSpPr/>
          <p:nvPr/>
        </p:nvSpPr>
        <p:spPr>
          <a:xfrm>
            <a:off x="3267717" y="2626023"/>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407" name="Google Shape;407;p50"/>
          <p:cNvCxnSpPr>
            <a:stCxn id="386" idx="0"/>
            <a:endCxn id="397" idx="2"/>
          </p:cNvCxnSpPr>
          <p:nvPr/>
        </p:nvCxnSpPr>
        <p:spPr>
          <a:xfrm rot="10800000">
            <a:off x="1830999" y="1582801"/>
            <a:ext cx="1012800" cy="968400"/>
          </a:xfrm>
          <a:prstGeom prst="straightConnector1">
            <a:avLst/>
          </a:prstGeom>
          <a:noFill/>
          <a:ln cap="flat" cmpd="sng" w="9525">
            <a:solidFill>
              <a:srgbClr val="5A3D34"/>
            </a:solidFill>
            <a:prstDash val="solid"/>
            <a:round/>
            <a:headEnd len="sm" w="sm" type="none"/>
            <a:tailEnd len="sm" w="sm" type="none"/>
          </a:ln>
        </p:spPr>
      </p:cxnSp>
      <p:sp>
        <p:nvSpPr>
          <p:cNvPr id="408" name="Google Shape;408;p50"/>
          <p:cNvSpPr/>
          <p:nvPr/>
        </p:nvSpPr>
        <p:spPr>
          <a:xfrm>
            <a:off x="2750276" y="2560963"/>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09" name="Google Shape;409;p50"/>
          <p:cNvSpPr/>
          <p:nvPr/>
        </p:nvSpPr>
        <p:spPr>
          <a:xfrm>
            <a:off x="4634993" y="2697055"/>
            <a:ext cx="324000" cy="316500"/>
          </a:xfrm>
          <a:prstGeom prst="ellipse">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0" name="Google Shape;410;p50"/>
          <p:cNvSpPr/>
          <p:nvPr/>
        </p:nvSpPr>
        <p:spPr>
          <a:xfrm>
            <a:off x="5477579" y="2783894"/>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1" name="Google Shape;411;p50"/>
          <p:cNvSpPr/>
          <p:nvPr/>
        </p:nvSpPr>
        <p:spPr>
          <a:xfrm>
            <a:off x="3429590" y="2579053"/>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2" name="Google Shape;412;p50"/>
          <p:cNvSpPr/>
          <p:nvPr/>
        </p:nvSpPr>
        <p:spPr>
          <a:xfrm rot="395784">
            <a:off x="2339365" y="3003630"/>
            <a:ext cx="3496849" cy="79114"/>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3" name="Google Shape;413;p50"/>
          <p:cNvSpPr/>
          <p:nvPr/>
        </p:nvSpPr>
        <p:spPr>
          <a:xfrm>
            <a:off x="2993305" y="2511692"/>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4" name="Google Shape;414;p50"/>
          <p:cNvSpPr/>
          <p:nvPr/>
        </p:nvSpPr>
        <p:spPr>
          <a:xfrm>
            <a:off x="3999986" y="2625992"/>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5" name="Google Shape;415;p50"/>
          <p:cNvSpPr/>
          <p:nvPr/>
        </p:nvSpPr>
        <p:spPr>
          <a:xfrm>
            <a:off x="5155382" y="2722981"/>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416" name="Google Shape;416;p50"/>
          <p:cNvCxnSpPr/>
          <p:nvPr/>
        </p:nvCxnSpPr>
        <p:spPr>
          <a:xfrm flipH="1">
            <a:off x="3695489" y="3043320"/>
            <a:ext cx="304500" cy="834300"/>
          </a:xfrm>
          <a:prstGeom prst="straightConnector1">
            <a:avLst/>
          </a:prstGeom>
          <a:noFill/>
          <a:ln cap="flat" cmpd="sng" w="9525">
            <a:solidFill>
              <a:srgbClr val="5A3D34"/>
            </a:solidFill>
            <a:prstDash val="solid"/>
            <a:round/>
            <a:headEnd len="sm" w="sm" type="none"/>
            <a:tailEnd len="sm" w="sm" type="none"/>
          </a:ln>
        </p:spPr>
      </p:cxnSp>
      <p:sp>
        <p:nvSpPr>
          <p:cNvPr id="417" name="Google Shape;417;p50"/>
          <p:cNvSpPr/>
          <p:nvPr/>
        </p:nvSpPr>
        <p:spPr>
          <a:xfrm>
            <a:off x="4253745" y="2702885"/>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8" name="Google Shape;418;p50"/>
          <p:cNvSpPr/>
          <p:nvPr/>
        </p:nvSpPr>
        <p:spPr>
          <a:xfrm>
            <a:off x="3766674" y="2662770"/>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19" name="Google Shape;419;p50"/>
          <p:cNvSpPr/>
          <p:nvPr/>
        </p:nvSpPr>
        <p:spPr>
          <a:xfrm>
            <a:off x="3255194" y="2635785"/>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4" name="Shape 424"/>
        <p:cNvGrpSpPr/>
        <p:nvPr/>
      </p:nvGrpSpPr>
      <p:grpSpPr>
        <a:xfrm>
          <a:off x="0" y="0"/>
          <a:ext cx="0" cy="0"/>
          <a:chOff x="0" y="0"/>
          <a:chExt cx="0" cy="0"/>
        </a:xfrm>
      </p:grpSpPr>
      <p:sp>
        <p:nvSpPr>
          <p:cNvPr id="425" name="Google Shape;425;p51"/>
          <p:cNvSpPr/>
          <p:nvPr/>
        </p:nvSpPr>
        <p:spPr>
          <a:xfrm>
            <a:off x="1925706" y="4461960"/>
            <a:ext cx="5346600" cy="216000"/>
          </a:xfrm>
          <a:prstGeom prst="rightArrow">
            <a:avLst>
              <a:gd fmla="val 50000" name="adj1"/>
              <a:gd fmla="val 50000" name="adj2"/>
            </a:avLst>
          </a:prstGeom>
          <a:solidFill>
            <a:schemeClr val="accent1"/>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26" name="Google Shape;426;p51"/>
          <p:cNvSpPr txBox="1"/>
          <p:nvPr/>
        </p:nvSpPr>
        <p:spPr>
          <a:xfrm>
            <a:off x="4388168" y="4628774"/>
            <a:ext cx="4845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Time</a:t>
            </a:r>
            <a:endParaRPr/>
          </a:p>
        </p:txBody>
      </p:sp>
      <p:sp>
        <p:nvSpPr>
          <p:cNvPr id="427" name="Google Shape;427;p51"/>
          <p:cNvSpPr/>
          <p:nvPr/>
        </p:nvSpPr>
        <p:spPr>
          <a:xfrm>
            <a:off x="5976156" y="100557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1</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Change an industrial process for the better</a:t>
            </a:r>
            <a:endParaRPr/>
          </a:p>
        </p:txBody>
      </p:sp>
      <p:sp>
        <p:nvSpPr>
          <p:cNvPr id="428" name="Google Shape;428;p51"/>
          <p:cNvSpPr/>
          <p:nvPr/>
        </p:nvSpPr>
        <p:spPr>
          <a:xfrm>
            <a:off x="5991299" y="181566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2</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UK’s policy changed</a:t>
            </a:r>
            <a:endParaRPr/>
          </a:p>
        </p:txBody>
      </p:sp>
      <p:sp>
        <p:nvSpPr>
          <p:cNvPr id="429" name="Google Shape;429;p51"/>
          <p:cNvSpPr/>
          <p:nvPr/>
        </p:nvSpPr>
        <p:spPr>
          <a:xfrm>
            <a:off x="5976156" y="2704306"/>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3</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Raise Awareness of UK public about XXXX</a:t>
            </a:r>
            <a:endParaRPr/>
          </a:p>
        </p:txBody>
      </p:sp>
      <p:sp>
        <p:nvSpPr>
          <p:cNvPr id="430" name="Google Shape;430;p51"/>
          <p:cNvSpPr/>
          <p:nvPr/>
        </p:nvSpPr>
        <p:spPr>
          <a:xfrm>
            <a:off x="5976156" y="3597864"/>
            <a:ext cx="1458300" cy="5400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Impact 4</a:t>
            </a:r>
            <a:endParaRPr/>
          </a:p>
          <a:p>
            <a:pPr indent="0" lvl="0" marL="0" marR="0" rtl="0" algn="ctr">
              <a:lnSpc>
                <a:spcPct val="100000"/>
              </a:lnSpc>
              <a:spcBef>
                <a:spcPts val="0"/>
              </a:spcBef>
              <a:spcAft>
                <a:spcPts val="0"/>
              </a:spcAft>
              <a:buNone/>
            </a:pPr>
            <a:r>
              <a:rPr b="1" i="0" lang="en-GB" sz="900" u="none" cap="none" strike="noStrike">
                <a:solidFill>
                  <a:schemeClr val="dk1"/>
                </a:solidFill>
                <a:latin typeface="Arial"/>
                <a:ea typeface="Arial"/>
                <a:cs typeface="Arial"/>
                <a:sym typeface="Arial"/>
              </a:rPr>
              <a:t>Trained staff</a:t>
            </a:r>
            <a:endParaRPr/>
          </a:p>
        </p:txBody>
      </p:sp>
      <p:sp>
        <p:nvSpPr>
          <p:cNvPr id="431" name="Google Shape;431;p51"/>
          <p:cNvSpPr/>
          <p:nvPr/>
        </p:nvSpPr>
        <p:spPr>
          <a:xfrm>
            <a:off x="1412219" y="2370460"/>
            <a:ext cx="837600" cy="402600"/>
          </a:xfrm>
          <a:prstGeom prst="rect">
            <a:avLst/>
          </a:prstGeom>
          <a:solidFill>
            <a:srgbClr val="EADAC7"/>
          </a:solidFill>
          <a:ln cap="flat" cmpd="sng" w="25400">
            <a:solidFill>
              <a:srgbClr val="432E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GB" sz="1050" u="none" cap="none" strike="noStrike">
                <a:solidFill>
                  <a:schemeClr val="dk1"/>
                </a:solidFill>
                <a:latin typeface="Arial"/>
                <a:ea typeface="Arial"/>
                <a:cs typeface="Arial"/>
                <a:sym typeface="Arial"/>
              </a:rPr>
              <a:t>Project</a:t>
            </a:r>
            <a:endParaRPr/>
          </a:p>
        </p:txBody>
      </p:sp>
      <p:cxnSp>
        <p:nvCxnSpPr>
          <p:cNvPr id="432" name="Google Shape;432;p51"/>
          <p:cNvCxnSpPr>
            <a:stCxn id="431" idx="3"/>
            <a:endCxn id="427" idx="1"/>
          </p:cNvCxnSpPr>
          <p:nvPr/>
        </p:nvCxnSpPr>
        <p:spPr>
          <a:xfrm flipH="1" rot="10800000">
            <a:off x="2249819" y="1275460"/>
            <a:ext cx="3726300" cy="1296300"/>
          </a:xfrm>
          <a:prstGeom prst="straightConnector1">
            <a:avLst/>
          </a:prstGeom>
          <a:noFill/>
          <a:ln cap="flat" cmpd="sng" w="9525">
            <a:solidFill>
              <a:srgbClr val="5A3D34"/>
            </a:solidFill>
            <a:prstDash val="solid"/>
            <a:round/>
            <a:headEnd len="sm" w="sm" type="none"/>
            <a:tailEnd len="med" w="med" type="stealth"/>
          </a:ln>
        </p:spPr>
      </p:cxnSp>
      <p:cxnSp>
        <p:nvCxnSpPr>
          <p:cNvPr id="433" name="Google Shape;433;p51"/>
          <p:cNvCxnSpPr>
            <a:stCxn id="431" idx="3"/>
            <a:endCxn id="428" idx="1"/>
          </p:cNvCxnSpPr>
          <p:nvPr/>
        </p:nvCxnSpPr>
        <p:spPr>
          <a:xfrm flipH="1" rot="10800000">
            <a:off x="2249819" y="2085760"/>
            <a:ext cx="3741600" cy="486000"/>
          </a:xfrm>
          <a:prstGeom prst="straightConnector1">
            <a:avLst/>
          </a:prstGeom>
          <a:noFill/>
          <a:ln cap="flat" cmpd="sng" w="9525">
            <a:solidFill>
              <a:srgbClr val="5A3D34"/>
            </a:solidFill>
            <a:prstDash val="solid"/>
            <a:round/>
            <a:headEnd len="sm" w="sm" type="none"/>
            <a:tailEnd len="med" w="med" type="stealth"/>
          </a:ln>
        </p:spPr>
      </p:cxnSp>
      <p:cxnSp>
        <p:nvCxnSpPr>
          <p:cNvPr id="434" name="Google Shape;434;p51"/>
          <p:cNvCxnSpPr>
            <a:stCxn id="431" idx="3"/>
            <a:endCxn id="429" idx="1"/>
          </p:cNvCxnSpPr>
          <p:nvPr/>
        </p:nvCxnSpPr>
        <p:spPr>
          <a:xfrm>
            <a:off x="2249819" y="2571760"/>
            <a:ext cx="3726300" cy="402600"/>
          </a:xfrm>
          <a:prstGeom prst="straightConnector1">
            <a:avLst/>
          </a:prstGeom>
          <a:noFill/>
          <a:ln cap="flat" cmpd="sng" w="9525">
            <a:solidFill>
              <a:srgbClr val="5A3D34"/>
            </a:solidFill>
            <a:prstDash val="solid"/>
            <a:round/>
            <a:headEnd len="sm" w="sm" type="none"/>
            <a:tailEnd len="med" w="med" type="stealth"/>
          </a:ln>
        </p:spPr>
      </p:cxnSp>
      <p:cxnSp>
        <p:nvCxnSpPr>
          <p:cNvPr id="435" name="Google Shape;435;p51"/>
          <p:cNvCxnSpPr>
            <a:stCxn id="431" idx="3"/>
            <a:endCxn id="430" idx="1"/>
          </p:cNvCxnSpPr>
          <p:nvPr/>
        </p:nvCxnSpPr>
        <p:spPr>
          <a:xfrm>
            <a:off x="2249819" y="2571760"/>
            <a:ext cx="3726300" cy="1296000"/>
          </a:xfrm>
          <a:prstGeom prst="straightConnector1">
            <a:avLst/>
          </a:prstGeom>
          <a:noFill/>
          <a:ln cap="flat" cmpd="sng" w="9525">
            <a:solidFill>
              <a:srgbClr val="5A3D34"/>
            </a:solidFill>
            <a:prstDash val="solid"/>
            <a:round/>
            <a:headEnd len="sm" w="sm" type="none"/>
            <a:tailEnd len="med" w="med" type="stealth"/>
          </a:ln>
        </p:spPr>
      </p:cxnSp>
      <p:sp>
        <p:nvSpPr>
          <p:cNvPr id="436" name="Google Shape;436;p51"/>
          <p:cNvSpPr txBox="1"/>
          <p:nvPr/>
        </p:nvSpPr>
        <p:spPr>
          <a:xfrm>
            <a:off x="2350168" y="1275607"/>
            <a:ext cx="1367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University run training course</a:t>
            </a:r>
            <a:endParaRPr/>
          </a:p>
        </p:txBody>
      </p:sp>
      <p:sp>
        <p:nvSpPr>
          <p:cNvPr descr="Image result for coventry university logo" id="437" name="Google Shape;437;p51"/>
          <p:cNvSpPr/>
          <p:nvPr/>
        </p:nvSpPr>
        <p:spPr>
          <a:xfrm>
            <a:off x="1259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438" name="Google Shape;438;p51"/>
          <p:cNvSpPr/>
          <p:nvPr/>
        </p:nvSpPr>
        <p:spPr>
          <a:xfrm>
            <a:off x="3825310" y="3001339"/>
            <a:ext cx="275100" cy="270000"/>
          </a:xfrm>
          <a:prstGeom prst="star5">
            <a:avLst>
              <a:gd fmla="val 19098" name="adj"/>
              <a:gd fmla="val 105146" name="hf"/>
              <a:gd fmla="val 110557" name="vf"/>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39" name="Google Shape;439;p51"/>
          <p:cNvSpPr txBox="1"/>
          <p:nvPr/>
        </p:nvSpPr>
        <p:spPr>
          <a:xfrm>
            <a:off x="3127737" y="398881"/>
            <a:ext cx="1371000" cy="5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Visit to a project partner to network or learn a new skill</a:t>
            </a:r>
            <a:endParaRPr/>
          </a:p>
        </p:txBody>
      </p:sp>
      <p:sp>
        <p:nvSpPr>
          <p:cNvPr id="440" name="Google Shape;440;p51"/>
          <p:cNvSpPr/>
          <p:nvPr/>
        </p:nvSpPr>
        <p:spPr>
          <a:xfrm>
            <a:off x="2972816" y="2704306"/>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41" name="Google Shape;441;p51"/>
          <p:cNvSpPr txBox="1"/>
          <p:nvPr/>
        </p:nvSpPr>
        <p:spPr>
          <a:xfrm>
            <a:off x="4062309" y="1141502"/>
            <a:ext cx="14742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050" u="none" cap="none" strike="noStrike">
                <a:solidFill>
                  <a:srgbClr val="000000"/>
                </a:solidFill>
                <a:latin typeface="Arial"/>
                <a:ea typeface="Arial"/>
                <a:cs typeface="Arial"/>
                <a:sym typeface="Arial"/>
              </a:rPr>
              <a:t>External training courses</a:t>
            </a:r>
            <a:endParaRPr/>
          </a:p>
        </p:txBody>
      </p:sp>
      <p:sp>
        <p:nvSpPr>
          <p:cNvPr id="442" name="Google Shape;442;p51"/>
          <p:cNvSpPr/>
          <p:nvPr/>
        </p:nvSpPr>
        <p:spPr>
          <a:xfrm>
            <a:off x="4106096" y="3087431"/>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43" name="Google Shape;443;p51"/>
          <p:cNvSpPr/>
          <p:nvPr/>
        </p:nvSpPr>
        <p:spPr>
          <a:xfrm>
            <a:off x="5167905" y="3442196"/>
            <a:ext cx="216000" cy="264900"/>
          </a:xfrm>
          <a:prstGeom prst="triangle">
            <a:avLst>
              <a:gd fmla="val 50000" name="adj"/>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44" name="Google Shape;444;p51"/>
          <p:cNvSpPr/>
          <p:nvPr/>
        </p:nvSpPr>
        <p:spPr>
          <a:xfrm>
            <a:off x="4718375" y="3352211"/>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445" name="Google Shape;445;p51"/>
          <p:cNvSpPr/>
          <p:nvPr/>
        </p:nvSpPr>
        <p:spPr>
          <a:xfrm>
            <a:off x="3568273" y="2974336"/>
            <a:ext cx="162000" cy="162000"/>
          </a:xfrm>
          <a:prstGeom prst="rect">
            <a:avLst/>
          </a:prstGeom>
          <a:solidFill>
            <a:srgbClr val="9CB1BB"/>
          </a:solidFill>
          <a:ln cap="flat" cmpd="sng" w="25400">
            <a:solidFill>
              <a:srgbClr val="475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cxnSp>
        <p:nvCxnSpPr>
          <p:cNvPr id="446" name="Google Shape;446;p51"/>
          <p:cNvCxnSpPr>
            <a:stCxn id="440" idx="0"/>
            <a:endCxn id="436" idx="2"/>
          </p:cNvCxnSpPr>
          <p:nvPr/>
        </p:nvCxnSpPr>
        <p:spPr>
          <a:xfrm rot="10800000">
            <a:off x="3033716" y="1691206"/>
            <a:ext cx="47100" cy="1013100"/>
          </a:xfrm>
          <a:prstGeom prst="straightConnector1">
            <a:avLst/>
          </a:prstGeom>
          <a:noFill/>
          <a:ln cap="flat" cmpd="sng" w="9525">
            <a:solidFill>
              <a:srgbClr val="5A3D34"/>
            </a:solidFill>
            <a:prstDash val="solid"/>
            <a:round/>
            <a:headEnd len="sm" w="sm" type="none"/>
            <a:tailEnd len="sm" w="sm" type="none"/>
          </a:ln>
        </p:spPr>
      </p:cxnSp>
      <p:cxnSp>
        <p:nvCxnSpPr>
          <p:cNvPr id="447" name="Google Shape;447;p51"/>
          <p:cNvCxnSpPr>
            <a:stCxn id="444" idx="0"/>
            <a:endCxn id="441" idx="2"/>
          </p:cNvCxnSpPr>
          <p:nvPr/>
        </p:nvCxnSpPr>
        <p:spPr>
          <a:xfrm rot="10800000">
            <a:off x="4799375" y="1557011"/>
            <a:ext cx="0" cy="1795200"/>
          </a:xfrm>
          <a:prstGeom prst="straightConnector1">
            <a:avLst/>
          </a:prstGeom>
          <a:noFill/>
          <a:ln cap="flat" cmpd="sng" w="9525">
            <a:solidFill>
              <a:srgbClr val="5A3D34"/>
            </a:solidFill>
            <a:prstDash val="solid"/>
            <a:round/>
            <a:headEnd len="sm" w="sm" type="none"/>
            <a:tailEnd len="sm" w="sm" type="none"/>
          </a:ln>
        </p:spPr>
      </p:cxnSp>
      <p:cxnSp>
        <p:nvCxnSpPr>
          <p:cNvPr id="448" name="Google Shape;448;p51"/>
          <p:cNvCxnSpPr>
            <a:stCxn id="438" idx="0"/>
            <a:endCxn id="439" idx="2"/>
          </p:cNvCxnSpPr>
          <p:nvPr/>
        </p:nvCxnSpPr>
        <p:spPr>
          <a:xfrm rot="10800000">
            <a:off x="3813160" y="976039"/>
            <a:ext cx="149700" cy="2025300"/>
          </a:xfrm>
          <a:prstGeom prst="straightConnector1">
            <a:avLst/>
          </a:prstGeom>
          <a:noFill/>
          <a:ln cap="flat" cmpd="sng" w="9525">
            <a:solidFill>
              <a:srgbClr val="5A3D34"/>
            </a:solidFill>
            <a:prstDash val="solid"/>
            <a:round/>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2" name="Shape 452"/>
        <p:cNvGrpSpPr/>
        <p:nvPr/>
      </p:nvGrpSpPr>
      <p:grpSpPr>
        <a:xfrm>
          <a:off x="0" y="0"/>
          <a:ext cx="0" cy="0"/>
          <a:chOff x="0" y="0"/>
          <a:chExt cx="0" cy="0"/>
        </a:xfrm>
      </p:grpSpPr>
      <p:sp>
        <p:nvSpPr>
          <p:cNvPr id="453" name="Google Shape;453;p5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Example—BillMonitor</a:t>
            </a:r>
            <a:endParaRPr/>
          </a:p>
        </p:txBody>
      </p:sp>
      <p:sp>
        <p:nvSpPr>
          <p:cNvPr id="454" name="Google Shape;454;p5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a:t>See </a:t>
            </a:r>
            <a:r>
              <a:rPr lang="en-GB" u="sng">
                <a:solidFill>
                  <a:schemeClr val="hlink"/>
                </a:solidFill>
                <a:hlinkClick r:id="rId3"/>
              </a:rPr>
              <a:t>https://www.billmonitor.com/consumer/</a:t>
            </a:r>
            <a:endParaRPr/>
          </a:p>
          <a:p>
            <a:pPr indent="0" lvl="0" marL="0" rtl="0" algn="l">
              <a:spcBef>
                <a:spcPts val="1200"/>
              </a:spcBef>
              <a:spcAft>
                <a:spcPts val="1200"/>
              </a:spcAft>
              <a:buNone/>
            </a:pPr>
            <a:r>
              <a:rPr lang="en-GB"/>
              <a:t>Since its launch in 2009, the mobile phone package price comparison tool Billmonitor has identified </a:t>
            </a:r>
            <a:r>
              <a:rPr b="1" lang="en-GB"/>
              <a:t>£35 million</a:t>
            </a:r>
            <a:r>
              <a:rPr lang="en-GB"/>
              <a:t> (</a:t>
            </a:r>
            <a:r>
              <a:rPr b="1" lang="en-GB"/>
              <a:t>PKR 8.3 arab</a:t>
            </a:r>
            <a:r>
              <a:rPr lang="en-GB"/>
              <a:t>) worth of savings available to the </a:t>
            </a:r>
            <a:r>
              <a:rPr b="1" lang="en-GB"/>
              <a:t>110,000 users</a:t>
            </a:r>
            <a:r>
              <a:rPr lang="en-GB"/>
              <a:t> whose bills have been analysed. It was the first price comparison tool to be accredited by Ofcom and it has been widely praised in the media. Exploiting techniques that they had developed for applications in finance and genetics, University of Oxford researchers Chris Holmes and Nicolai Meinshausen developed the statistical algorithms underpinning the package, which uses simulation-based inference and careful statistical modelling to analyse users' phone bill data. It searches over 2.4 million available packages to identify the best mobile phone deal for each user's particular pattern of usage. Widely quoted in the press, reports in 2011 and 2012 from the Billmonitor team estimated that approximately three quarters of mobile phone customers are on the wrong tariff, with an overspend of around 40%.</a:t>
            </a:r>
            <a:endParaRPr/>
          </a:p>
        </p:txBody>
      </p:sp>
      <p:sp>
        <p:nvSpPr>
          <p:cNvPr id="455" name="Google Shape;45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9" name="Shape 459"/>
        <p:cNvGrpSpPr/>
        <p:nvPr/>
      </p:nvGrpSpPr>
      <p:grpSpPr>
        <a:xfrm>
          <a:off x="0" y="0"/>
          <a:ext cx="0" cy="0"/>
          <a:chOff x="0" y="0"/>
          <a:chExt cx="0" cy="0"/>
        </a:xfrm>
      </p:grpSpPr>
      <p:sp>
        <p:nvSpPr>
          <p:cNvPr id="460" name="Google Shape;460;p5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Example—BillMonitor</a:t>
            </a:r>
            <a:endParaRPr/>
          </a:p>
        </p:txBody>
      </p:sp>
      <p:sp>
        <p:nvSpPr>
          <p:cNvPr id="461" name="Google Shape;461;p5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Works involved are:</a:t>
            </a:r>
            <a:endParaRPr/>
          </a:p>
          <a:p>
            <a:pPr indent="0" lvl="0" marL="0" rtl="0" algn="l">
              <a:spcBef>
                <a:spcPts val="1200"/>
              </a:spcBef>
              <a:spcAft>
                <a:spcPts val="0"/>
              </a:spcAft>
              <a:buNone/>
            </a:pPr>
            <a:r>
              <a:rPr lang="en-GB"/>
              <a:t>Dellaportas P, Denison D and Holmes C (2007) "Flexible threshold models for modelling interest rate volatility". Econometric Reviews. Special Issue on Bayesian Dynamic Econometrics. 26(2). 419-437 DOI: 10.1080/07474930701220600</a:t>
            </a:r>
            <a:endParaRPr/>
          </a:p>
          <a:p>
            <a:pPr indent="0" lvl="0" marL="0" rtl="0" algn="l">
              <a:spcBef>
                <a:spcPts val="1200"/>
              </a:spcBef>
              <a:spcAft>
                <a:spcPts val="1200"/>
              </a:spcAft>
              <a:buNone/>
            </a:pPr>
            <a:r>
              <a:rPr lang="en-GB"/>
              <a:t>Yau, C., Holmes, C. (2013), "A decision theoretic approach for segmental classification using Hidden Markov models", Annals of Applied Statistics, 7(3), 1814-1835. DOI: 10.1214/13-AOAS657</a:t>
            </a:r>
            <a:endParaRPr/>
          </a:p>
        </p:txBody>
      </p:sp>
      <p:sp>
        <p:nvSpPr>
          <p:cNvPr id="462" name="Google Shape;46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6" name="Shape 466"/>
        <p:cNvGrpSpPr/>
        <p:nvPr/>
      </p:nvGrpSpPr>
      <p:grpSpPr>
        <a:xfrm>
          <a:off x="0" y="0"/>
          <a:ext cx="0" cy="0"/>
          <a:chOff x="0" y="0"/>
          <a:chExt cx="0" cy="0"/>
        </a:xfrm>
      </p:grpSpPr>
      <p:sp>
        <p:nvSpPr>
          <p:cNvPr id="467" name="Google Shape;467;p5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Exercise: Understanding precursors to impact</a:t>
            </a:r>
            <a:endParaRPr/>
          </a:p>
        </p:txBody>
      </p:sp>
      <p:sp>
        <p:nvSpPr>
          <p:cNvPr id="468" name="Google Shape;468;p5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Discuss in groups:</a:t>
            </a:r>
            <a:endParaRPr/>
          </a:p>
          <a:p>
            <a:pPr indent="0" lvl="0" marL="0" rtl="0" algn="l">
              <a:spcBef>
                <a:spcPts val="1200"/>
              </a:spcBef>
              <a:spcAft>
                <a:spcPts val="0"/>
              </a:spcAft>
              <a:buNone/>
            </a:pPr>
            <a:r>
              <a:rPr lang="en-GB"/>
              <a:t>What are the key precursors in the research papers that indicated potential for impact? (It may be useful to search online—but focus on the abstract rather than the whole paper)</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Given that it is sometimes difficult to assess potential impact from the abstract, what other indicators might be used?</a:t>
            </a:r>
            <a:endParaRPr/>
          </a:p>
        </p:txBody>
      </p:sp>
      <p:sp>
        <p:nvSpPr>
          <p:cNvPr id="469" name="Google Shape;46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Guiding researchers towards greater impact</a:t>
            </a:r>
            <a:endParaRPr/>
          </a:p>
        </p:txBody>
      </p:sp>
      <p:sp>
        <p:nvSpPr>
          <p:cNvPr id="475" name="Google Shape;475;p5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Impact starts with the proposal</a:t>
            </a:r>
            <a:endParaRPr/>
          </a:p>
          <a:p>
            <a:pPr indent="-317500" lvl="1" marL="914400" rtl="0" algn="l">
              <a:spcBef>
                <a:spcPts val="0"/>
              </a:spcBef>
              <a:spcAft>
                <a:spcPts val="0"/>
              </a:spcAft>
              <a:buSzPts val="1400"/>
              <a:buChar char="○"/>
            </a:pPr>
            <a:r>
              <a:rPr lang="en-GB"/>
              <a:t>What pathways to impact have been identified in the proposal?</a:t>
            </a:r>
            <a:endParaRPr/>
          </a:p>
          <a:p>
            <a:pPr indent="-317500" lvl="1" marL="914400" rtl="0" algn="l">
              <a:spcBef>
                <a:spcPts val="0"/>
              </a:spcBef>
              <a:spcAft>
                <a:spcPts val="0"/>
              </a:spcAft>
              <a:buSzPts val="1400"/>
              <a:buChar char="○"/>
            </a:pPr>
            <a:r>
              <a:rPr lang="en-GB"/>
              <a:t>Could more be found?</a:t>
            </a:r>
            <a:endParaRPr/>
          </a:p>
          <a:p>
            <a:pPr indent="-342900" lvl="0" marL="457200" rtl="0" algn="l">
              <a:spcBef>
                <a:spcPts val="0"/>
              </a:spcBef>
              <a:spcAft>
                <a:spcPts val="0"/>
              </a:spcAft>
              <a:buSzPts val="1800"/>
              <a:buChar char="●"/>
            </a:pPr>
            <a:r>
              <a:rPr lang="en-GB"/>
              <a:t>Impact opportunities may arise during the project</a:t>
            </a:r>
            <a:endParaRPr/>
          </a:p>
          <a:p>
            <a:pPr indent="-317500" lvl="1" marL="914400" rtl="0" algn="l">
              <a:spcBef>
                <a:spcPts val="0"/>
              </a:spcBef>
              <a:spcAft>
                <a:spcPts val="0"/>
              </a:spcAft>
              <a:buSzPts val="1400"/>
              <a:buChar char="○"/>
            </a:pPr>
            <a:r>
              <a:rPr lang="en-GB"/>
              <a:t>New findings or results may lead to impact—are they being identified as they occur?</a:t>
            </a:r>
            <a:endParaRPr/>
          </a:p>
          <a:p>
            <a:pPr indent="-342900" lvl="0" marL="457200" rtl="0" algn="l">
              <a:spcBef>
                <a:spcPts val="0"/>
              </a:spcBef>
              <a:spcAft>
                <a:spcPts val="0"/>
              </a:spcAft>
              <a:buSzPts val="1800"/>
              <a:buChar char="●"/>
            </a:pPr>
            <a:r>
              <a:rPr lang="en-GB"/>
              <a:t>Exploitation of results at the end of the project is also key</a:t>
            </a:r>
            <a:endParaRPr/>
          </a:p>
          <a:p>
            <a:pPr indent="-342900" lvl="0" marL="457200" rtl="0" algn="l">
              <a:spcBef>
                <a:spcPts val="0"/>
              </a:spcBef>
              <a:spcAft>
                <a:spcPts val="0"/>
              </a:spcAft>
              <a:buSzPts val="1800"/>
              <a:buChar char="●"/>
            </a:pPr>
            <a:r>
              <a:rPr lang="en-GB"/>
              <a:t>Remember that real impact may take many years to occur and impact metrics should take this into account</a:t>
            </a:r>
            <a:endParaRPr/>
          </a:p>
          <a:p>
            <a:pPr indent="0" lvl="0" marL="0" rtl="0" algn="l">
              <a:spcBef>
                <a:spcPts val="1200"/>
              </a:spcBef>
              <a:spcAft>
                <a:spcPts val="1200"/>
              </a:spcAft>
              <a:buNone/>
            </a:pPr>
            <a:r>
              <a:t/>
            </a:r>
            <a:endParaRPr/>
          </a:p>
        </p:txBody>
      </p:sp>
      <p:sp>
        <p:nvSpPr>
          <p:cNvPr id="476" name="Google Shape;47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Industry collaboration</a:t>
            </a:r>
            <a:endParaRPr/>
          </a:p>
        </p:txBody>
      </p:sp>
      <p:sp>
        <p:nvSpPr>
          <p:cNvPr id="482" name="Google Shape;482;p5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Projects that involve industry are more likely to provide exploitable scientific results than ones without</a:t>
            </a:r>
            <a:endParaRPr/>
          </a:p>
          <a:p>
            <a:pPr indent="-317500" lvl="1" marL="914400" rtl="0" algn="l">
              <a:spcBef>
                <a:spcPts val="0"/>
              </a:spcBef>
              <a:spcAft>
                <a:spcPts val="0"/>
              </a:spcAft>
              <a:buSzPts val="1400"/>
              <a:buChar char="○"/>
            </a:pPr>
            <a:r>
              <a:rPr lang="en-GB"/>
              <a:t>Industry collaborators will better understand the pathway towards producing a commercial product</a:t>
            </a:r>
            <a:endParaRPr/>
          </a:p>
          <a:p>
            <a:pPr indent="-342900" lvl="0" marL="457200" rtl="0" algn="l">
              <a:spcBef>
                <a:spcPts val="0"/>
              </a:spcBef>
              <a:spcAft>
                <a:spcPts val="0"/>
              </a:spcAft>
              <a:buSzPts val="1800"/>
              <a:buChar char="●"/>
            </a:pPr>
            <a:r>
              <a:rPr lang="en-GB"/>
              <a:t>Industry co-authors help to demonstrate impact potential even if impact is yet to be achieved</a:t>
            </a:r>
            <a:endParaRPr/>
          </a:p>
        </p:txBody>
      </p:sp>
      <p:sp>
        <p:nvSpPr>
          <p:cNvPr id="483" name="Google Shape;483;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International partnerships</a:t>
            </a:r>
            <a:endParaRPr/>
          </a:p>
        </p:txBody>
      </p:sp>
      <p:sp>
        <p:nvSpPr>
          <p:cNvPr id="489" name="Google Shape;489;p5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International </a:t>
            </a:r>
            <a:r>
              <a:rPr i="1" lang="en-GB"/>
              <a:t>academic</a:t>
            </a:r>
            <a:r>
              <a:rPr lang="en-GB"/>
              <a:t> partnerships do not provide impact directly</a:t>
            </a:r>
            <a:endParaRPr/>
          </a:p>
          <a:p>
            <a:pPr indent="-342900" lvl="0" marL="457200" rtl="0" algn="l">
              <a:spcBef>
                <a:spcPts val="0"/>
              </a:spcBef>
              <a:spcAft>
                <a:spcPts val="0"/>
              </a:spcAft>
              <a:buSzPts val="1800"/>
              <a:buChar char="●"/>
            </a:pPr>
            <a:r>
              <a:rPr lang="en-GB"/>
              <a:t>They do, however, provide spread and validity, which can help promote research to a wider audience</a:t>
            </a:r>
            <a:endParaRPr/>
          </a:p>
        </p:txBody>
      </p:sp>
      <p:sp>
        <p:nvSpPr>
          <p:cNvPr id="490" name="Google Shape;49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4" name="Shape 494"/>
        <p:cNvGrpSpPr/>
        <p:nvPr/>
      </p:nvGrpSpPr>
      <p:grpSpPr>
        <a:xfrm>
          <a:off x="0" y="0"/>
          <a:ext cx="0" cy="0"/>
          <a:chOff x="0" y="0"/>
          <a:chExt cx="0" cy="0"/>
        </a:xfrm>
      </p:grpSpPr>
      <p:sp>
        <p:nvSpPr>
          <p:cNvPr id="495" name="Google Shape;495;p5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GB"/>
              <a:t>Impact case study activity</a:t>
            </a:r>
            <a:endParaRPr/>
          </a:p>
        </p:txBody>
      </p:sp>
      <p:sp>
        <p:nvSpPr>
          <p:cNvPr id="496" name="Google Shape;496;p5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lnSpcReduction="10000"/>
          </a:bodyPr>
          <a:lstStyle/>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We are now going to review a real-life example of the impact that research has had using a REF case study.  Choose one of the examples and work in groups to identify:</a:t>
            </a:r>
            <a:r>
              <a:rPr b="0" i="0" lang="en-GB">
                <a:solidFill>
                  <a:srgbClr val="000000"/>
                </a:solidFill>
                <a:latin typeface="Open Sans"/>
                <a:ea typeface="Open Sans"/>
                <a:cs typeface="Open Sans"/>
                <a:sym typeface="Open Sans"/>
              </a:rPr>
              <a:t>​</a:t>
            </a:r>
            <a:endParaRPr/>
          </a:p>
          <a:p>
            <a:pPr indent="0" lvl="0" marL="114300" rtl="0" algn="l">
              <a:lnSpc>
                <a:spcPct val="115000"/>
              </a:lnSpc>
              <a:spcBef>
                <a:spcPts val="0"/>
              </a:spcBef>
              <a:spcAft>
                <a:spcPts val="0"/>
              </a:spcAft>
              <a:buSzPts val="1800"/>
              <a:buNone/>
            </a:pPr>
            <a:r>
              <a:t/>
            </a:r>
            <a:endParaRPr b="0" i="0">
              <a:solidFill>
                <a:srgbClr val="000000"/>
              </a:solidFill>
              <a:latin typeface="Open Sans"/>
              <a:ea typeface="Open Sans"/>
              <a:cs typeface="Open Sans"/>
              <a:sym typeface="Open Sans"/>
            </a:endParaRPr>
          </a:p>
          <a:p>
            <a:pPr indent="-342900" lvl="0" marL="457200" rtl="0" algn="l">
              <a:lnSpc>
                <a:spcPct val="115000"/>
              </a:lnSpc>
              <a:spcBef>
                <a:spcPts val="0"/>
              </a:spcBef>
              <a:spcAft>
                <a:spcPts val="0"/>
              </a:spcAft>
              <a:buSzPts val="1800"/>
              <a:buFont typeface="Arial"/>
              <a:buChar char="•"/>
            </a:pPr>
            <a:r>
              <a:rPr b="1" i="0" lang="en-GB" u="none" strike="noStrike">
                <a:solidFill>
                  <a:srgbClr val="262626"/>
                </a:solidFill>
                <a:latin typeface="Open Sans"/>
                <a:ea typeface="Open Sans"/>
                <a:cs typeface="Open Sans"/>
                <a:sym typeface="Open Sans"/>
              </a:rPr>
              <a:t>The impact achieved and who was impacted</a:t>
            </a:r>
            <a:r>
              <a:rPr b="0" i="0" lang="en-GB">
                <a:solidFill>
                  <a:srgbClr val="000000"/>
                </a:solidFill>
                <a:latin typeface="Open Sans"/>
                <a:ea typeface="Open Sans"/>
                <a:cs typeface="Open Sans"/>
                <a:sym typeface="Open Sans"/>
              </a:rPr>
              <a:t>​</a:t>
            </a:r>
            <a:endParaRPr/>
          </a:p>
          <a:p>
            <a:pPr indent="-342900" lvl="0" marL="457200" rtl="0" algn="l">
              <a:lnSpc>
                <a:spcPct val="115000"/>
              </a:lnSpc>
              <a:spcBef>
                <a:spcPts val="0"/>
              </a:spcBef>
              <a:spcAft>
                <a:spcPts val="0"/>
              </a:spcAft>
              <a:buSzPts val="1800"/>
              <a:buFont typeface="Arial"/>
              <a:buChar char="•"/>
            </a:pPr>
            <a:r>
              <a:rPr b="1" i="0" lang="en-GB" u="none" strike="noStrike">
                <a:solidFill>
                  <a:srgbClr val="262626"/>
                </a:solidFill>
                <a:latin typeface="Open Sans"/>
                <a:ea typeface="Open Sans"/>
                <a:cs typeface="Open Sans"/>
                <a:sym typeface="Open Sans"/>
              </a:rPr>
              <a:t>The activities undertaken to achieve impact</a:t>
            </a:r>
            <a:r>
              <a:rPr b="0" i="0" lang="en-GB">
                <a:solidFill>
                  <a:srgbClr val="000000"/>
                </a:solidFill>
                <a:latin typeface="Open Sans"/>
                <a:ea typeface="Open Sans"/>
                <a:cs typeface="Open Sans"/>
                <a:sym typeface="Open Sans"/>
              </a:rPr>
              <a:t>​</a:t>
            </a:r>
            <a:endParaRPr/>
          </a:p>
          <a:p>
            <a:pPr indent="-342900" lvl="0" marL="457200" rtl="0" algn="l">
              <a:lnSpc>
                <a:spcPct val="115000"/>
              </a:lnSpc>
              <a:spcBef>
                <a:spcPts val="0"/>
              </a:spcBef>
              <a:spcAft>
                <a:spcPts val="0"/>
              </a:spcAft>
              <a:buSzPts val="1800"/>
              <a:buFont typeface="Arial"/>
              <a:buChar char="•"/>
            </a:pPr>
            <a:r>
              <a:rPr b="1" i="0" lang="en-GB" u="none" strike="noStrike">
                <a:solidFill>
                  <a:srgbClr val="262626"/>
                </a:solidFill>
                <a:latin typeface="Open Sans"/>
                <a:ea typeface="Open Sans"/>
                <a:cs typeface="Open Sans"/>
                <a:sym typeface="Open Sans"/>
              </a:rPr>
              <a:t>Who did they work with to achieve impact</a:t>
            </a:r>
            <a:r>
              <a:rPr b="0" i="0" lang="en-GB">
                <a:solidFill>
                  <a:srgbClr val="000000"/>
                </a:solidFill>
                <a:latin typeface="Open Sans"/>
                <a:ea typeface="Open Sans"/>
                <a:cs typeface="Open Sans"/>
                <a:sym typeface="Open Sans"/>
              </a:rPr>
              <a:t>​</a:t>
            </a:r>
            <a:endParaRPr/>
          </a:p>
          <a:p>
            <a:pPr indent="0" lvl="0" marL="114300" rtl="0" algn="l">
              <a:lnSpc>
                <a:spcPct val="115000"/>
              </a:lnSpc>
              <a:spcBef>
                <a:spcPts val="0"/>
              </a:spcBef>
              <a:spcAft>
                <a:spcPts val="0"/>
              </a:spcAft>
              <a:buSzPts val="1800"/>
              <a:buNone/>
            </a:pPr>
            <a:r>
              <a:t/>
            </a:r>
            <a:endParaRPr b="0" i="0" u="none" strike="noStrike">
              <a:solidFill>
                <a:srgbClr val="262626"/>
              </a:solidFill>
              <a:latin typeface="Open Sans"/>
              <a:ea typeface="Open Sans"/>
              <a:cs typeface="Open Sans"/>
              <a:sym typeface="Open Sans"/>
            </a:endParaRPr>
          </a:p>
          <a:p>
            <a:pPr indent="0" lvl="0" marL="114300" rtl="0" algn="l">
              <a:lnSpc>
                <a:spcPct val="115000"/>
              </a:lnSpc>
              <a:spcBef>
                <a:spcPts val="0"/>
              </a:spcBef>
              <a:spcAft>
                <a:spcPts val="0"/>
              </a:spcAft>
              <a:buSzPts val="1800"/>
              <a:buNone/>
            </a:pPr>
            <a:r>
              <a:rPr b="0" i="0" lang="en-GB" u="none" strike="noStrike">
                <a:solidFill>
                  <a:srgbClr val="262626"/>
                </a:solidFill>
                <a:latin typeface="Open Sans"/>
                <a:ea typeface="Open Sans"/>
                <a:cs typeface="Open Sans"/>
                <a:sym typeface="Open Sans"/>
              </a:rPr>
              <a:t>Select a person from your group to feedback - We will then discuss this as a group</a:t>
            </a:r>
            <a:endParaRPr b="0" i="0">
              <a:solidFill>
                <a:srgbClr val="000000"/>
              </a:solidFill>
              <a:latin typeface="Open Sans"/>
              <a:ea typeface="Open Sans"/>
              <a:cs typeface="Open Sans"/>
              <a:sym typeface="Open Sans"/>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9"/>
          <p:cNvSpPr txBox="1"/>
          <p:nvPr>
            <p:ph idx="12" type="sldNum"/>
          </p:nvPr>
        </p:nvSpPr>
        <p:spPr>
          <a:xfrm>
            <a:off x="8480584" y="46736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