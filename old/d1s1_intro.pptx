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b53c5f77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b53c5f77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df7bc36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df7bc36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ba0384e5f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ba0384e5f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df7bc362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df7bc362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ba0384e5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ba0384e5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ba0384e5f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ba0384e5f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aaef8c661dbaca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aaef8c661dbaca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end of this section by 9:30-ish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dfb8ce7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dfb8ce7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dfb8ce7a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dfb8ce7a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dfb8ce7a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dfb8ce7a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518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0" y="349660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685800" y="3627027"/>
            <a:ext cx="7772400" cy="7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" name="Google Shape;17;p3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" name="Google Shape;30;p5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</a:lstStyle>
          <a:p/>
        </p:txBody>
      </p:sp>
      <p:sp>
        <p:nvSpPr>
          <p:cNvPr id="35" name="Google Shape;35;p6"/>
          <p:cNvSpPr/>
          <p:nvPr/>
        </p:nvSpPr>
        <p:spPr>
          <a:xfrm>
            <a:off x="4274" y="0"/>
            <a:ext cx="9144000" cy="44064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0" y="4384371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iz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 sz="3000">
                <a:solidFill>
                  <a:schemeClr val="dk1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>
                <a:solidFill>
                  <a:schemeClr val="dk1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pgr week</a:t>
            </a:r>
            <a:endParaRPr/>
          </a:p>
        </p:txBody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685800" y="3627027"/>
            <a:ext cx="7772400" cy="7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contents</a:t>
            </a:r>
            <a:endParaRPr/>
          </a:p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overview of the module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intended learning outcomes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learning format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schedule for the week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ground rules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what do you want?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getting started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overview of the module</a:t>
            </a:r>
            <a:endParaRPr/>
          </a:p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200150"/>
            <a:ext cx="5683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we are following material from a book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we are adding material that has been helpful to past students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you can help too - by teaching each other</a:t>
            </a:r>
            <a:endParaRPr/>
          </a:p>
        </p:txBody>
      </p:sp>
      <p:pic>
        <p:nvPicPr>
          <p:cNvPr id="58" name="Google Shape;5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6650" y="273688"/>
            <a:ext cx="3143250" cy="47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intended learning outcomes</a:t>
            </a:r>
            <a:endParaRPr/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design research that produces </a:t>
            </a:r>
            <a:r>
              <a:rPr lang="en-GB"/>
              <a:t>rigorous</a:t>
            </a:r>
            <a:r>
              <a:rPr lang="en-GB"/>
              <a:t> results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locate, appraise, and summarise relevant literature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write a clear and concise research paper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present a persuasive presentation on the research paper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proofread and referee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learning format</a:t>
            </a:r>
            <a:endParaRPr/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you’ll need your laptop (please go and get it now if you don’t have it)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minimal lecturing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mostly class exercises (be open to learn from each other) - measured in pomodoros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teach each other - learn from each other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schedule for module</a:t>
            </a:r>
            <a:endParaRPr/>
          </a:p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See the PGR Week website (schedule page) for the complete schedule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ground rules</a:t>
            </a:r>
            <a:endParaRPr/>
          </a:p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attend all lectures / exercises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contribute to group activities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please help to make it a fun, enjoyable atmosphere for everyone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do you want?</a:t>
            </a:r>
            <a:endParaRPr/>
          </a:p>
        </p:txBody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Go to the "Expectations for the course" document and start typing what it is you want out of this course starting with 3 dots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e.g.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“ … a magic bullet that gets me a PhD!”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getting started</a:t>
            </a:r>
            <a:endParaRPr/>
          </a:p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Zobel summarises research thus: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form a precise </a:t>
            </a:r>
            <a:r>
              <a:rPr i="1" lang="en-GB"/>
              <a:t>question</a:t>
            </a:r>
            <a:endParaRPr i="1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develop </a:t>
            </a:r>
            <a:r>
              <a:rPr i="1" lang="en-GB"/>
              <a:t>understanding </a:t>
            </a:r>
            <a:r>
              <a:rPr lang="en-GB"/>
              <a:t>through reading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gather </a:t>
            </a:r>
            <a:r>
              <a:rPr i="1" lang="en-GB"/>
              <a:t>evidence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link question and evidence with an </a:t>
            </a:r>
            <a:r>
              <a:rPr i="1" lang="en-GB"/>
              <a:t>argument</a:t>
            </a:r>
            <a:endParaRPr i="1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describe the work in a </a:t>
            </a:r>
            <a:r>
              <a:rPr i="1" lang="en-GB"/>
              <a:t>publication</a:t>
            </a:r>
            <a:endParaRPr i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getting started checklist (Zobel)</a:t>
            </a:r>
            <a:endParaRPr/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is the proposed topic clearly research?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is it different from, say, software development?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what are the area, topic, research question?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is the project of appropriate scale?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is it distinct from other’s projects?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are the outcomes interesting enough to justify the work?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checklist continued</a:t>
            </a:r>
            <a:endParaRPr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7. 	what skills do you and your supervisor bring?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8. 	what skills must be learnt?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9. 	what resources are required and how will they be obtained?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10.	what are the likely obstacles?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11.	can you write down a road map?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/>
              <a:t>12.	have you agreed on how to work with your supervisor?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iz">
  <a:themeElements>
    <a:clrScheme name="Custom 233">
      <a:dk1>
        <a:srgbClr val="000000"/>
      </a:dk1>
      <a:lt1>
        <a:srgbClr val="FFFFFF"/>
      </a:lt1>
      <a:dk2>
        <a:srgbClr val="2388DB"/>
      </a:dk2>
      <a:lt2>
        <a:srgbClr val="BBD7F8"/>
      </a:lt2>
      <a:accent1>
        <a:srgbClr val="80B606"/>
      </a:accent1>
      <a:accent2>
        <a:srgbClr val="E29F1D"/>
      </a:accent2>
      <a:accent3>
        <a:srgbClr val="1D6FB2"/>
      </a:accent3>
      <a:accent4>
        <a:srgbClr val="3FAC98"/>
      </a:accent4>
      <a:accent5>
        <a:srgbClr val="5B57BB"/>
      </a:accent5>
      <a:accent6>
        <a:srgbClr val="D1505E"/>
      </a:accent6>
      <a:hlink>
        <a:srgbClr val="185DA2"/>
      </a:hlink>
      <a:folHlink>
        <a:srgbClr val="0048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