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b53c5f7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b53c5f7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e00804c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e00804c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e00804ce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e00804ce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7cc0f2f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7cc0f2f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00804ce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00804ce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e00804ce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e00804ce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00804ce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e00804ce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7c4cd8b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7c4cd8b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00804ce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00804ce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e00804ce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e00804ce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e00804ce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e00804ce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51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0" y="349660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ic Sans MS"/>
              <a:buNone/>
              <a:defRPr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4274" y="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iz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dart-europe.eu/basic-search.php" TargetMode="External"/><Relationship Id="rId4" Type="http://schemas.openxmlformats.org/officeDocument/2006/relationships/hyperlink" Target="http://ethos.bl.uk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prisma-statement.org/PRISMAStatement/FlowDiagram.aspx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pgr week</a:t>
            </a:r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Literature search / review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intended learning outcomes</a:t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design research that produces rigorous results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locate, appraise, and summarise relevant literature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write a clear and concise research paper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present a persuasive presentation on the research paper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proofread and referee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what’s the point of reading?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the aim of reading research literature is to gain </a:t>
            </a:r>
            <a:r>
              <a:rPr i="1" lang="en-GB"/>
              <a:t>understanding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the key to successful reading is to be able to see the value / contribution of a paper, while recognising its flaws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dealing with literature</a:t>
            </a:r>
            <a:endParaRPr/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by the time you hand in your thesis, your understanding of the literature should be comprehensive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consider, by preference, only reputable sources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skim read or browse initially 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avoid wasting time on poor papers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catalogue and organise papers into folders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don’t allow reading to become procrastination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-GB" sz="2400"/>
              <a:t>never</a:t>
            </a:r>
            <a:r>
              <a:rPr lang="en-GB" sz="2400"/>
              <a:t> cite or write about a paper you haven’t read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literature</a:t>
            </a:r>
            <a:endParaRPr/>
          </a:p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search the web with obvious terms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use academic search engines (google scholar, scopus, researchgate)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visit websites for research groups / researchers in the area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follow citation references in relevant papers (backward chaining)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forward chain from very strong papers also - what papers cited this one?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search publisher specific engines (ACM, IEEE)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search for articles in your target journal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use your library catalogue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use online thesis repositories su</a:t>
            </a:r>
            <a:r>
              <a:rPr lang="en-GB" sz="1800"/>
              <a:t>ch as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DART</a:t>
            </a:r>
            <a:r>
              <a:rPr lang="en-GB" sz="1800"/>
              <a:t> and </a:t>
            </a:r>
            <a:r>
              <a:rPr lang="en-GB" sz="1800" u="sng">
                <a:solidFill>
                  <a:schemeClr val="hlink"/>
                </a:solidFill>
                <a:hlinkClick r:id="rId4"/>
              </a:rPr>
              <a:t>http://ethos.bl.uk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physically go to the library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discuss your topic with others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assessing the results</a:t>
            </a:r>
            <a:endParaRPr/>
          </a:p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searching for literature will help you to refine your search terms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you may also need to repeat your search close to the end of your writing to adjust for the learning gained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keep searching and reading as separate activities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after searching, your topic may not look original (so possibly don’t waste time on it) but be aware that an original contribution may still be possible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critically</a:t>
            </a:r>
            <a:endParaRPr/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is there a (significant) contribution?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is it a relevant one?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are results correct?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is appropriate literature discussed?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does the methodology answer the posed question?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are the proposals and results critically analyzed?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are appropriate conclusions drawn from the results?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are the technical details correct?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could the results be verified?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are there ambiguities or inconsistencies?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(from Zobel, p. 24)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developing a literature review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start by producing a summary of each paper you read (can be in “note to self” style). Focus on contribution; obvious flaws; possible counter-arguments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gradually revise, discarding some, less relevant papers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emerge a strong structure and ensure your text </a:t>
            </a:r>
            <a:r>
              <a:rPr i="1" lang="en-GB" sz="2400"/>
              <a:t>explains</a:t>
            </a:r>
            <a:r>
              <a:rPr lang="en-GB" sz="2400"/>
              <a:t> the topic area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consider developing a taxonomy to show area structure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consider tabulating papers to summarise details (e.g. number of experiments)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457200" y="205975"/>
            <a:ext cx="8229600" cy="9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Systematic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" y="1200150"/>
            <a:ext cx="35367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http://prisma-statement.org/PRISMAStatement/FlowDiagram.aspx</a:t>
            </a: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Gough, D., Oliver, S., Thomas, J. (2012). An introduction to Systematic Reviews. London: Sage.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1463" y="223838"/>
            <a:ext cx="4791075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(1 pomodoro)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go through the “finding literature” checklist (apart from visiting the library) for your chosen research topic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(1 pomodoro)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select a few papers from your search and browse through / skim read to gain a rough assessment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aim to find at least one interesting paper that would be worth more detailed reading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(1+ pomodoros)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select an interesting paper from the previous exercise and read it in detail - you may want to print it out first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write a brief answer to each of: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what are the researchers trying to find out?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why is the research important?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what things were measured?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what were the results?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what do the authors conclude? and what factors do they attribute to their findings?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can you accept the findings as true? Discuss any failings or shortcomings.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(Zobel, p268)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