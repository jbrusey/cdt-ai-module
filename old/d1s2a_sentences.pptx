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Lst>
  <p:sldSz cy="5143500" cx="9144000"/>
  <p:notesSz cx="6858000" cy="9144000"/>
  <p:embeddedFontLst>
    <p:embeddedFont>
      <p:font typeface="Caveat"/>
      <p:regular r:id="rId39"/>
      <p:bold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Caveat-bold.fnt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font" Target="fonts/Caveat-regular.fntdata"/><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8" name="Google Shape;4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sz="1200">
              <a:solidFill>
                <a:schemeClr val="dk1"/>
              </a:solidFill>
            </a:endParaRPr>
          </a:p>
          <a:p>
            <a:pPr indent="0" lvl="0" marL="0" rtl="0" algn="l">
              <a:spcBef>
                <a:spcPts val="600"/>
              </a:spcBef>
              <a:spcAft>
                <a:spcPts val="0"/>
              </a:spcAft>
              <a:buNone/>
            </a:pPr>
            <a:r>
              <a:t/>
            </a:r>
            <a:endParaRPr sz="1200">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2ada010fa6_0_5: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g2ada010fa6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ada010fa6_0_10: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g2ada010fa6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ada010fa6_0_15: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g2ada010fa6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ada010fa6_0_20: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g2ada010fa6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ada010fa6_0_31: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g2ada010fa6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ada010fa6_0_36: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g2ada010fa6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ada010fa6_0_41: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g2ada010fa6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ada010fa6_0_46: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g2ada010fa6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ada010fa6_0_51: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g2ada010fa6_0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ada010fa6_0_56: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g2ada010fa6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ada010fa6_0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ada010fa6_0_61: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g2ada010fa6_0_61: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ada010fa6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g2ada010fa6_0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21" name="Google Shape;121;g2ada010fa6_0_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ada010fa6_0_73: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g2ada010fa6_0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ada010fa6_0_78: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g2ada010fa6_0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ada010fa6_0_83: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2ada010fa6_0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ada010fa6_0_88: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g2ada010fa6_0_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ada010fa6_0_93: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g2ada010fa6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ada010fa6_0_98: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g2ada010fa6_0_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ada010fa6_0_103: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g2ada010fa6_0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ada010fa6_0_108: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g2ada010fa6_0_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ada010fa6_0_113: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g2ada010fa6_0_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ada010fa6_0_118: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g2ada010fa6_0_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ada010fa6_0_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ada010fa6_0_123: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g2ada010fa6_0_123: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ada010fa6_0_128: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g2ada010fa6_0_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ada010fa6_0_133: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2ada010fa6_0_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968154412_0_0: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g296815441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ada010fa6_0_138: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g2ada010fa6_0_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ada010fa6_0_143: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g2ada010fa6_0_1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ada010fa6_0_148: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g2ada010fa6_0_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ada010fa6_0_153: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g2ada010fa6_0_1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ada010fa6_0_158: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g2ada010fa6_0_1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ada010fa6_0_164: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g2ada010fa6_0_1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ada010fa6_0_169: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g2ada010fa6_0_1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0" y="0"/>
            <a:ext cx="9144000" cy="3518400"/>
          </a:xfrm>
          <a:prstGeom prst="rect">
            <a:avLst/>
          </a:prstGeom>
          <a:solidFill>
            <a:schemeClr val="dk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11" name="Google Shape;11;p2"/>
          <p:cNvCxnSpPr/>
          <p:nvPr/>
        </p:nvCxnSpPr>
        <p:spPr>
          <a:xfrm>
            <a:off x="0" y="349660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12" name="Google Shape;12;p2"/>
          <p:cNvSpPr txBox="1"/>
          <p:nvPr>
            <p:ph type="ctrTitle"/>
          </p:nvPr>
        </p:nvSpPr>
        <p:spPr>
          <a:xfrm>
            <a:off x="685800" y="1867781"/>
            <a:ext cx="7772400" cy="1648800"/>
          </a:xfrm>
          <a:prstGeom prst="rect">
            <a:avLst/>
          </a:prstGeom>
        </p:spPr>
        <p:txBody>
          <a:bodyPr anchorCtr="0" anchor="b" bIns="91425" lIns="91425" spcFirstLastPara="1" rIns="91425" wrap="square" tIns="91425">
            <a:noAutofit/>
          </a:bodyPr>
          <a:lstStyle>
            <a:lvl1pPr lvl="0" rtl="0">
              <a:spcBef>
                <a:spcPts val="0"/>
              </a:spcBef>
              <a:spcAft>
                <a:spcPts val="0"/>
              </a:spcAft>
              <a:buSzPts val="7200"/>
              <a:buNone/>
              <a:defRPr sz="7200"/>
            </a:lvl1pPr>
            <a:lvl2pPr lvl="1" rtl="0">
              <a:spcBef>
                <a:spcPts val="0"/>
              </a:spcBef>
              <a:spcAft>
                <a:spcPts val="0"/>
              </a:spcAft>
              <a:buSzPts val="7200"/>
              <a:buNone/>
              <a:defRPr sz="7200"/>
            </a:lvl2pPr>
            <a:lvl3pPr lvl="2" rtl="0">
              <a:spcBef>
                <a:spcPts val="0"/>
              </a:spcBef>
              <a:spcAft>
                <a:spcPts val="0"/>
              </a:spcAft>
              <a:buSzPts val="7200"/>
              <a:buNone/>
              <a:defRPr sz="7200"/>
            </a:lvl3pPr>
            <a:lvl4pPr lvl="3" rtl="0">
              <a:spcBef>
                <a:spcPts val="0"/>
              </a:spcBef>
              <a:spcAft>
                <a:spcPts val="0"/>
              </a:spcAft>
              <a:buSzPts val="7200"/>
              <a:buNone/>
              <a:defRPr sz="7200"/>
            </a:lvl4pPr>
            <a:lvl5pPr lvl="4" rtl="0">
              <a:spcBef>
                <a:spcPts val="0"/>
              </a:spcBef>
              <a:spcAft>
                <a:spcPts val="0"/>
              </a:spcAft>
              <a:buSzPts val="7200"/>
              <a:buNone/>
              <a:defRPr sz="7200"/>
            </a:lvl5pPr>
            <a:lvl6pPr lvl="5" rtl="0">
              <a:spcBef>
                <a:spcPts val="0"/>
              </a:spcBef>
              <a:spcAft>
                <a:spcPts val="0"/>
              </a:spcAft>
              <a:buSzPts val="7200"/>
              <a:buNone/>
              <a:defRPr sz="7200"/>
            </a:lvl6pPr>
            <a:lvl7pPr lvl="6" rtl="0">
              <a:spcBef>
                <a:spcPts val="0"/>
              </a:spcBef>
              <a:spcAft>
                <a:spcPts val="0"/>
              </a:spcAft>
              <a:buSzPts val="7200"/>
              <a:buNone/>
              <a:defRPr sz="7200"/>
            </a:lvl7pPr>
            <a:lvl8pPr lvl="7" rtl="0">
              <a:spcBef>
                <a:spcPts val="0"/>
              </a:spcBef>
              <a:spcAft>
                <a:spcPts val="0"/>
              </a:spcAft>
              <a:buSzPts val="7200"/>
              <a:buNone/>
              <a:defRPr sz="7200"/>
            </a:lvl8pPr>
            <a:lvl9pPr lvl="8" rtl="0">
              <a:spcBef>
                <a:spcPts val="0"/>
              </a:spcBef>
              <a:spcAft>
                <a:spcPts val="0"/>
              </a:spcAft>
              <a:buSzPts val="7200"/>
              <a:buNone/>
              <a:defRPr sz="7200"/>
            </a:lvl9pPr>
          </a:lstStyle>
          <a:p/>
        </p:txBody>
      </p:sp>
      <p:sp>
        <p:nvSpPr>
          <p:cNvPr id="13" name="Google Shape;13;p2"/>
          <p:cNvSpPr txBox="1"/>
          <p:nvPr>
            <p:ph idx="1" type="subTitle"/>
          </p:nvPr>
        </p:nvSpPr>
        <p:spPr>
          <a:xfrm>
            <a:off x="685800" y="3627027"/>
            <a:ext cx="7772400" cy="7743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3000"/>
              <a:buNone/>
              <a:defRPr>
                <a:solidFill>
                  <a:schemeClr val="dk2"/>
                </a:solidFill>
              </a:defRPr>
            </a:lvl1pPr>
            <a:lvl2pPr lvl="1" rtl="0">
              <a:spcBef>
                <a:spcPts val="0"/>
              </a:spcBef>
              <a:spcAft>
                <a:spcPts val="0"/>
              </a:spcAft>
              <a:buClr>
                <a:schemeClr val="dk2"/>
              </a:buClr>
              <a:buSzPts val="3000"/>
              <a:buNone/>
              <a:defRPr sz="3000">
                <a:solidFill>
                  <a:schemeClr val="dk2"/>
                </a:solidFill>
              </a:defRPr>
            </a:lvl2pPr>
            <a:lvl3pPr lvl="2" rtl="0">
              <a:spcBef>
                <a:spcPts val="0"/>
              </a:spcBef>
              <a:spcAft>
                <a:spcPts val="0"/>
              </a:spcAft>
              <a:buClr>
                <a:schemeClr val="dk2"/>
              </a:buClr>
              <a:buSzPts val="3000"/>
              <a:buNone/>
              <a:defRPr sz="3000">
                <a:solidFill>
                  <a:schemeClr val="dk2"/>
                </a:solidFill>
              </a:defRPr>
            </a:lvl3pPr>
            <a:lvl4pPr lvl="3" rtl="0">
              <a:spcBef>
                <a:spcPts val="0"/>
              </a:spcBef>
              <a:spcAft>
                <a:spcPts val="0"/>
              </a:spcAft>
              <a:buClr>
                <a:schemeClr val="dk2"/>
              </a:buClr>
              <a:buSzPts val="3000"/>
              <a:buNone/>
              <a:defRPr sz="3000">
                <a:solidFill>
                  <a:schemeClr val="dk2"/>
                </a:solidFill>
              </a:defRPr>
            </a:lvl4pPr>
            <a:lvl5pPr lvl="4" rtl="0">
              <a:spcBef>
                <a:spcPts val="0"/>
              </a:spcBef>
              <a:spcAft>
                <a:spcPts val="0"/>
              </a:spcAft>
              <a:buClr>
                <a:schemeClr val="dk2"/>
              </a:buClr>
              <a:buSzPts val="3000"/>
              <a:buNone/>
              <a:defRPr sz="3000">
                <a:solidFill>
                  <a:schemeClr val="dk2"/>
                </a:solidFill>
              </a:defRPr>
            </a:lvl5pPr>
            <a:lvl6pPr lvl="5" rtl="0">
              <a:spcBef>
                <a:spcPts val="0"/>
              </a:spcBef>
              <a:spcAft>
                <a:spcPts val="0"/>
              </a:spcAft>
              <a:buClr>
                <a:schemeClr val="dk2"/>
              </a:buClr>
              <a:buSzPts val="3000"/>
              <a:buNone/>
              <a:defRPr sz="3000">
                <a:solidFill>
                  <a:schemeClr val="dk2"/>
                </a:solidFill>
              </a:defRPr>
            </a:lvl6pPr>
            <a:lvl7pPr lvl="6" rtl="0">
              <a:spcBef>
                <a:spcPts val="0"/>
              </a:spcBef>
              <a:spcAft>
                <a:spcPts val="0"/>
              </a:spcAft>
              <a:buClr>
                <a:schemeClr val="dk2"/>
              </a:buClr>
              <a:buSzPts val="3000"/>
              <a:buNone/>
              <a:defRPr sz="3000">
                <a:solidFill>
                  <a:schemeClr val="dk2"/>
                </a:solidFill>
              </a:defRPr>
            </a:lvl7pPr>
            <a:lvl8pPr lvl="7" rtl="0">
              <a:spcBef>
                <a:spcPts val="0"/>
              </a:spcBef>
              <a:spcAft>
                <a:spcPts val="0"/>
              </a:spcAft>
              <a:buClr>
                <a:schemeClr val="dk2"/>
              </a:buClr>
              <a:buSzPts val="3000"/>
              <a:buNone/>
              <a:defRPr sz="3000">
                <a:solidFill>
                  <a:schemeClr val="dk2"/>
                </a:solidFill>
              </a:defRPr>
            </a:lvl8pPr>
            <a:lvl9pPr lvl="8" rtl="0">
              <a:spcBef>
                <a:spcPts val="0"/>
              </a:spcBef>
              <a:spcAft>
                <a:spcPts val="0"/>
              </a:spcAft>
              <a:buClr>
                <a:schemeClr val="dk2"/>
              </a:buClr>
              <a:buSzPts val="3000"/>
              <a:buNone/>
              <a:defRPr sz="3000">
                <a:solidFill>
                  <a:schemeClr val="dk2"/>
                </a:solidFill>
              </a:defRPr>
            </a:lvl9pPr>
          </a:lstStyle>
          <a:p/>
        </p:txBody>
      </p:sp>
      <p:sp>
        <p:nvSpPr>
          <p:cNvPr id="14" name="Google Shape;14;p2"/>
          <p:cNvSpPr txBox="1"/>
          <p:nvPr>
            <p:ph idx="12" type="sldNum"/>
          </p:nvPr>
        </p:nvSpPr>
        <p:spPr>
          <a:xfrm>
            <a:off x="8556791"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3"/>
          <p:cNvSpPr/>
          <p:nvPr/>
        </p:nvSpPr>
        <p:spPr>
          <a:xfrm>
            <a:off x="0" y="0"/>
            <a:ext cx="9144000" cy="1149900"/>
          </a:xfrm>
          <a:prstGeom prst="rect">
            <a:avLst/>
          </a:prstGeom>
          <a:solidFill>
            <a:srgbClr val="2388DB"/>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17" name="Google Shape;17;p3"/>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18" name="Google Shape;18;p3"/>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19" name="Google Shape;19;p3"/>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0" name="Google Shape;20;p3"/>
          <p:cNvSpPr txBox="1"/>
          <p:nvPr>
            <p:ph idx="12" type="sldNum"/>
          </p:nvPr>
        </p:nvSpPr>
        <p:spPr>
          <a:xfrm>
            <a:off x="8556791"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4"/>
          <p:cNvSpPr/>
          <p:nvPr/>
        </p:nvSpPr>
        <p:spPr>
          <a:xfrm>
            <a:off x="0" y="0"/>
            <a:ext cx="9144000" cy="1149900"/>
          </a:xfrm>
          <a:prstGeom prst="rect">
            <a:avLst/>
          </a:prstGeom>
          <a:solidFill>
            <a:schemeClr val="dk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23" name="Google Shape;23;p4"/>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24" name="Google Shape;24;p4"/>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25" name="Google Shape;25;p4"/>
          <p:cNvSpPr txBox="1"/>
          <p:nvPr>
            <p:ph idx="1" type="body"/>
          </p:nvPr>
        </p:nvSpPr>
        <p:spPr>
          <a:xfrm>
            <a:off x="457200" y="1200150"/>
            <a:ext cx="3994500" cy="3725700"/>
          </a:xfrm>
          <a:prstGeom prst="rect">
            <a:avLst/>
          </a:prstGeom>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 name="Google Shape;26;p4"/>
          <p:cNvSpPr txBox="1"/>
          <p:nvPr>
            <p:ph idx="2" type="body"/>
          </p:nvPr>
        </p:nvSpPr>
        <p:spPr>
          <a:xfrm>
            <a:off x="4692274" y="1200150"/>
            <a:ext cx="3994500" cy="3725700"/>
          </a:xfrm>
          <a:prstGeom prst="rect">
            <a:avLst/>
          </a:prstGeom>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7" name="Google Shape;27;p4"/>
          <p:cNvSpPr txBox="1"/>
          <p:nvPr>
            <p:ph idx="12" type="sldNum"/>
          </p:nvPr>
        </p:nvSpPr>
        <p:spPr>
          <a:xfrm>
            <a:off x="8556791"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5"/>
          <p:cNvSpPr/>
          <p:nvPr/>
        </p:nvSpPr>
        <p:spPr>
          <a:xfrm>
            <a:off x="0" y="0"/>
            <a:ext cx="9144000" cy="1149900"/>
          </a:xfrm>
          <a:prstGeom prst="rect">
            <a:avLst/>
          </a:prstGeom>
          <a:solidFill>
            <a:srgbClr val="2388DB"/>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30" name="Google Shape;30;p5"/>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31" name="Google Shape;31;p5"/>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32" name="Google Shape;32;p5"/>
          <p:cNvSpPr txBox="1"/>
          <p:nvPr>
            <p:ph idx="12" type="sldNum"/>
          </p:nvPr>
        </p:nvSpPr>
        <p:spPr>
          <a:xfrm>
            <a:off x="8556791"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3" name="Shape 33"/>
        <p:cNvGrpSpPr/>
        <p:nvPr/>
      </p:nvGrpSpPr>
      <p:grpSpPr>
        <a:xfrm>
          <a:off x="0" y="0"/>
          <a:ext cx="0" cy="0"/>
          <a:chOff x="0" y="0"/>
          <a:chExt cx="0" cy="0"/>
        </a:xfrm>
      </p:grpSpPr>
      <p:sp>
        <p:nvSpPr>
          <p:cNvPr id="34" name="Google Shape;34;p6"/>
          <p:cNvSpPr txBox="1"/>
          <p:nvPr>
            <p:ph idx="1" type="body"/>
          </p:nvPr>
        </p:nvSpPr>
        <p:spPr>
          <a:xfrm>
            <a:off x="457200" y="4406309"/>
            <a:ext cx="8229600" cy="519600"/>
          </a:xfrm>
          <a:prstGeom prst="rect">
            <a:avLst/>
          </a:prstGeom>
        </p:spPr>
        <p:txBody>
          <a:bodyPr anchorCtr="0" anchor="t" bIns="91425" lIns="91425" spcFirstLastPara="1" rIns="91425" wrap="square" tIns="91425">
            <a:noAutofit/>
          </a:bodyPr>
          <a:lstStyle>
            <a:lvl1pPr indent="-228600" lvl="0" marL="457200" rtl="0">
              <a:spcBef>
                <a:spcPts val="0"/>
              </a:spcBef>
              <a:spcAft>
                <a:spcPts val="0"/>
              </a:spcAft>
              <a:buClr>
                <a:schemeClr val="dk2"/>
              </a:buClr>
              <a:buSzPts val="1800"/>
              <a:buNone/>
              <a:defRPr sz="1800">
                <a:solidFill>
                  <a:schemeClr val="dk2"/>
                </a:solidFill>
              </a:defRPr>
            </a:lvl1pPr>
          </a:lstStyle>
          <a:p/>
        </p:txBody>
      </p:sp>
      <p:sp>
        <p:nvSpPr>
          <p:cNvPr id="35" name="Google Shape;35;p6"/>
          <p:cNvSpPr/>
          <p:nvPr/>
        </p:nvSpPr>
        <p:spPr>
          <a:xfrm>
            <a:off x="4274" y="0"/>
            <a:ext cx="9144000" cy="4406400"/>
          </a:xfrm>
          <a:prstGeom prst="rect">
            <a:avLst/>
          </a:prstGeom>
          <a:solidFill>
            <a:srgbClr val="2388DB"/>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36" name="Google Shape;36;p6"/>
          <p:cNvCxnSpPr/>
          <p:nvPr/>
        </p:nvCxnSpPr>
        <p:spPr>
          <a:xfrm>
            <a:off x="0" y="4384371"/>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37" name="Google Shape;37;p6"/>
          <p:cNvSpPr txBox="1"/>
          <p:nvPr>
            <p:ph idx="12" type="sldNum"/>
          </p:nvPr>
        </p:nvSpPr>
        <p:spPr>
          <a:xfrm>
            <a:off x="8556791"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2"/>
        </a:solidFill>
      </p:bgPr>
    </p:bg>
    <p:spTree>
      <p:nvGrpSpPr>
        <p:cNvPr id="38" name="Shape 38"/>
        <p:cNvGrpSpPr/>
        <p:nvPr/>
      </p:nvGrpSpPr>
      <p:grpSpPr>
        <a:xfrm>
          <a:off x="0" y="0"/>
          <a:ext cx="0" cy="0"/>
          <a:chOff x="0" y="0"/>
          <a:chExt cx="0" cy="0"/>
        </a:xfrm>
      </p:grpSpPr>
      <p:sp>
        <p:nvSpPr>
          <p:cNvPr id="39" name="Google Shape;39;p7"/>
          <p:cNvSpPr txBox="1"/>
          <p:nvPr>
            <p:ph idx="12" type="sldNum"/>
          </p:nvPr>
        </p:nvSpPr>
        <p:spPr>
          <a:xfrm>
            <a:off x="8556791"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40" name="Shape 40"/>
        <p:cNvGrpSpPr/>
        <p:nvPr/>
      </p:nvGrpSpPr>
      <p:grpSpPr>
        <a:xfrm>
          <a:off x="0" y="0"/>
          <a:ext cx="0" cy="0"/>
          <a:chOff x="0" y="0"/>
          <a:chExt cx="0" cy="0"/>
        </a:xfrm>
      </p:grpSpPr>
      <p:sp>
        <p:nvSpPr>
          <p:cNvPr id="41" name="Google Shape;41;p8"/>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sz="6000">
                <a:solidFill>
                  <a:schemeClr val="lt1"/>
                </a:solidFill>
              </a:defRPr>
            </a:lvl1pPr>
            <a:lvl2pPr lvl="1" rtl="0">
              <a:spcBef>
                <a:spcPts val="0"/>
              </a:spcBef>
              <a:spcAft>
                <a:spcPts val="0"/>
              </a:spcAft>
              <a:buClr>
                <a:schemeClr val="lt1"/>
              </a:buClr>
              <a:buSzPts val="6000"/>
              <a:buNone/>
              <a:defRPr sz="6000">
                <a:solidFill>
                  <a:schemeClr val="lt1"/>
                </a:solidFill>
              </a:defRPr>
            </a:lvl2pPr>
            <a:lvl3pPr lvl="2" rtl="0">
              <a:spcBef>
                <a:spcPts val="0"/>
              </a:spcBef>
              <a:spcAft>
                <a:spcPts val="0"/>
              </a:spcAft>
              <a:buClr>
                <a:schemeClr val="lt1"/>
              </a:buClr>
              <a:buSzPts val="6000"/>
              <a:buNone/>
              <a:defRPr sz="6000">
                <a:solidFill>
                  <a:schemeClr val="lt1"/>
                </a:solidFill>
              </a:defRPr>
            </a:lvl3pPr>
            <a:lvl4pPr lvl="3" rtl="0">
              <a:spcBef>
                <a:spcPts val="0"/>
              </a:spcBef>
              <a:spcAft>
                <a:spcPts val="0"/>
              </a:spcAft>
              <a:buClr>
                <a:schemeClr val="lt1"/>
              </a:buClr>
              <a:buSzPts val="6000"/>
              <a:buNone/>
              <a:defRPr sz="6000">
                <a:solidFill>
                  <a:schemeClr val="lt1"/>
                </a:solidFill>
              </a:defRPr>
            </a:lvl4pPr>
            <a:lvl5pPr lvl="4" rtl="0">
              <a:spcBef>
                <a:spcPts val="0"/>
              </a:spcBef>
              <a:spcAft>
                <a:spcPts val="0"/>
              </a:spcAft>
              <a:buClr>
                <a:schemeClr val="lt1"/>
              </a:buClr>
              <a:buSzPts val="6000"/>
              <a:buNone/>
              <a:defRPr sz="6000">
                <a:solidFill>
                  <a:schemeClr val="lt1"/>
                </a:solidFill>
              </a:defRPr>
            </a:lvl5pPr>
            <a:lvl6pPr lvl="5" rtl="0">
              <a:spcBef>
                <a:spcPts val="0"/>
              </a:spcBef>
              <a:spcAft>
                <a:spcPts val="0"/>
              </a:spcAft>
              <a:buClr>
                <a:schemeClr val="lt1"/>
              </a:buClr>
              <a:buSzPts val="6000"/>
              <a:buNone/>
              <a:defRPr sz="6000">
                <a:solidFill>
                  <a:schemeClr val="lt1"/>
                </a:solidFill>
              </a:defRPr>
            </a:lvl6pPr>
            <a:lvl7pPr lvl="6" rtl="0">
              <a:spcBef>
                <a:spcPts val="0"/>
              </a:spcBef>
              <a:spcAft>
                <a:spcPts val="0"/>
              </a:spcAft>
              <a:buClr>
                <a:schemeClr val="lt1"/>
              </a:buClr>
              <a:buSzPts val="6000"/>
              <a:buNone/>
              <a:defRPr sz="6000">
                <a:solidFill>
                  <a:schemeClr val="lt1"/>
                </a:solidFill>
              </a:defRPr>
            </a:lvl7pPr>
            <a:lvl8pPr lvl="7" rtl="0">
              <a:spcBef>
                <a:spcPts val="0"/>
              </a:spcBef>
              <a:spcAft>
                <a:spcPts val="0"/>
              </a:spcAft>
              <a:buClr>
                <a:schemeClr val="lt1"/>
              </a:buClr>
              <a:buSzPts val="6000"/>
              <a:buNone/>
              <a:defRPr sz="6000">
                <a:solidFill>
                  <a:schemeClr val="lt1"/>
                </a:solidFill>
              </a:defRPr>
            </a:lvl8pPr>
            <a:lvl9pPr lvl="8" rtl="0">
              <a:spcBef>
                <a:spcPts val="0"/>
              </a:spcBef>
              <a:spcAft>
                <a:spcPts val="0"/>
              </a:spcAft>
              <a:buClr>
                <a:schemeClr val="lt1"/>
              </a:buClr>
              <a:buSzPts val="6000"/>
              <a:buNone/>
              <a:defRPr sz="6000">
                <a:solidFill>
                  <a:schemeClr val="lt1"/>
                </a:solidFill>
              </a:defRPr>
            </a:lvl9pPr>
          </a:lstStyle>
          <a:p/>
        </p:txBody>
      </p:sp>
      <p:sp>
        <p:nvSpPr>
          <p:cNvPr id="42" name="Google Shape;42;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3" name="Shape 43"/>
        <p:cNvGrpSpPr/>
        <p:nvPr/>
      </p:nvGrpSpPr>
      <p:grpSpPr>
        <a:xfrm>
          <a:off x="0" y="0"/>
          <a:ext cx="0" cy="0"/>
          <a:chOff x="0" y="0"/>
          <a:chExt cx="0" cy="0"/>
        </a:xfrm>
      </p:grpSpPr>
      <p:sp>
        <p:nvSpPr>
          <p:cNvPr id="44" name="Google Shape;44;p9"/>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iz">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b="1" sz="3600">
                <a:solidFill>
                  <a:schemeClr val="lt1"/>
                </a:solidFill>
              </a:defRPr>
            </a:lvl1pPr>
            <a:lvl2pPr lvl="1" rtl="0">
              <a:spcBef>
                <a:spcPts val="0"/>
              </a:spcBef>
              <a:spcAft>
                <a:spcPts val="0"/>
              </a:spcAft>
              <a:buClr>
                <a:schemeClr val="lt1"/>
              </a:buClr>
              <a:buSzPts val="3600"/>
              <a:buNone/>
              <a:defRPr b="1" sz="3600">
                <a:solidFill>
                  <a:schemeClr val="lt1"/>
                </a:solidFill>
              </a:defRPr>
            </a:lvl2pPr>
            <a:lvl3pPr lvl="2" rtl="0">
              <a:spcBef>
                <a:spcPts val="0"/>
              </a:spcBef>
              <a:spcAft>
                <a:spcPts val="0"/>
              </a:spcAft>
              <a:buClr>
                <a:schemeClr val="lt1"/>
              </a:buClr>
              <a:buSzPts val="3600"/>
              <a:buNone/>
              <a:defRPr b="1" sz="3600">
                <a:solidFill>
                  <a:schemeClr val="lt1"/>
                </a:solidFill>
              </a:defRPr>
            </a:lvl3pPr>
            <a:lvl4pPr lvl="3" rtl="0">
              <a:spcBef>
                <a:spcPts val="0"/>
              </a:spcBef>
              <a:spcAft>
                <a:spcPts val="0"/>
              </a:spcAft>
              <a:buClr>
                <a:schemeClr val="lt1"/>
              </a:buClr>
              <a:buSzPts val="3600"/>
              <a:buNone/>
              <a:defRPr b="1" sz="3600">
                <a:solidFill>
                  <a:schemeClr val="lt1"/>
                </a:solidFill>
              </a:defRPr>
            </a:lvl4pPr>
            <a:lvl5pPr lvl="4" rtl="0">
              <a:spcBef>
                <a:spcPts val="0"/>
              </a:spcBef>
              <a:spcAft>
                <a:spcPts val="0"/>
              </a:spcAft>
              <a:buClr>
                <a:schemeClr val="lt1"/>
              </a:buClr>
              <a:buSzPts val="3600"/>
              <a:buNone/>
              <a:defRPr b="1" sz="3600">
                <a:solidFill>
                  <a:schemeClr val="lt1"/>
                </a:solidFill>
              </a:defRPr>
            </a:lvl5pPr>
            <a:lvl6pPr lvl="5" rtl="0">
              <a:spcBef>
                <a:spcPts val="0"/>
              </a:spcBef>
              <a:spcAft>
                <a:spcPts val="0"/>
              </a:spcAft>
              <a:buClr>
                <a:schemeClr val="lt1"/>
              </a:buClr>
              <a:buSzPts val="3600"/>
              <a:buNone/>
              <a:defRPr b="1" sz="3600">
                <a:solidFill>
                  <a:schemeClr val="lt1"/>
                </a:solidFill>
              </a:defRPr>
            </a:lvl6pPr>
            <a:lvl7pPr lvl="6" rtl="0">
              <a:spcBef>
                <a:spcPts val="0"/>
              </a:spcBef>
              <a:spcAft>
                <a:spcPts val="0"/>
              </a:spcAft>
              <a:buClr>
                <a:schemeClr val="lt1"/>
              </a:buClr>
              <a:buSzPts val="3600"/>
              <a:buNone/>
              <a:defRPr b="1" sz="3600">
                <a:solidFill>
                  <a:schemeClr val="lt1"/>
                </a:solidFill>
              </a:defRPr>
            </a:lvl7pPr>
            <a:lvl8pPr lvl="7" rtl="0">
              <a:spcBef>
                <a:spcPts val="0"/>
              </a:spcBef>
              <a:spcAft>
                <a:spcPts val="0"/>
              </a:spcAft>
              <a:buClr>
                <a:schemeClr val="lt1"/>
              </a:buClr>
              <a:buSzPts val="3600"/>
              <a:buNone/>
              <a:defRPr b="1" sz="3600">
                <a:solidFill>
                  <a:schemeClr val="lt1"/>
                </a:solidFill>
              </a:defRPr>
            </a:lvl8pPr>
            <a:lvl9pPr lvl="8" rtl="0">
              <a:spcBef>
                <a:spcPts val="0"/>
              </a:spcBef>
              <a:spcAft>
                <a:spcPts val="0"/>
              </a:spcAft>
              <a:buClr>
                <a:schemeClr val="lt1"/>
              </a:buClr>
              <a:buSzPts val="3600"/>
              <a:buNone/>
              <a:defRPr b="1" sz="3600">
                <a:solidFill>
                  <a:schemeClr val="lt1"/>
                </a:solidFill>
              </a:defRPr>
            </a:lvl9pPr>
          </a:lstStyle>
          <a:p/>
        </p:txBody>
      </p:sp>
      <p:sp>
        <p:nvSpPr>
          <p:cNvPr id="7" name="Google Shape;7;p1"/>
          <p:cNvSpPr txBox="1"/>
          <p:nvPr>
            <p:ph idx="1" type="body"/>
          </p:nvPr>
        </p:nvSpPr>
        <p:spPr>
          <a:xfrm>
            <a:off x="457200" y="1200150"/>
            <a:ext cx="8229600" cy="37257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Clr>
                <a:schemeClr val="dk1"/>
              </a:buClr>
              <a:buSzPts val="3000"/>
              <a:buChar char="●"/>
              <a:defRPr sz="3000">
                <a:solidFill>
                  <a:schemeClr val="dk1"/>
                </a:solidFill>
              </a:defRPr>
            </a:lvl1pPr>
            <a:lvl2pPr indent="-381000" lvl="1" marL="914400" rtl="0">
              <a:spcBef>
                <a:spcPts val="0"/>
              </a:spcBef>
              <a:spcAft>
                <a:spcPts val="0"/>
              </a:spcAft>
              <a:buClr>
                <a:schemeClr val="dk1"/>
              </a:buClr>
              <a:buSzPts val="2400"/>
              <a:buChar char="○"/>
              <a:defRPr sz="2400">
                <a:solidFill>
                  <a:schemeClr val="dk1"/>
                </a:solidFill>
              </a:defRPr>
            </a:lvl2pPr>
            <a:lvl3pPr indent="-381000" lvl="2" marL="1371600" rtl="0">
              <a:spcBef>
                <a:spcPts val="0"/>
              </a:spcBef>
              <a:spcAft>
                <a:spcPts val="0"/>
              </a:spcAft>
              <a:buClr>
                <a:schemeClr val="dk1"/>
              </a:buClr>
              <a:buSzPts val="2400"/>
              <a:buChar char="■"/>
              <a:defRPr sz="2400">
                <a:solidFill>
                  <a:schemeClr val="dk1"/>
                </a:solidFill>
              </a:defRPr>
            </a:lvl3pPr>
            <a:lvl4pPr indent="-342900" lvl="3" marL="1828800" rtl="0">
              <a:spcBef>
                <a:spcPts val="0"/>
              </a:spcBef>
              <a:spcAft>
                <a:spcPts val="0"/>
              </a:spcAft>
              <a:buClr>
                <a:schemeClr val="dk1"/>
              </a:buClr>
              <a:buSzPts val="1800"/>
              <a:buChar char="●"/>
              <a:defRPr sz="1800">
                <a:solidFill>
                  <a:schemeClr val="dk1"/>
                </a:solidFill>
              </a:defRPr>
            </a:lvl4pPr>
            <a:lvl5pPr indent="-342900" lvl="4" marL="2286000" rtl="0">
              <a:spcBef>
                <a:spcPts val="0"/>
              </a:spcBef>
              <a:spcAft>
                <a:spcPts val="0"/>
              </a:spcAft>
              <a:buClr>
                <a:schemeClr val="dk1"/>
              </a:buClr>
              <a:buSzPts val="1800"/>
              <a:buChar char="○"/>
              <a:defRPr sz="1800">
                <a:solidFill>
                  <a:schemeClr val="dk1"/>
                </a:solidFill>
              </a:defRPr>
            </a:lvl5pPr>
            <a:lvl6pPr indent="-342900" lvl="5" marL="2743200" rtl="0">
              <a:spcBef>
                <a:spcPts val="0"/>
              </a:spcBef>
              <a:spcAft>
                <a:spcPts val="0"/>
              </a:spcAft>
              <a:buClr>
                <a:schemeClr val="dk1"/>
              </a:buClr>
              <a:buSzPts val="1800"/>
              <a:buChar char="■"/>
              <a:defRPr sz="1800">
                <a:solidFill>
                  <a:schemeClr val="dk1"/>
                </a:solidFill>
              </a:defRPr>
            </a:lvl6pPr>
            <a:lvl7pPr indent="-342900" lvl="6" marL="3200400" rtl="0">
              <a:spcBef>
                <a:spcPts val="0"/>
              </a:spcBef>
              <a:spcAft>
                <a:spcPts val="0"/>
              </a:spcAft>
              <a:buClr>
                <a:schemeClr val="dk1"/>
              </a:buClr>
              <a:buSzPts val="1800"/>
              <a:buChar char="●"/>
              <a:defRPr sz="1800">
                <a:solidFill>
                  <a:schemeClr val="dk1"/>
                </a:solidFill>
              </a:defRPr>
            </a:lvl7pPr>
            <a:lvl8pPr indent="-342900" lvl="7" marL="3657600" rtl="0">
              <a:spcBef>
                <a:spcPts val="0"/>
              </a:spcBef>
              <a:spcAft>
                <a:spcPts val="0"/>
              </a:spcAft>
              <a:buClr>
                <a:schemeClr val="dk1"/>
              </a:buClr>
              <a:buSzPts val="1800"/>
              <a:buChar char="○"/>
              <a:defRPr sz="1800">
                <a:solidFill>
                  <a:schemeClr val="dk1"/>
                </a:solidFill>
              </a:defRPr>
            </a:lvl8pPr>
            <a:lvl9pPr indent="-342900" lvl="8" marL="4114800" rtl="0">
              <a:spcBef>
                <a:spcPts val="0"/>
              </a:spcBef>
              <a:spcAft>
                <a:spcPts val="0"/>
              </a:spcAft>
              <a:buClr>
                <a:schemeClr val="dk1"/>
              </a:buClr>
              <a:buSzPts val="1800"/>
              <a:buChar char="■"/>
              <a:defRPr sz="1800">
                <a:solidFill>
                  <a:schemeClr val="dk1"/>
                </a:solidFill>
              </a:defRPr>
            </a:lvl9pPr>
          </a:lstStyle>
          <a:p/>
        </p:txBody>
      </p:sp>
      <p:sp>
        <p:nvSpPr>
          <p:cNvPr id="8" name="Google Shape;8;p1"/>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lgn="r">
              <a:buNone/>
              <a:defRPr sz="1300">
                <a:solidFill>
                  <a:schemeClr val="dk2"/>
                </a:solidFill>
              </a:defRPr>
            </a:lvl1pPr>
            <a:lvl2pPr lvl="1" rtl="0" algn="r">
              <a:buNone/>
              <a:defRPr sz="1300">
                <a:solidFill>
                  <a:schemeClr val="dk2"/>
                </a:solidFill>
              </a:defRPr>
            </a:lvl2pPr>
            <a:lvl3pPr lvl="2" rtl="0" algn="r">
              <a:buNone/>
              <a:defRPr sz="1300">
                <a:solidFill>
                  <a:schemeClr val="dk2"/>
                </a:solidFill>
              </a:defRPr>
            </a:lvl3pPr>
            <a:lvl4pPr lvl="3" rtl="0" algn="r">
              <a:buNone/>
              <a:defRPr sz="1300">
                <a:solidFill>
                  <a:schemeClr val="dk2"/>
                </a:solidFill>
              </a:defRPr>
            </a:lvl4pPr>
            <a:lvl5pPr lvl="4" rtl="0" algn="r">
              <a:buNone/>
              <a:defRPr sz="1300">
                <a:solidFill>
                  <a:schemeClr val="dk2"/>
                </a:solidFill>
              </a:defRPr>
            </a:lvl5pPr>
            <a:lvl6pPr lvl="5" rtl="0" algn="r">
              <a:buNone/>
              <a:defRPr sz="1300">
                <a:solidFill>
                  <a:schemeClr val="dk2"/>
                </a:solidFill>
              </a:defRPr>
            </a:lvl6pPr>
            <a:lvl7pPr lvl="6" rtl="0" algn="r">
              <a:buNone/>
              <a:defRPr sz="1300">
                <a:solidFill>
                  <a:schemeClr val="dk2"/>
                </a:solidFill>
              </a:defRPr>
            </a:lvl7pPr>
            <a:lvl8pPr lvl="7" rtl="0" algn="r">
              <a:buNone/>
              <a:defRPr sz="1300">
                <a:solidFill>
                  <a:schemeClr val="dk2"/>
                </a:solidFill>
              </a:defRPr>
            </a:lvl8pPr>
            <a:lvl9pPr lvl="8" rtl="0" algn="r">
              <a:buNone/>
              <a:defRPr sz="13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hyperlink" Target="https://goo.gl/JTVxB7"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hyperlink" Target="https://goo.gl/XZn1id"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hyperlink" Target="https://online.stanford.edu/courses/som-y0010-writing-science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10"/>
          <p:cNvSpPr txBox="1"/>
          <p:nvPr>
            <p:ph type="ctrTitle"/>
          </p:nvPr>
        </p:nvSpPr>
        <p:spPr>
          <a:xfrm>
            <a:off x="685800" y="1867781"/>
            <a:ext cx="7772400" cy="1648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pgr week</a:t>
            </a:r>
            <a:endParaRPr/>
          </a:p>
        </p:txBody>
      </p:sp>
      <p:sp>
        <p:nvSpPr>
          <p:cNvPr id="51" name="Google Shape;51;p10"/>
          <p:cNvSpPr txBox="1"/>
          <p:nvPr>
            <p:ph idx="1" type="subTitle"/>
          </p:nvPr>
        </p:nvSpPr>
        <p:spPr>
          <a:xfrm>
            <a:off x="685800" y="3627027"/>
            <a:ext cx="7772400" cy="77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Sentences and Paragraphs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1"/>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How to improve your writing</a:t>
            </a:r>
            <a:endParaRPr/>
          </a:p>
        </p:txBody>
      </p:sp>
      <p:sp>
        <p:nvSpPr>
          <p:cNvPr id="57" name="Google Shape;57;p11"/>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419100" lvl="0" marL="457200" rtl="0" algn="l">
              <a:spcBef>
                <a:spcPts val="600"/>
              </a:spcBef>
              <a:spcAft>
                <a:spcPts val="0"/>
              </a:spcAft>
              <a:buSzPts val="3000"/>
              <a:buChar char="●"/>
            </a:pPr>
            <a:r>
              <a:rPr lang="en-GB"/>
              <a:t>Reduce clutter</a:t>
            </a:r>
            <a:endParaRPr/>
          </a:p>
          <a:p>
            <a:pPr indent="-419100" lvl="0" marL="457200" rtl="0" algn="l">
              <a:spcBef>
                <a:spcPts val="0"/>
              </a:spcBef>
              <a:spcAft>
                <a:spcPts val="0"/>
              </a:spcAft>
              <a:buSzPts val="3000"/>
              <a:buChar char="●"/>
            </a:pPr>
            <a:r>
              <a:rPr lang="en-GB"/>
              <a:t>Match number of subject and verb</a:t>
            </a:r>
            <a:endParaRPr/>
          </a:p>
          <a:p>
            <a:pPr indent="-419100" lvl="0" marL="457200" rtl="0" algn="l">
              <a:spcBef>
                <a:spcPts val="0"/>
              </a:spcBef>
              <a:spcAft>
                <a:spcPts val="0"/>
              </a:spcAft>
              <a:buSzPts val="3000"/>
              <a:buChar char="●"/>
            </a:pPr>
            <a:r>
              <a:rPr lang="en-GB"/>
              <a:t>Use strong verbs</a:t>
            </a:r>
            <a:endParaRPr/>
          </a:p>
          <a:p>
            <a:pPr indent="-419100" lvl="0" marL="457200" rtl="0" algn="l">
              <a:spcBef>
                <a:spcPts val="0"/>
              </a:spcBef>
              <a:spcAft>
                <a:spcPts val="0"/>
              </a:spcAft>
              <a:buSzPts val="3000"/>
              <a:buChar char="●"/>
            </a:pPr>
            <a:r>
              <a:rPr lang="en-GB"/>
              <a:t>Avoid passive voice</a:t>
            </a:r>
            <a:endParaRPr/>
          </a:p>
          <a:p>
            <a:pPr indent="-419100" lvl="0" marL="457200" rtl="0" algn="l">
              <a:spcBef>
                <a:spcPts val="0"/>
              </a:spcBef>
              <a:spcAft>
                <a:spcPts val="0"/>
              </a:spcAft>
              <a:buSzPts val="3000"/>
              <a:buChar char="●"/>
            </a:pPr>
            <a:r>
              <a:rPr lang="en-GB"/>
              <a:t>Identify paragraph boundaries</a:t>
            </a:r>
            <a:endParaRPr/>
          </a:p>
          <a:p>
            <a:pPr indent="-419100" lvl="0" marL="457200" rtl="0" algn="l">
              <a:spcBef>
                <a:spcPts val="0"/>
              </a:spcBef>
              <a:spcAft>
                <a:spcPts val="0"/>
              </a:spcAft>
              <a:buSzPts val="3000"/>
              <a:buChar char="●"/>
            </a:pPr>
            <a:r>
              <a:rPr lang="en-GB"/>
              <a:t>Use structure to clarify roles and avoid repetition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2"/>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Reduce clutter – hand waving</a:t>
            </a:r>
            <a:endParaRPr/>
          </a:p>
        </p:txBody>
      </p:sp>
      <p:sp>
        <p:nvSpPr>
          <p:cNvPr id="63" name="Google Shape;63;p12"/>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381000" lvl="0" marL="457200" rtl="0" algn="l">
              <a:spcBef>
                <a:spcPts val="600"/>
              </a:spcBef>
              <a:spcAft>
                <a:spcPts val="0"/>
              </a:spcAft>
              <a:buSzPts val="2400"/>
              <a:buChar char="●"/>
            </a:pPr>
            <a:r>
              <a:rPr lang="en-GB" sz="2400"/>
              <a:t>Avoid starting with vague</a:t>
            </a:r>
            <a:r>
              <a:rPr lang="en-GB" sz="2400"/>
              <a:t>ness</a:t>
            </a:r>
            <a:r>
              <a:rPr lang="en-GB" sz="2400"/>
              <a:t> and hand</a:t>
            </a:r>
            <a:r>
              <a:rPr lang="en-GB" sz="2400"/>
              <a:t>-</a:t>
            </a:r>
            <a:r>
              <a:rPr lang="en-GB" sz="2400"/>
              <a:t>waving</a:t>
            </a:r>
            <a:endParaRPr sz="2400"/>
          </a:p>
          <a:p>
            <a:pPr indent="-381000" lvl="1" marL="914400" rtl="0" algn="l">
              <a:spcBef>
                <a:spcPts val="0"/>
              </a:spcBef>
              <a:spcAft>
                <a:spcPts val="0"/>
              </a:spcAft>
              <a:buSzPts val="2400"/>
              <a:buChar char="○"/>
            </a:pPr>
            <a:r>
              <a:rPr lang="en-GB"/>
              <a:t>“</a:t>
            </a:r>
            <a:r>
              <a:rPr lang="en-GB">
                <a:latin typeface="Caveat"/>
                <a:ea typeface="Caveat"/>
                <a:cs typeface="Caveat"/>
                <a:sym typeface="Caveat"/>
              </a:rPr>
              <a:t>Nowadays, sensors are able to gather data everywhere from businesses, infrastructures, our environment, and even ourselves</a:t>
            </a:r>
            <a:r>
              <a:rPr lang="en-GB"/>
              <a:t>”</a:t>
            </a:r>
            <a:endParaRPr/>
          </a:p>
          <a:p>
            <a:pPr indent="-381000" lvl="1" marL="914400" rtl="0" algn="l">
              <a:spcBef>
                <a:spcPts val="0"/>
              </a:spcBef>
              <a:spcAft>
                <a:spcPts val="0"/>
              </a:spcAft>
              <a:buSzPts val="2400"/>
              <a:buChar char="○"/>
            </a:pPr>
            <a:r>
              <a:rPr lang="en-GB"/>
              <a:t>“</a:t>
            </a:r>
            <a:r>
              <a:rPr lang="en-GB">
                <a:latin typeface="Caveat"/>
                <a:ea typeface="Caveat"/>
                <a:cs typeface="Caveat"/>
                <a:sym typeface="Caveat"/>
              </a:rPr>
              <a:t>Nowadays, big data and internet of things (IoT) are prime factors of concern for any distributed system application</a:t>
            </a:r>
            <a:r>
              <a:rPr lang="en-GB"/>
              <a:t>”</a:t>
            </a:r>
            <a:endParaRPr/>
          </a:p>
          <a:p>
            <a:pPr indent="-381000" lvl="1" marL="914400" rtl="0" algn="l">
              <a:spcBef>
                <a:spcPts val="0"/>
              </a:spcBef>
              <a:spcAft>
                <a:spcPts val="0"/>
              </a:spcAft>
              <a:buSzPts val="2400"/>
              <a:buChar char="○"/>
            </a:pPr>
            <a:r>
              <a:rPr lang="en-GB"/>
              <a:t>“</a:t>
            </a:r>
            <a:r>
              <a:rPr lang="en-GB">
                <a:latin typeface="Caveat"/>
                <a:ea typeface="Caveat"/>
                <a:cs typeface="Caveat"/>
                <a:sym typeface="Caveat"/>
              </a:rPr>
              <a:t>Every day the need for objects to be smart, with enough intelligence and sensors to perform required operations, increases.</a:t>
            </a:r>
            <a:r>
              <a:rPr lang="en-GB"/>
              <a:t>”</a:t>
            </a:r>
            <a:endParaRPr/>
          </a:p>
          <a:p>
            <a:pPr indent="-381000" lvl="0" marL="457200" rtl="0" algn="l">
              <a:spcBef>
                <a:spcPts val="0"/>
              </a:spcBef>
              <a:spcAft>
                <a:spcPts val="0"/>
              </a:spcAft>
              <a:buSzPts val="2400"/>
              <a:buChar char="●"/>
            </a:pPr>
            <a:r>
              <a:rPr lang="en-GB" sz="2400"/>
              <a:t>In particular, watch for unsubstantiated statements about things being only “nowadays” or “increasing in interest”</a:t>
            </a: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3"/>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Reduce clutter – clearing the throat</a:t>
            </a:r>
            <a:endParaRPr/>
          </a:p>
        </p:txBody>
      </p:sp>
      <p:sp>
        <p:nvSpPr>
          <p:cNvPr id="69" name="Google Shape;69;p13"/>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381000" lvl="0" marL="457200" rtl="0" algn="l">
              <a:spcBef>
                <a:spcPts val="600"/>
              </a:spcBef>
              <a:spcAft>
                <a:spcPts val="0"/>
              </a:spcAft>
              <a:buSzPts val="2400"/>
              <a:buChar char="●"/>
            </a:pPr>
            <a:r>
              <a:rPr lang="en-GB" sz="2400"/>
              <a:t>Some writers feel it necessary to include a short prelude:</a:t>
            </a:r>
            <a:endParaRPr sz="2400"/>
          </a:p>
          <a:p>
            <a:pPr indent="-381000" lvl="1" marL="914400" rtl="0" algn="l">
              <a:spcBef>
                <a:spcPts val="0"/>
              </a:spcBef>
              <a:spcAft>
                <a:spcPts val="0"/>
              </a:spcAft>
              <a:buSzPts val="2400"/>
              <a:buFont typeface="Caveat"/>
              <a:buChar char="○"/>
            </a:pPr>
            <a:r>
              <a:rPr lang="en-GB">
                <a:latin typeface="Caveat"/>
                <a:ea typeface="Caveat"/>
                <a:cs typeface="Caveat"/>
                <a:sym typeface="Caveat"/>
              </a:rPr>
              <a:t>“As a matter of fact, …”</a:t>
            </a:r>
            <a:endParaRPr>
              <a:latin typeface="Caveat"/>
              <a:ea typeface="Caveat"/>
              <a:cs typeface="Caveat"/>
              <a:sym typeface="Caveat"/>
            </a:endParaRPr>
          </a:p>
          <a:p>
            <a:pPr indent="-381000" lvl="1" marL="914400" rtl="0" algn="l">
              <a:spcBef>
                <a:spcPts val="0"/>
              </a:spcBef>
              <a:spcAft>
                <a:spcPts val="0"/>
              </a:spcAft>
              <a:buSzPts val="2400"/>
              <a:buFont typeface="Caveat"/>
              <a:buChar char="○"/>
            </a:pPr>
            <a:r>
              <a:rPr lang="en-GB">
                <a:latin typeface="Caveat"/>
                <a:ea typeface="Caveat"/>
                <a:cs typeface="Caveat"/>
                <a:sym typeface="Caveat"/>
              </a:rPr>
              <a:t>“In order to …”</a:t>
            </a:r>
            <a:endParaRPr>
              <a:latin typeface="Caveat"/>
              <a:ea typeface="Caveat"/>
              <a:cs typeface="Caveat"/>
              <a:sym typeface="Caveat"/>
            </a:endParaRPr>
          </a:p>
          <a:p>
            <a:pPr indent="-381000" lvl="1" marL="914400" rtl="0" algn="l">
              <a:spcBef>
                <a:spcPts val="0"/>
              </a:spcBef>
              <a:spcAft>
                <a:spcPts val="0"/>
              </a:spcAft>
              <a:buSzPts val="2400"/>
              <a:buFont typeface="Caveat"/>
              <a:buChar char="○"/>
            </a:pPr>
            <a:r>
              <a:rPr lang="en-GB">
                <a:latin typeface="Caveat"/>
                <a:ea typeface="Caveat"/>
                <a:cs typeface="Caveat"/>
                <a:sym typeface="Caveat"/>
              </a:rPr>
              <a:t>“Under the circumstances …”</a:t>
            </a:r>
            <a:endParaRPr>
              <a:latin typeface="Caveat"/>
              <a:ea typeface="Caveat"/>
              <a:cs typeface="Caveat"/>
              <a:sym typeface="Caveat"/>
            </a:endParaRPr>
          </a:p>
          <a:p>
            <a:pPr indent="-381000" lvl="1" marL="914400" rtl="0" algn="l">
              <a:spcBef>
                <a:spcPts val="0"/>
              </a:spcBef>
              <a:spcAft>
                <a:spcPts val="0"/>
              </a:spcAft>
              <a:buSzPts val="2400"/>
              <a:buFont typeface="Caveat"/>
              <a:buChar char="○"/>
            </a:pPr>
            <a:r>
              <a:rPr lang="en-GB">
                <a:latin typeface="Caveat"/>
                <a:ea typeface="Caveat"/>
                <a:cs typeface="Caveat"/>
                <a:sym typeface="Caveat"/>
              </a:rPr>
              <a:t>“It should be noted that …”</a:t>
            </a:r>
            <a:endParaRPr/>
          </a:p>
          <a:p>
            <a:pPr indent="-381000" lvl="0" marL="457200" rtl="0" algn="l">
              <a:spcBef>
                <a:spcPts val="0"/>
              </a:spcBef>
              <a:spcAft>
                <a:spcPts val="0"/>
              </a:spcAft>
              <a:buSzPts val="2400"/>
              <a:buChar char="●"/>
            </a:pPr>
            <a:r>
              <a:rPr lang="en-GB" sz="2400"/>
              <a:t>These added phrases can usually be omitted without changing the meaning of the sentence</a:t>
            </a:r>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4"/>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Reduce clutter – qualifiers and hyperbole</a:t>
            </a:r>
            <a:endParaRPr/>
          </a:p>
        </p:txBody>
      </p:sp>
      <p:sp>
        <p:nvSpPr>
          <p:cNvPr id="75" name="Google Shape;75;p14"/>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381000" lvl="0" marL="457200" rtl="0" algn="l">
              <a:spcBef>
                <a:spcPts val="600"/>
              </a:spcBef>
              <a:spcAft>
                <a:spcPts val="0"/>
              </a:spcAft>
              <a:buSzPts val="2400"/>
              <a:buChar char="●"/>
            </a:pPr>
            <a:r>
              <a:rPr lang="en-GB" sz="2400"/>
              <a:t>Avoid “very”, “little”, “pretty”</a:t>
            </a:r>
            <a:endParaRPr sz="2400"/>
          </a:p>
          <a:p>
            <a:pPr indent="-381000" lvl="1" marL="914400" rtl="0" algn="l">
              <a:spcBef>
                <a:spcPts val="0"/>
              </a:spcBef>
              <a:spcAft>
                <a:spcPts val="0"/>
              </a:spcAft>
              <a:buSzPts val="2400"/>
              <a:buChar char="○"/>
            </a:pPr>
            <a:r>
              <a:rPr lang="en-GB"/>
              <a:t>Can usually be deleted without changing the meaning (pretty much)</a:t>
            </a:r>
            <a:endParaRPr/>
          </a:p>
          <a:p>
            <a:pPr indent="-381000" lvl="0" marL="457200" rtl="0" algn="l">
              <a:spcBef>
                <a:spcPts val="0"/>
              </a:spcBef>
              <a:spcAft>
                <a:spcPts val="0"/>
              </a:spcAft>
              <a:buSzPts val="2400"/>
              <a:buChar char="●"/>
            </a:pPr>
            <a:r>
              <a:rPr lang="en-GB" sz="2400"/>
              <a:t>Watch for hyperbole</a:t>
            </a:r>
            <a:endParaRPr sz="2400"/>
          </a:p>
          <a:p>
            <a:pPr indent="-342900" lvl="1" marL="914400" rtl="0" algn="l">
              <a:spcBef>
                <a:spcPts val="0"/>
              </a:spcBef>
              <a:spcAft>
                <a:spcPts val="0"/>
              </a:spcAft>
              <a:buSzPts val="1800"/>
              <a:buChar char="○"/>
            </a:pPr>
            <a:r>
              <a:rPr lang="en-GB" sz="1800"/>
              <a:t>Check for ”highly”, “extremely”, “fundamentally ” and similar</a:t>
            </a:r>
            <a:endParaRPr sz="1800"/>
          </a:p>
          <a:p>
            <a:pPr indent="-381000" lvl="0" marL="457200" rtl="0" algn="l">
              <a:spcBef>
                <a:spcPts val="0"/>
              </a:spcBef>
              <a:spcAft>
                <a:spcPts val="0"/>
              </a:spcAft>
              <a:buSzPts val="2400"/>
              <a:buChar char="●"/>
            </a:pPr>
            <a:r>
              <a:rPr lang="en-GB" sz="2400"/>
              <a:t> Example:</a:t>
            </a:r>
            <a:endParaRPr sz="2400"/>
          </a:p>
          <a:p>
            <a:pPr indent="-381000" lvl="1" marL="914400" rtl="0" algn="l">
              <a:spcBef>
                <a:spcPts val="0"/>
              </a:spcBef>
              <a:spcAft>
                <a:spcPts val="0"/>
              </a:spcAft>
              <a:buSzPts val="2400"/>
              <a:buFont typeface="Caveat"/>
              <a:buChar char="○"/>
            </a:pPr>
            <a:r>
              <a:rPr lang="en-GB">
                <a:latin typeface="Caveat"/>
                <a:ea typeface="Caveat"/>
                <a:cs typeface="Caveat"/>
                <a:sym typeface="Caveat"/>
              </a:rPr>
              <a:t>Frequency domain analysis of these images will generate a very significant results to understand each class very accurately contributing in improved classification results.</a:t>
            </a:r>
            <a:endParaRPr>
              <a:latin typeface="Caveat"/>
              <a:ea typeface="Caveat"/>
              <a:cs typeface="Caveat"/>
              <a:sym typeface="Cave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Match number of subject and verb</a:t>
            </a:r>
            <a:endParaRPr/>
          </a:p>
        </p:txBody>
      </p:sp>
      <p:sp>
        <p:nvSpPr>
          <p:cNvPr id="81" name="Google Shape;81;p15"/>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0" lvl="0" marL="0" rtl="0" algn="l">
              <a:spcBef>
                <a:spcPts val="600"/>
              </a:spcBef>
              <a:spcAft>
                <a:spcPts val="0"/>
              </a:spcAft>
              <a:buNone/>
            </a:pPr>
            <a:r>
              <a:rPr lang="en-GB"/>
              <a:t>The number of the subject should match the number of the verb</a:t>
            </a:r>
            <a:endParaRPr/>
          </a:p>
          <a:p>
            <a:pPr indent="0" lvl="0" marL="0" rtl="0" algn="l">
              <a:spcBef>
                <a:spcPts val="600"/>
              </a:spcBef>
              <a:spcAft>
                <a:spcPts val="0"/>
              </a:spcAft>
              <a:buClr>
                <a:schemeClr val="dk1"/>
              </a:buClr>
              <a:buSzPts val="2100"/>
              <a:buFont typeface="Arial"/>
              <a:buNone/>
            </a:pPr>
            <a:r>
              <a:rPr lang="en-GB">
                <a:latin typeface="Caveat"/>
                <a:ea typeface="Caveat"/>
                <a:cs typeface="Caveat"/>
                <a:sym typeface="Caveat"/>
              </a:rPr>
              <a:t>Philippines is one of the highly mineralized  country in the world</a:t>
            </a:r>
            <a:endParaRPr>
              <a:latin typeface="Caveat"/>
              <a:ea typeface="Caveat"/>
              <a:cs typeface="Caveat"/>
              <a:sym typeface="Caveat"/>
            </a:endParaRPr>
          </a:p>
          <a:p>
            <a:pPr indent="0" lvl="0" marL="0" rtl="0" algn="l">
              <a:spcBef>
                <a:spcPts val="600"/>
              </a:spcBef>
              <a:spcAft>
                <a:spcPts val="0"/>
              </a:spcAft>
              <a:buClr>
                <a:schemeClr val="dk1"/>
              </a:buClr>
              <a:buSzPts val="2100"/>
              <a:buFont typeface="Arial"/>
              <a:buNone/>
            </a:pPr>
            <a:r>
              <a:rPr lang="en-GB"/>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Match number of subject and verb</a:t>
            </a:r>
            <a:endParaRPr/>
          </a:p>
        </p:txBody>
      </p:sp>
      <p:sp>
        <p:nvSpPr>
          <p:cNvPr id="87" name="Google Shape;87;p16"/>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0" lvl="0" marL="0" rtl="0" algn="l">
              <a:spcBef>
                <a:spcPts val="600"/>
              </a:spcBef>
              <a:spcAft>
                <a:spcPts val="0"/>
              </a:spcAft>
              <a:buNone/>
            </a:pPr>
            <a:r>
              <a:rPr lang="en-GB"/>
              <a:t>The number of the subject should match the number of the verb</a:t>
            </a:r>
            <a:endParaRPr/>
          </a:p>
          <a:p>
            <a:pPr indent="0" lvl="0" marL="0" rtl="0" algn="l">
              <a:spcBef>
                <a:spcPts val="600"/>
              </a:spcBef>
              <a:spcAft>
                <a:spcPts val="0"/>
              </a:spcAft>
              <a:buClr>
                <a:schemeClr val="dk1"/>
              </a:buClr>
              <a:buSzPts val="2100"/>
              <a:buFont typeface="Arial"/>
              <a:buNone/>
            </a:pPr>
            <a:r>
              <a:rPr lang="en-GB">
                <a:latin typeface="Caveat"/>
                <a:ea typeface="Caveat"/>
                <a:cs typeface="Caveat"/>
                <a:sym typeface="Caveat"/>
              </a:rPr>
              <a:t>Philippines is one of the highly mineralized  country in the world</a:t>
            </a:r>
            <a:endParaRPr>
              <a:latin typeface="Caveat"/>
              <a:ea typeface="Caveat"/>
              <a:cs typeface="Caveat"/>
              <a:sym typeface="Caveat"/>
            </a:endParaRPr>
          </a:p>
          <a:p>
            <a:pPr indent="0" lvl="0" marL="457200" rtl="0" algn="l">
              <a:spcBef>
                <a:spcPts val="600"/>
              </a:spcBef>
              <a:spcAft>
                <a:spcPts val="0"/>
              </a:spcAft>
              <a:buClr>
                <a:schemeClr val="dk1"/>
              </a:buClr>
              <a:buSzPts val="2100"/>
              <a:buFont typeface="Arial"/>
              <a:buNone/>
            </a:pPr>
            <a:r>
              <a:rPr i="1" lang="en-GB"/>
              <a:t>The Philippines is one of the most mineral-rich countries in the world</a:t>
            </a:r>
            <a:endParaRPr i="1"/>
          </a:p>
          <a:p>
            <a:pPr indent="0" lvl="0" marL="0" rtl="0" algn="l">
              <a:spcBef>
                <a:spcPts val="600"/>
              </a:spcBef>
              <a:spcAft>
                <a:spcPts val="0"/>
              </a:spcAft>
              <a:buClr>
                <a:schemeClr val="dk1"/>
              </a:buClr>
              <a:buSzPts val="2100"/>
              <a:buFont typeface="Arial"/>
              <a:buNone/>
            </a:pPr>
            <a:r>
              <a:rPr lang="en-GB"/>
              <a:t>(Actually, they are the top producer of nickel)</a:t>
            </a:r>
            <a:endParaRPr/>
          </a:p>
          <a:p>
            <a:pPr indent="0" lvl="0" marL="0" rtl="0" algn="l">
              <a:spcBef>
                <a:spcPts val="600"/>
              </a:spcBef>
              <a:spcAft>
                <a:spcPts val="0"/>
              </a:spcAft>
              <a:buClr>
                <a:schemeClr val="dk1"/>
              </a:buClr>
              <a:buSzPts val="2100"/>
              <a:buFont typeface="Arial"/>
              <a:buNone/>
            </a:pPr>
            <a:r>
              <a:rPr lang="en-GB"/>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Match number of subject and verb</a:t>
            </a:r>
            <a:endParaRPr/>
          </a:p>
        </p:txBody>
      </p:sp>
      <p:sp>
        <p:nvSpPr>
          <p:cNvPr id="93" name="Google Shape;93;p17"/>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0" lvl="0" marL="0" rtl="0" algn="l">
              <a:spcBef>
                <a:spcPts val="600"/>
              </a:spcBef>
              <a:spcAft>
                <a:spcPts val="0"/>
              </a:spcAft>
              <a:buClr>
                <a:schemeClr val="dk1"/>
              </a:buClr>
              <a:buSzPts val="2100"/>
              <a:buFont typeface="Arial"/>
              <a:buNone/>
            </a:pPr>
            <a:r>
              <a:rPr lang="en-GB">
                <a:latin typeface="Caveat"/>
                <a:ea typeface="Caveat"/>
                <a:cs typeface="Caveat"/>
                <a:sym typeface="Caveat"/>
              </a:rPr>
              <a:t>He choose one of the desserts</a:t>
            </a:r>
            <a:endParaRPr>
              <a:latin typeface="Caveat"/>
              <a:ea typeface="Caveat"/>
              <a:cs typeface="Caveat"/>
              <a:sym typeface="Caveat"/>
            </a:endParaRPr>
          </a:p>
          <a:p>
            <a:pPr indent="0" lvl="0" marL="0" rtl="0" algn="l">
              <a:spcBef>
                <a:spcPts val="600"/>
              </a:spcBef>
              <a:spcAft>
                <a:spcPts val="0"/>
              </a:spcAft>
              <a:buClr>
                <a:schemeClr val="dk1"/>
              </a:buClr>
              <a:buSzPts val="2100"/>
              <a:buFont typeface="Arial"/>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Match number of subject and verb</a:t>
            </a:r>
            <a:endParaRPr/>
          </a:p>
        </p:txBody>
      </p:sp>
      <p:sp>
        <p:nvSpPr>
          <p:cNvPr id="99" name="Google Shape;99;p18"/>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0" lvl="0" marL="0" rtl="0" algn="l">
              <a:spcBef>
                <a:spcPts val="600"/>
              </a:spcBef>
              <a:spcAft>
                <a:spcPts val="0"/>
              </a:spcAft>
              <a:buClr>
                <a:schemeClr val="dk1"/>
              </a:buClr>
              <a:buSzPts val="2100"/>
              <a:buFont typeface="Arial"/>
              <a:buNone/>
            </a:pPr>
            <a:r>
              <a:rPr lang="en-GB">
                <a:latin typeface="Caveat"/>
                <a:ea typeface="Caveat"/>
                <a:cs typeface="Caveat"/>
                <a:sym typeface="Caveat"/>
              </a:rPr>
              <a:t>He choose one of the desserts</a:t>
            </a:r>
            <a:endParaRPr>
              <a:latin typeface="Caveat"/>
              <a:ea typeface="Caveat"/>
              <a:cs typeface="Caveat"/>
              <a:sym typeface="Caveat"/>
            </a:endParaRPr>
          </a:p>
          <a:p>
            <a:pPr indent="0" lvl="0" marL="0" rtl="0" algn="l">
              <a:spcBef>
                <a:spcPts val="600"/>
              </a:spcBef>
              <a:spcAft>
                <a:spcPts val="0"/>
              </a:spcAft>
              <a:buClr>
                <a:schemeClr val="dk1"/>
              </a:buClr>
              <a:buSzPts val="2100"/>
              <a:buFont typeface="Arial"/>
              <a:buNone/>
            </a:pPr>
            <a:r>
              <a:rPr lang="en-GB"/>
              <a:t>	</a:t>
            </a:r>
            <a:r>
              <a:rPr i="1" lang="en-GB"/>
              <a:t>He chooses one of the desserts</a:t>
            </a:r>
            <a:endParaRPr i="1"/>
          </a:p>
          <a:p>
            <a:pPr indent="0" lvl="0" marL="0" rtl="0" algn="l">
              <a:spcBef>
                <a:spcPts val="600"/>
              </a:spcBef>
              <a:spcAft>
                <a:spcPts val="0"/>
              </a:spcAft>
              <a:buClr>
                <a:schemeClr val="dk1"/>
              </a:buClr>
              <a:buSzPts val="2100"/>
              <a:buFont typeface="Arial"/>
              <a:buNone/>
            </a:pPr>
            <a:r>
              <a:rPr lang="en-GB"/>
              <a:t>Or</a:t>
            </a:r>
            <a:endParaRPr/>
          </a:p>
          <a:p>
            <a:pPr indent="0" lvl="0" marL="0" rtl="0" algn="l">
              <a:spcBef>
                <a:spcPts val="600"/>
              </a:spcBef>
              <a:spcAft>
                <a:spcPts val="0"/>
              </a:spcAft>
              <a:buClr>
                <a:schemeClr val="dk1"/>
              </a:buClr>
              <a:buSzPts val="2100"/>
              <a:buFont typeface="Arial"/>
              <a:buNone/>
            </a:pPr>
            <a:r>
              <a:rPr i="1" lang="en-GB"/>
              <a:t>	He chose one of the desserts </a:t>
            </a:r>
            <a:r>
              <a:rPr lang="en-GB"/>
              <a:t>(past tense)</a:t>
            </a:r>
            <a:endParaRPr/>
          </a:p>
          <a:p>
            <a:pPr indent="0" lvl="0" marL="0" rtl="0" algn="l">
              <a:spcBef>
                <a:spcPts val="600"/>
              </a:spcBef>
              <a:spcAft>
                <a:spcPts val="0"/>
              </a:spcAft>
              <a:buClr>
                <a:schemeClr val="dk1"/>
              </a:buClr>
              <a:buSzPts val="2100"/>
              <a:buFont typeface="Arial"/>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Match number of subject and verb</a:t>
            </a:r>
            <a:endParaRPr/>
          </a:p>
        </p:txBody>
      </p:sp>
      <p:sp>
        <p:nvSpPr>
          <p:cNvPr id="105" name="Google Shape;105;p19"/>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0" lvl="0" marL="0" rtl="0" algn="l">
              <a:spcBef>
                <a:spcPts val="600"/>
              </a:spcBef>
              <a:spcAft>
                <a:spcPts val="0"/>
              </a:spcAft>
              <a:buClr>
                <a:schemeClr val="dk1"/>
              </a:buClr>
              <a:buSzPts val="2100"/>
              <a:buFont typeface="Arial"/>
              <a:buNone/>
            </a:pPr>
            <a:r>
              <a:rPr lang="en-GB">
                <a:latin typeface="Caveat"/>
                <a:ea typeface="Caveat"/>
                <a:cs typeface="Caveat"/>
                <a:sym typeface="Caveat"/>
              </a:rPr>
              <a:t>For example, a robot is moving forward while being given a positive rewards instruction and moving backward under negative rewards.</a:t>
            </a:r>
            <a:endParaRPr>
              <a:latin typeface="Caveat"/>
              <a:ea typeface="Caveat"/>
              <a:cs typeface="Caveat"/>
              <a:sym typeface="Caveat"/>
            </a:endParaRPr>
          </a:p>
          <a:p>
            <a:pPr indent="0" lvl="0" marL="0" rtl="0" algn="l">
              <a:spcBef>
                <a:spcPts val="600"/>
              </a:spcBef>
              <a:spcAft>
                <a:spcPts val="0"/>
              </a:spcAft>
              <a:buClr>
                <a:schemeClr val="dk1"/>
              </a:buClr>
              <a:buSzPts val="2100"/>
              <a:buFont typeface="Arial"/>
              <a:buNone/>
            </a:pPr>
            <a:r>
              <a:t/>
            </a:r>
            <a:endParaRPr>
              <a:latin typeface="Caveat"/>
              <a:ea typeface="Caveat"/>
              <a:cs typeface="Caveat"/>
              <a:sym typeface="Cave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Match number of subject and verb</a:t>
            </a:r>
            <a:endParaRPr/>
          </a:p>
        </p:txBody>
      </p:sp>
      <p:sp>
        <p:nvSpPr>
          <p:cNvPr id="111" name="Google Shape;111;p20"/>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0" lvl="0" marL="0" rtl="0" algn="l">
              <a:spcBef>
                <a:spcPts val="600"/>
              </a:spcBef>
              <a:spcAft>
                <a:spcPts val="0"/>
              </a:spcAft>
              <a:buClr>
                <a:schemeClr val="dk1"/>
              </a:buClr>
              <a:buSzPts val="2100"/>
              <a:buFont typeface="Arial"/>
              <a:buNone/>
            </a:pPr>
            <a:r>
              <a:rPr lang="en-GB">
                <a:latin typeface="Caveat"/>
                <a:ea typeface="Caveat"/>
                <a:cs typeface="Caveat"/>
                <a:sym typeface="Caveat"/>
              </a:rPr>
              <a:t>For example, a robot is moving forward while being given a positive rewards instruction and moving backward under negative rewards.</a:t>
            </a:r>
            <a:endParaRPr>
              <a:latin typeface="Caveat"/>
              <a:ea typeface="Caveat"/>
              <a:cs typeface="Caveat"/>
              <a:sym typeface="Caveat"/>
            </a:endParaRPr>
          </a:p>
          <a:p>
            <a:pPr indent="0" lvl="0" marL="0" rtl="0" algn="l">
              <a:spcBef>
                <a:spcPts val="600"/>
              </a:spcBef>
              <a:spcAft>
                <a:spcPts val="0"/>
              </a:spcAft>
              <a:buClr>
                <a:schemeClr val="dk1"/>
              </a:buClr>
              <a:buSzPts val="2100"/>
              <a:buFont typeface="Arial"/>
              <a:buNone/>
            </a:pPr>
            <a:r>
              <a:rPr lang="en-GB" sz="2400"/>
              <a:t>	</a:t>
            </a:r>
            <a:r>
              <a:rPr i="1" lang="en-GB" sz="2400"/>
              <a:t>For example, when the robot moves forward, it receives a positive reward; whereas, when it moves backwards, it receives a negative reward.</a:t>
            </a:r>
            <a:endParaRPr i="1" sz="2400"/>
          </a:p>
          <a:p>
            <a:pPr indent="0" lvl="0" marL="0" rtl="0" algn="l">
              <a:spcBef>
                <a:spcPts val="600"/>
              </a:spcBef>
              <a:spcAft>
                <a:spcPts val="0"/>
              </a:spcAft>
              <a:buClr>
                <a:schemeClr val="dk1"/>
              </a:buClr>
              <a:buSzPts val="2100"/>
              <a:buFont typeface="Arial"/>
              <a:buNone/>
            </a:pPr>
            <a:r>
              <a:t/>
            </a:r>
            <a:endParaRPr i="1" sz="2400"/>
          </a:p>
          <a:p>
            <a:pPr indent="0" lvl="0" marL="0" rtl="0" algn="l">
              <a:spcBef>
                <a:spcPts val="600"/>
              </a:spcBef>
              <a:spcAft>
                <a:spcPts val="0"/>
              </a:spcAft>
              <a:buClr>
                <a:schemeClr val="dk1"/>
              </a:buClr>
              <a:buSzPts val="2100"/>
              <a:buFont typeface="Arial"/>
              <a:buNone/>
            </a:pPr>
            <a:r>
              <a:rPr lang="en-GB" sz="1800"/>
              <a:t>This is also a nice example of parallel construction (or expressing coordinate ideas in a similar form, Strunk and White, rule 19)</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idx="4294967295" type="title"/>
          </p:nvPr>
        </p:nvSpPr>
        <p:spPr>
          <a:xfrm>
            <a:off x="490250" y="526350"/>
            <a:ext cx="5618700" cy="4090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u="sng">
                <a:latin typeface="Comic Sans MS"/>
                <a:ea typeface="Comic Sans MS"/>
                <a:cs typeface="Comic Sans MS"/>
                <a:sym typeface="Comic Sans MS"/>
                <a:hlinkClick r:id="rId3"/>
              </a:rPr>
              <a:t>https://goo.gl/JTVxB7</a:t>
            </a:r>
            <a:r>
              <a:rPr lang="en-GB">
                <a:latin typeface="Comic Sans MS"/>
                <a:ea typeface="Comic Sans MS"/>
                <a:cs typeface="Comic Sans MS"/>
                <a:sym typeface="Comic Sans MS"/>
              </a:rPr>
              <a:t> </a:t>
            </a:r>
            <a:endParaRPr>
              <a:latin typeface="Comic Sans MS"/>
              <a:ea typeface="Comic Sans MS"/>
              <a:cs typeface="Comic Sans MS"/>
              <a:sym typeface="Comic Sans M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Use strong verbs</a:t>
            </a:r>
            <a:endParaRPr/>
          </a:p>
        </p:txBody>
      </p:sp>
      <p:sp>
        <p:nvSpPr>
          <p:cNvPr id="124" name="Google Shape;124;p22"/>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419100" lvl="0" marL="457200" rtl="0" algn="l">
              <a:spcBef>
                <a:spcPts val="600"/>
              </a:spcBef>
              <a:spcAft>
                <a:spcPts val="0"/>
              </a:spcAft>
              <a:buSzPts val="3000"/>
              <a:buChar char="●"/>
            </a:pPr>
            <a:r>
              <a:rPr lang="en-GB"/>
              <a:t>Strong verbs make your writing lively</a:t>
            </a:r>
            <a:endParaRPr/>
          </a:p>
          <a:p>
            <a:pPr indent="-419100" lvl="0" marL="457200" rtl="0" algn="l">
              <a:spcBef>
                <a:spcPts val="0"/>
              </a:spcBef>
              <a:spcAft>
                <a:spcPts val="0"/>
              </a:spcAft>
              <a:buSzPts val="3000"/>
              <a:buChar char="●"/>
            </a:pPr>
            <a:r>
              <a:rPr lang="en-GB"/>
              <a:t>Weak verbs, often paired with verbs converted to nouns, make clunky sentences</a:t>
            </a:r>
            <a:endParaRPr/>
          </a:p>
          <a:p>
            <a:pPr indent="-419100" lvl="0" marL="457200" rtl="0" algn="l">
              <a:spcBef>
                <a:spcPts val="0"/>
              </a:spcBef>
              <a:spcAft>
                <a:spcPts val="0"/>
              </a:spcAft>
              <a:buSzPts val="3000"/>
              <a:buChar char="●"/>
            </a:pPr>
            <a:r>
              <a:rPr lang="en-GB"/>
              <a:t>E.g., </a:t>
            </a:r>
            <a:endParaRPr/>
          </a:p>
          <a:p>
            <a:pPr indent="-381000" lvl="1" marL="914400" rtl="0" algn="l">
              <a:spcBef>
                <a:spcPts val="0"/>
              </a:spcBef>
              <a:spcAft>
                <a:spcPts val="0"/>
              </a:spcAft>
              <a:buSzPts val="2400"/>
              <a:buChar char="○"/>
            </a:pPr>
            <a:r>
              <a:rPr lang="en-GB"/>
              <a:t>allows monitoring</a:t>
            </a:r>
            <a:r>
              <a:rPr lang="en-GB"/>
              <a:t>		</a:t>
            </a:r>
            <a:r>
              <a:rPr lang="en-GB"/>
              <a:t>monitors</a:t>
            </a:r>
            <a:endParaRPr/>
          </a:p>
          <a:p>
            <a:pPr indent="-381000" lvl="1" marL="914400" rtl="0" algn="l">
              <a:spcBef>
                <a:spcPts val="0"/>
              </a:spcBef>
              <a:spcAft>
                <a:spcPts val="0"/>
              </a:spcAft>
              <a:buSzPts val="2400"/>
              <a:buChar char="○"/>
            </a:pPr>
            <a:r>
              <a:rPr lang="en-GB"/>
              <a:t>yields a simplification	simplifies to</a:t>
            </a:r>
            <a:endParaRPr/>
          </a:p>
          <a:p>
            <a:pPr indent="-381000" lvl="1" marL="914400" rtl="0" algn="l">
              <a:spcBef>
                <a:spcPts val="0"/>
              </a:spcBef>
              <a:spcAft>
                <a:spcPts val="0"/>
              </a:spcAft>
              <a:buSzPts val="2400"/>
              <a:buChar char="○"/>
            </a:pPr>
            <a:r>
              <a:rPr lang="en-GB"/>
              <a:t>use prediction 			predict</a:t>
            </a:r>
            <a:endParaRPr/>
          </a:p>
          <a:p>
            <a:pPr indent="-381000" lvl="1" marL="914400" rtl="0" algn="l">
              <a:spcBef>
                <a:spcPts val="0"/>
              </a:spcBef>
              <a:spcAft>
                <a:spcPts val="0"/>
              </a:spcAft>
              <a:buSzPts val="2400"/>
              <a:buChar char="○"/>
            </a:pPr>
            <a:r>
              <a:rPr lang="en-GB"/>
              <a:t>obtain estimates			estimate</a:t>
            </a:r>
            <a:endParaRPr/>
          </a:p>
        </p:txBody>
      </p:sp>
      <p:sp>
        <p:nvSpPr>
          <p:cNvPr id="125" name="Google Shape;125;p22"/>
          <p:cNvSpPr txBox="1"/>
          <p:nvPr/>
        </p:nvSpPr>
        <p:spPr>
          <a:xfrm>
            <a:off x="628650" y="4744387"/>
            <a:ext cx="7218600" cy="2769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None/>
            </a:pPr>
            <a:r>
              <a:rPr lang="en-GB" sz="1100"/>
              <a:t>Based on Stanford sciwrite course</a:t>
            </a:r>
            <a:endParaRPr sz="11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Strong verb example</a:t>
            </a:r>
            <a:endParaRPr/>
          </a:p>
        </p:txBody>
      </p:sp>
      <p:sp>
        <p:nvSpPr>
          <p:cNvPr id="131" name="Google Shape;131;p23"/>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0" lvl="0" marL="0" rtl="0" algn="l">
              <a:spcBef>
                <a:spcPts val="600"/>
              </a:spcBef>
              <a:spcAft>
                <a:spcPts val="0"/>
              </a:spcAft>
              <a:buNone/>
            </a:pPr>
            <a:r>
              <a:rPr lang="en-GB">
                <a:latin typeface="Caveat"/>
                <a:ea typeface="Caveat"/>
                <a:cs typeface="Caveat"/>
                <a:sym typeface="Caveat"/>
              </a:rPr>
              <a:t>Signal conditioning circuits are helpful to manipulate the sensor output signals to interface between the electronic circuits.</a:t>
            </a:r>
            <a:endParaRPr>
              <a:latin typeface="Caveat"/>
              <a:ea typeface="Caveat"/>
              <a:cs typeface="Caveat"/>
              <a:sym typeface="Cave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Strong verb example</a:t>
            </a:r>
            <a:endParaRPr/>
          </a:p>
        </p:txBody>
      </p:sp>
      <p:sp>
        <p:nvSpPr>
          <p:cNvPr id="137" name="Google Shape;137;p24"/>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0" lvl="0" marL="0" rtl="0" algn="l">
              <a:spcBef>
                <a:spcPts val="600"/>
              </a:spcBef>
              <a:spcAft>
                <a:spcPts val="0"/>
              </a:spcAft>
              <a:buNone/>
            </a:pPr>
            <a:r>
              <a:rPr lang="en-GB">
                <a:latin typeface="Caveat"/>
                <a:ea typeface="Caveat"/>
                <a:cs typeface="Caveat"/>
                <a:sym typeface="Caveat"/>
              </a:rPr>
              <a:t>Signal conditioning circuits are helpful to manipulate the sensor output signals to interface between the electronic circuits.</a:t>
            </a:r>
            <a:endParaRPr>
              <a:latin typeface="Caveat"/>
              <a:ea typeface="Caveat"/>
              <a:cs typeface="Caveat"/>
              <a:sym typeface="Caveat"/>
            </a:endParaRPr>
          </a:p>
          <a:p>
            <a:pPr indent="0" lvl="0" marL="0" rtl="0" algn="l">
              <a:spcBef>
                <a:spcPts val="600"/>
              </a:spcBef>
              <a:spcAft>
                <a:spcPts val="0"/>
              </a:spcAft>
              <a:buClr>
                <a:schemeClr val="dk1"/>
              </a:buClr>
              <a:buSzPts val="2100"/>
              <a:buFont typeface="Arial"/>
              <a:buNone/>
            </a:pPr>
            <a:r>
              <a:t/>
            </a:r>
            <a:endParaRPr/>
          </a:p>
          <a:p>
            <a:pPr indent="0" lvl="0" marL="0" rtl="0" algn="l">
              <a:spcBef>
                <a:spcPts val="600"/>
              </a:spcBef>
              <a:spcAft>
                <a:spcPts val="0"/>
              </a:spcAft>
              <a:buNone/>
            </a:pPr>
            <a:r>
              <a:rPr i="1" lang="en-GB"/>
              <a:t>Signal conditioning manipulates an analogue signal to meet the requirements of the next stage in an electronic circuit.</a:t>
            </a:r>
            <a:endParaRPr i="1"/>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Avoid a lot of “to be” sentences</a:t>
            </a:r>
            <a:endParaRPr/>
          </a:p>
        </p:txBody>
      </p:sp>
      <p:sp>
        <p:nvSpPr>
          <p:cNvPr id="143" name="Google Shape;143;p25"/>
          <p:cNvSpPr txBox="1"/>
          <p:nvPr>
            <p:ph idx="1" type="body"/>
          </p:nvPr>
        </p:nvSpPr>
        <p:spPr>
          <a:xfrm>
            <a:off x="457200" y="1200150"/>
            <a:ext cx="8530200" cy="3725700"/>
          </a:xfrm>
          <a:prstGeom prst="rect">
            <a:avLst/>
          </a:prstGeom>
          <a:noFill/>
          <a:ln>
            <a:noFill/>
          </a:ln>
        </p:spPr>
        <p:txBody>
          <a:bodyPr anchorCtr="0" anchor="t" bIns="34275" lIns="68575" spcFirstLastPara="1" rIns="68575" wrap="square" tIns="34275">
            <a:noAutofit/>
          </a:bodyPr>
          <a:lstStyle/>
          <a:p>
            <a:pPr indent="0" lvl="0" marL="0" rtl="0" algn="l">
              <a:spcBef>
                <a:spcPts val="600"/>
              </a:spcBef>
              <a:spcAft>
                <a:spcPts val="0"/>
              </a:spcAft>
              <a:buNone/>
            </a:pPr>
            <a:r>
              <a:rPr lang="en-GB" sz="2400">
                <a:latin typeface="Caveat"/>
                <a:ea typeface="Caveat"/>
                <a:cs typeface="Caveat"/>
                <a:sym typeface="Caveat"/>
              </a:rPr>
              <a:t>The main focus of this paper </a:t>
            </a:r>
            <a:r>
              <a:rPr b="1" lang="en-GB" sz="2400">
                <a:latin typeface="Caveat"/>
                <a:ea typeface="Caveat"/>
                <a:cs typeface="Caveat"/>
                <a:sym typeface="Caveat"/>
              </a:rPr>
              <a:t>is</a:t>
            </a:r>
            <a:r>
              <a:rPr lang="en-GB" sz="2400">
                <a:latin typeface="Caveat"/>
                <a:ea typeface="Caveat"/>
                <a:cs typeface="Caveat"/>
                <a:sym typeface="Caveat"/>
              </a:rPr>
              <a:t> on stacking containers problem in a container yard. The aim of this work </a:t>
            </a:r>
            <a:r>
              <a:rPr b="1" lang="en-GB" sz="2400">
                <a:latin typeface="Caveat"/>
                <a:ea typeface="Caveat"/>
                <a:cs typeface="Caveat"/>
                <a:sym typeface="Caveat"/>
              </a:rPr>
              <a:t>is</a:t>
            </a:r>
            <a:r>
              <a:rPr lang="en-GB" sz="2400">
                <a:latin typeface="Caveat"/>
                <a:ea typeface="Caveat"/>
                <a:cs typeface="Caveat"/>
                <a:sym typeface="Caveat"/>
              </a:rPr>
              <a:t> to improve the storage and retrieval operations of containers. The main resource of a container terminal </a:t>
            </a:r>
            <a:r>
              <a:rPr b="1" lang="en-GB" sz="2400">
                <a:latin typeface="Caveat"/>
                <a:ea typeface="Caveat"/>
                <a:cs typeface="Caveat"/>
                <a:sym typeface="Caveat"/>
              </a:rPr>
              <a:t>is</a:t>
            </a:r>
            <a:r>
              <a:rPr lang="en-GB" sz="2400">
                <a:latin typeface="Caveat"/>
                <a:ea typeface="Caveat"/>
                <a:cs typeface="Caveat"/>
                <a:sym typeface="Caveat"/>
              </a:rPr>
              <a:t> a storage area(container yard)  where the containers </a:t>
            </a:r>
            <a:r>
              <a:rPr b="1" lang="en-GB" sz="2400">
                <a:latin typeface="Caveat"/>
                <a:ea typeface="Caveat"/>
                <a:cs typeface="Caveat"/>
                <a:sym typeface="Caveat"/>
              </a:rPr>
              <a:t>can be</a:t>
            </a:r>
            <a:r>
              <a:rPr lang="en-GB" sz="2400">
                <a:latin typeface="Caveat"/>
                <a:ea typeface="Caveat"/>
                <a:cs typeface="Caveat"/>
                <a:sym typeface="Caveat"/>
              </a:rPr>
              <a:t> stored for a while and retrieved when a customer request takes place at the terminal. The stacking of containers </a:t>
            </a:r>
            <a:r>
              <a:rPr b="1" lang="en-GB" sz="2400">
                <a:latin typeface="Caveat"/>
                <a:ea typeface="Caveat"/>
                <a:cs typeface="Caveat"/>
                <a:sym typeface="Caveat"/>
              </a:rPr>
              <a:t>will be</a:t>
            </a:r>
            <a:r>
              <a:rPr lang="en-GB" sz="2400">
                <a:latin typeface="Caveat"/>
                <a:ea typeface="Caveat"/>
                <a:cs typeface="Caveat"/>
                <a:sym typeface="Caveat"/>
              </a:rPr>
              <a:t> </a:t>
            </a:r>
            <a:r>
              <a:rPr lang="en-GB" sz="2400" u="sng">
                <a:latin typeface="Caveat"/>
                <a:ea typeface="Caveat"/>
                <a:cs typeface="Caveat"/>
                <a:sym typeface="Caveat"/>
              </a:rPr>
              <a:t>optimised</a:t>
            </a:r>
            <a:r>
              <a:rPr lang="en-GB" sz="2400">
                <a:latin typeface="Caveat"/>
                <a:ea typeface="Caveat"/>
                <a:cs typeface="Caveat"/>
                <a:sym typeface="Caveat"/>
              </a:rPr>
              <a:t> using a number of tools and techniques discrete event simulation method, fuzzy concept, and GA (Genetic Algorithm).  The containers </a:t>
            </a:r>
            <a:r>
              <a:rPr b="1" lang="en-GB" sz="2400">
                <a:latin typeface="Caveat"/>
                <a:ea typeface="Caveat"/>
                <a:cs typeface="Caveat"/>
                <a:sym typeface="Caveat"/>
              </a:rPr>
              <a:t>will be</a:t>
            </a:r>
            <a:r>
              <a:rPr lang="en-GB" sz="2400">
                <a:latin typeface="Caveat"/>
                <a:ea typeface="Caveat"/>
                <a:cs typeface="Caveat"/>
                <a:sym typeface="Caveat"/>
              </a:rPr>
              <a:t> </a:t>
            </a:r>
            <a:r>
              <a:rPr lang="en-GB" sz="2400" u="sng">
                <a:latin typeface="Caveat"/>
                <a:ea typeface="Caveat"/>
                <a:cs typeface="Caveat"/>
                <a:sym typeface="Caveat"/>
              </a:rPr>
              <a:t>stacked</a:t>
            </a:r>
            <a:r>
              <a:rPr lang="en-GB" sz="2400">
                <a:latin typeface="Caveat"/>
                <a:ea typeface="Caveat"/>
                <a:cs typeface="Caveat"/>
                <a:sym typeface="Caveat"/>
              </a:rPr>
              <a:t> based on their due date and time, this will minimise the retrieval time of containers and waiting time of customers’ trucks as key performance indicators. The due dates and times of containers </a:t>
            </a:r>
            <a:r>
              <a:rPr b="1" lang="en-GB" sz="2400">
                <a:latin typeface="Caveat"/>
                <a:ea typeface="Caveat"/>
                <a:cs typeface="Caveat"/>
                <a:sym typeface="Caveat"/>
              </a:rPr>
              <a:t>are</a:t>
            </a:r>
            <a:r>
              <a:rPr lang="en-GB" sz="2400">
                <a:latin typeface="Caveat"/>
                <a:ea typeface="Caveat"/>
                <a:cs typeface="Caveat"/>
                <a:sym typeface="Caveat"/>
              </a:rPr>
              <a:t> uncertainty. </a:t>
            </a:r>
            <a:endParaRPr sz="2400">
              <a:latin typeface="Caveat"/>
              <a:ea typeface="Caveat"/>
              <a:cs typeface="Caveat"/>
              <a:sym typeface="Cave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6"/>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Avoid passive voice</a:t>
            </a:r>
            <a:endParaRPr/>
          </a:p>
        </p:txBody>
      </p:sp>
      <p:sp>
        <p:nvSpPr>
          <p:cNvPr id="149" name="Google Shape;149;p26"/>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381000" lvl="0" marL="457200" rtl="0" algn="l">
              <a:spcBef>
                <a:spcPts val="600"/>
              </a:spcBef>
              <a:spcAft>
                <a:spcPts val="0"/>
              </a:spcAft>
              <a:buSzPts val="2400"/>
              <a:buChar char="●"/>
            </a:pPr>
            <a:r>
              <a:rPr lang="en-GB" sz="2400"/>
              <a:t>Passive voice has the structure “object – verb – subject” or sometimes just “object - verb”</a:t>
            </a:r>
            <a:endParaRPr sz="2400"/>
          </a:p>
          <a:p>
            <a:pPr indent="-381000" lvl="0" marL="457200" rtl="0" algn="l">
              <a:spcBef>
                <a:spcPts val="0"/>
              </a:spcBef>
              <a:spcAft>
                <a:spcPts val="0"/>
              </a:spcAft>
              <a:buSzPts val="2400"/>
              <a:buChar char="●"/>
            </a:pPr>
            <a:r>
              <a:rPr lang="en-GB" sz="2400"/>
              <a:t>Active voice is “subject verb object” or sometimes just “subject verb”</a:t>
            </a:r>
            <a:endParaRPr sz="2400"/>
          </a:p>
          <a:p>
            <a:pPr indent="-381000" lvl="0" marL="457200" rtl="0" algn="l">
              <a:spcBef>
                <a:spcPts val="0"/>
              </a:spcBef>
              <a:spcAft>
                <a:spcPts val="0"/>
              </a:spcAft>
              <a:buSzPts val="2400"/>
              <a:buChar char="●"/>
            </a:pPr>
            <a:r>
              <a:rPr lang="en-GB" sz="2400"/>
              <a:t>Scientists are often discouraged (wrongly!) from writing active voice</a:t>
            </a:r>
            <a:endParaRPr sz="2400"/>
          </a:p>
          <a:p>
            <a:pPr indent="-381000" lvl="0" marL="457200" rtl="0" algn="l">
              <a:spcBef>
                <a:spcPts val="0"/>
              </a:spcBef>
              <a:spcAft>
                <a:spcPts val="0"/>
              </a:spcAft>
              <a:buSzPts val="2400"/>
              <a:buChar char="●"/>
            </a:pPr>
            <a:r>
              <a:rPr lang="en-GB" sz="2400"/>
              <a:t>However, active voice is more pleasant to read</a:t>
            </a:r>
            <a:endParaRPr sz="2400"/>
          </a:p>
          <a:p>
            <a:pPr indent="-381000" lvl="0" marL="457200" rtl="0" algn="l">
              <a:spcBef>
                <a:spcPts val="0"/>
              </a:spcBef>
              <a:spcAft>
                <a:spcPts val="0"/>
              </a:spcAft>
              <a:buSzPts val="2400"/>
              <a:buChar char="●"/>
            </a:pPr>
            <a:r>
              <a:rPr lang="en-GB" sz="2400"/>
              <a:t>It makes it clear who the actor is</a:t>
            </a:r>
            <a:endParaRPr sz="2400"/>
          </a:p>
          <a:p>
            <a:pPr indent="-381000" lvl="0" marL="457200" rtl="0" algn="l">
              <a:spcBef>
                <a:spcPts val="0"/>
              </a:spcBef>
              <a:spcAft>
                <a:spcPts val="0"/>
              </a:spcAft>
              <a:buSzPts val="2400"/>
              <a:buChar char="●"/>
            </a:pPr>
            <a:r>
              <a:rPr lang="en-GB" sz="2400"/>
              <a:t>It takes responsibility for actions</a:t>
            </a:r>
            <a:endParaRPr sz="2400"/>
          </a:p>
          <a:p>
            <a:pPr indent="0" lvl="0" marL="0" rtl="0" algn="l">
              <a:spcBef>
                <a:spcPts val="600"/>
              </a:spcBef>
              <a:spcAft>
                <a:spcPts val="0"/>
              </a:spcAft>
              <a:buNone/>
            </a:pPr>
            <a:r>
              <a:t/>
            </a:r>
            <a:endParaRPr sz="24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7"/>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Passive voice example</a:t>
            </a:r>
            <a:endParaRPr/>
          </a:p>
        </p:txBody>
      </p:sp>
      <p:sp>
        <p:nvSpPr>
          <p:cNvPr id="155" name="Google Shape;155;p27"/>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0" lvl="0" marL="0" rtl="0" algn="l">
              <a:spcBef>
                <a:spcPts val="600"/>
              </a:spcBef>
              <a:spcAft>
                <a:spcPts val="0"/>
              </a:spcAft>
              <a:buNone/>
            </a:pPr>
            <a:r>
              <a:rPr lang="en-GB">
                <a:latin typeface="Caveat"/>
                <a:ea typeface="Caveat"/>
                <a:cs typeface="Caveat"/>
                <a:sym typeface="Caveat"/>
              </a:rPr>
              <a:t>On completion of this research work, country specific drivers and barriers to the achievement of a sustainable downstream supply chain in the UK and Nigeria will be identified and factors responsible for similarities or variations in SSCM practices will be evaluated.</a:t>
            </a:r>
            <a:endParaRPr>
              <a:latin typeface="Caveat"/>
              <a:ea typeface="Caveat"/>
              <a:cs typeface="Caveat"/>
              <a:sym typeface="Cave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Passive voice example</a:t>
            </a:r>
            <a:endParaRPr/>
          </a:p>
        </p:txBody>
      </p:sp>
      <p:sp>
        <p:nvSpPr>
          <p:cNvPr id="161" name="Google Shape;161;p28"/>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0" lvl="0" marL="0" rtl="0" algn="l">
              <a:spcBef>
                <a:spcPts val="600"/>
              </a:spcBef>
              <a:spcAft>
                <a:spcPts val="0"/>
              </a:spcAft>
              <a:buNone/>
            </a:pPr>
            <a:r>
              <a:rPr lang="en-GB" sz="2400">
                <a:latin typeface="Caveat"/>
                <a:ea typeface="Caveat"/>
                <a:cs typeface="Caveat"/>
                <a:sym typeface="Caveat"/>
              </a:rPr>
              <a:t>On completion of this research work, country specific drivers and barriers to the achievement of a sustainable downstream supply chain in the UK and Nigeria will be identified and factors responsible for similarities or variations in SSCM practices will be evaluated.</a:t>
            </a:r>
            <a:endParaRPr sz="2400">
              <a:latin typeface="Caveat"/>
              <a:ea typeface="Caveat"/>
              <a:cs typeface="Caveat"/>
              <a:sym typeface="Caveat"/>
            </a:endParaRPr>
          </a:p>
          <a:p>
            <a:pPr indent="0" lvl="0" marL="0" rtl="0" algn="l">
              <a:spcBef>
                <a:spcPts val="600"/>
              </a:spcBef>
              <a:spcAft>
                <a:spcPts val="0"/>
              </a:spcAft>
              <a:buNone/>
            </a:pPr>
            <a:r>
              <a:rPr i="1" lang="en-GB" sz="2400"/>
              <a:t>In this work, I will identify country specific drivers and barriers to a sustainable downstream supply chain in the UK and Nigeria. I will also evaluate the factors responsible for similarities or </a:t>
            </a:r>
            <a:r>
              <a:rPr i="1" lang="en-GB" sz="2400"/>
              <a:t>differences</a:t>
            </a:r>
            <a:r>
              <a:rPr i="1" lang="en-GB" sz="2400"/>
              <a:t> in supply chain management practices between the two countries.</a:t>
            </a:r>
            <a:endParaRPr i="1" sz="24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9"/>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Passive voice example 2</a:t>
            </a:r>
            <a:endParaRPr/>
          </a:p>
        </p:txBody>
      </p:sp>
      <p:sp>
        <p:nvSpPr>
          <p:cNvPr id="167" name="Google Shape;167;p29"/>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0" lvl="0" marL="0" rtl="0" algn="l">
              <a:spcBef>
                <a:spcPts val="600"/>
              </a:spcBef>
              <a:spcAft>
                <a:spcPts val="0"/>
              </a:spcAft>
              <a:buNone/>
            </a:pPr>
            <a:r>
              <a:rPr lang="en-GB">
                <a:latin typeface="Caveat"/>
                <a:ea typeface="Caveat"/>
                <a:cs typeface="Caveat"/>
                <a:sym typeface="Caveat"/>
              </a:rPr>
              <a:t>The pipelined Analog to Digital (ADC) has been designed using class AB amplifier and background digital calibration technique. </a:t>
            </a:r>
            <a:endParaRPr>
              <a:latin typeface="Caveat"/>
              <a:ea typeface="Caveat"/>
              <a:cs typeface="Caveat"/>
              <a:sym typeface="Cave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0"/>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Passive voice example 2</a:t>
            </a:r>
            <a:endParaRPr/>
          </a:p>
        </p:txBody>
      </p:sp>
      <p:sp>
        <p:nvSpPr>
          <p:cNvPr id="173" name="Google Shape;173;p30"/>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0" lvl="0" marL="0" rtl="0" algn="l">
              <a:spcBef>
                <a:spcPts val="600"/>
              </a:spcBef>
              <a:spcAft>
                <a:spcPts val="0"/>
              </a:spcAft>
              <a:buNone/>
            </a:pPr>
            <a:r>
              <a:rPr lang="en-GB">
                <a:latin typeface="Caveat"/>
                <a:ea typeface="Caveat"/>
                <a:cs typeface="Caveat"/>
                <a:sym typeface="Caveat"/>
              </a:rPr>
              <a:t>The pipelined Analog to Digital (ADC) has been designed using class AB amplifier and background digital calibration technique. </a:t>
            </a:r>
            <a:endParaRPr>
              <a:latin typeface="Caveat"/>
              <a:ea typeface="Caveat"/>
              <a:cs typeface="Caveat"/>
              <a:sym typeface="Caveat"/>
            </a:endParaRPr>
          </a:p>
          <a:p>
            <a:pPr indent="0" lvl="0" marL="0" rtl="0" algn="l">
              <a:spcBef>
                <a:spcPts val="600"/>
              </a:spcBef>
              <a:spcAft>
                <a:spcPts val="0"/>
              </a:spcAft>
              <a:buClr>
                <a:schemeClr val="dk1"/>
              </a:buClr>
              <a:buSzPts val="2100"/>
              <a:buFont typeface="Arial"/>
              <a:buNone/>
            </a:pPr>
            <a:r>
              <a:t/>
            </a:r>
            <a:endParaRPr/>
          </a:p>
          <a:p>
            <a:pPr indent="0" lvl="0" marL="0" rtl="0" algn="l">
              <a:spcBef>
                <a:spcPts val="600"/>
              </a:spcBef>
              <a:spcAft>
                <a:spcPts val="0"/>
              </a:spcAft>
              <a:buNone/>
            </a:pPr>
            <a:r>
              <a:rPr i="1" lang="en-GB"/>
              <a:t>We designed a pipelined Analog to Digital Converter (ADC) using a class AB amplifier and a background digital calibration technique.</a:t>
            </a:r>
            <a:endParaRPr i="1"/>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1"/>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Passive voice example 3</a:t>
            </a:r>
            <a:endParaRPr/>
          </a:p>
        </p:txBody>
      </p:sp>
      <p:sp>
        <p:nvSpPr>
          <p:cNvPr id="179" name="Google Shape;179;p31"/>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0" lvl="0" marL="0" rtl="0" algn="l">
              <a:spcBef>
                <a:spcPts val="600"/>
              </a:spcBef>
              <a:spcAft>
                <a:spcPts val="0"/>
              </a:spcAft>
              <a:buNone/>
            </a:pPr>
            <a:r>
              <a:rPr lang="en-GB">
                <a:latin typeface="Caveat"/>
                <a:ea typeface="Caveat"/>
                <a:cs typeface="Caveat"/>
                <a:sym typeface="Caveat"/>
              </a:rPr>
              <a:t>Therefore a mango waste processing facility is developed to fully convert mango peels and seed into profitable products such as mango flour and tea.</a:t>
            </a:r>
            <a:endParaRPr>
              <a:latin typeface="Caveat"/>
              <a:ea typeface="Caveat"/>
              <a:cs typeface="Caveat"/>
              <a:sym typeface="Caveat"/>
            </a:endParaRPr>
          </a:p>
          <a:p>
            <a:pPr indent="0" lvl="0" marL="0" rtl="0" algn="l">
              <a:spcBef>
                <a:spcPts val="600"/>
              </a:spcBef>
              <a:spcAft>
                <a:spcPts val="0"/>
              </a:spcAft>
              <a:buNone/>
            </a:pPr>
            <a:r>
              <a:rPr lang="en-GB">
                <a:latin typeface="Caveat"/>
                <a:ea typeface="Caveat"/>
                <a:cs typeface="Caveat"/>
                <a:sym typeface="Caveat"/>
              </a:rPr>
              <a:t>Solar energy is applied as the main power source of this facility to dry raw mango peels and seeds for further processing.</a:t>
            </a:r>
            <a:endParaRPr>
              <a:latin typeface="Caveat"/>
              <a:ea typeface="Caveat"/>
              <a:cs typeface="Caveat"/>
              <a:sym typeface="Cave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2"/>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Passive voice example 3</a:t>
            </a:r>
            <a:endParaRPr/>
          </a:p>
        </p:txBody>
      </p:sp>
      <p:sp>
        <p:nvSpPr>
          <p:cNvPr id="185" name="Google Shape;185;p32"/>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0" lvl="0" marL="0" rtl="0" algn="l">
              <a:spcBef>
                <a:spcPts val="600"/>
              </a:spcBef>
              <a:spcAft>
                <a:spcPts val="0"/>
              </a:spcAft>
              <a:buNone/>
            </a:pPr>
            <a:r>
              <a:rPr lang="en-GB"/>
              <a:t>Therefore, </a:t>
            </a:r>
            <a:r>
              <a:rPr lang="en-GB" u="sng">
                <a:solidFill>
                  <a:srgbClr val="4A86E8"/>
                </a:solidFill>
              </a:rPr>
              <a:t>a local company constructed</a:t>
            </a:r>
            <a:r>
              <a:rPr lang="en-GB">
                <a:solidFill>
                  <a:srgbClr val="4A86E8"/>
                </a:solidFill>
              </a:rPr>
              <a:t> </a:t>
            </a:r>
            <a:r>
              <a:rPr lang="en-GB"/>
              <a:t>a mango waste processing facility </a:t>
            </a:r>
            <a:r>
              <a:rPr lang="en-GB" u="sng">
                <a:solidFill>
                  <a:srgbClr val="4A86E8"/>
                </a:solidFill>
              </a:rPr>
              <a:t>that converts</a:t>
            </a:r>
            <a:r>
              <a:rPr lang="en-GB"/>
              <a:t> mango peel and seed into </a:t>
            </a:r>
            <a:r>
              <a:rPr lang="en-GB" u="sng">
                <a:solidFill>
                  <a:srgbClr val="4A86E8"/>
                </a:solidFill>
              </a:rPr>
              <a:t>a</a:t>
            </a:r>
            <a:r>
              <a:rPr lang="en-GB"/>
              <a:t> profitable product, such as mango flour and tea.</a:t>
            </a:r>
            <a:endParaRPr/>
          </a:p>
          <a:p>
            <a:pPr indent="0" lvl="0" marL="0" rtl="0" algn="l">
              <a:spcBef>
                <a:spcPts val="600"/>
              </a:spcBef>
              <a:spcAft>
                <a:spcPts val="0"/>
              </a:spcAft>
              <a:buNone/>
            </a:pPr>
            <a:r>
              <a:rPr lang="en-GB"/>
              <a:t>Solar energy </a:t>
            </a:r>
            <a:r>
              <a:rPr lang="en-GB" u="sng">
                <a:solidFill>
                  <a:srgbClr val="4A86E8"/>
                </a:solidFill>
              </a:rPr>
              <a:t>powers the drying</a:t>
            </a:r>
            <a:r>
              <a:rPr lang="en-GB"/>
              <a:t> of </a:t>
            </a:r>
            <a:r>
              <a:rPr lang="en-GB" strike="sngStrike">
                <a:solidFill>
                  <a:srgbClr val="FF0000"/>
                </a:solidFill>
              </a:rPr>
              <a:t>is applied as the main power source of this facility to dry</a:t>
            </a:r>
            <a:r>
              <a:rPr lang="en-GB"/>
              <a:t> raw mango peels and seeds for further processing.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3"/>
          <p:cNvSpPr txBox="1"/>
          <p:nvPr>
            <p:ph idx="4294967295" type="title"/>
          </p:nvPr>
        </p:nvSpPr>
        <p:spPr>
          <a:xfrm>
            <a:off x="490250" y="526350"/>
            <a:ext cx="5618700" cy="4090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u="sng">
                <a:latin typeface="Comic Sans MS"/>
                <a:ea typeface="Comic Sans MS"/>
                <a:cs typeface="Comic Sans MS"/>
                <a:sym typeface="Comic Sans MS"/>
                <a:hlinkClick r:id="rId3"/>
              </a:rPr>
              <a:t>https://goo.gl/XZn1id</a:t>
            </a:r>
            <a:r>
              <a:rPr lang="en-GB">
                <a:latin typeface="Comic Sans MS"/>
                <a:ea typeface="Comic Sans MS"/>
                <a:cs typeface="Comic Sans MS"/>
                <a:sym typeface="Comic Sans MS"/>
              </a:rPr>
              <a:t> </a:t>
            </a:r>
            <a:endParaRPr>
              <a:latin typeface="Comic Sans MS"/>
              <a:ea typeface="Comic Sans MS"/>
              <a:cs typeface="Comic Sans MS"/>
              <a:sym typeface="Comic Sans M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4"/>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Paragraphs</a:t>
            </a:r>
            <a:endParaRPr/>
          </a:p>
        </p:txBody>
      </p:sp>
      <p:sp>
        <p:nvSpPr>
          <p:cNvPr id="197" name="Google Shape;197;p34"/>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419100" lvl="0" marL="457200" rtl="0" algn="l">
              <a:spcBef>
                <a:spcPts val="600"/>
              </a:spcBef>
              <a:spcAft>
                <a:spcPts val="0"/>
              </a:spcAft>
              <a:buSzPts val="3000"/>
              <a:buChar char="●"/>
            </a:pPr>
            <a:r>
              <a:rPr lang="en-GB"/>
              <a:t>Keep paragraphs reasonably short</a:t>
            </a:r>
            <a:endParaRPr/>
          </a:p>
          <a:p>
            <a:pPr indent="-419100" lvl="0" marL="457200" rtl="0" algn="l">
              <a:spcBef>
                <a:spcPts val="0"/>
              </a:spcBef>
              <a:spcAft>
                <a:spcPts val="0"/>
              </a:spcAft>
              <a:buSzPts val="3000"/>
              <a:buChar char="●"/>
            </a:pPr>
            <a:r>
              <a:rPr lang="en-GB"/>
              <a:t>Try to have 1 idea per paragraph</a:t>
            </a:r>
            <a:endParaRPr/>
          </a:p>
          <a:p>
            <a:pPr indent="-419100" lvl="0" marL="457200" rtl="0" algn="l">
              <a:spcBef>
                <a:spcPts val="0"/>
              </a:spcBef>
              <a:spcAft>
                <a:spcPts val="0"/>
              </a:spcAft>
              <a:buSzPts val="3000"/>
              <a:buChar char="●"/>
            </a:pPr>
            <a:r>
              <a:rPr lang="en-GB"/>
              <a:t>Introduce main idea early (not necessarily a topic sentence)</a:t>
            </a:r>
            <a:endParaRPr/>
          </a:p>
          <a:p>
            <a:pPr indent="-419100" lvl="0" marL="457200" rtl="0" algn="l">
              <a:spcBef>
                <a:spcPts val="0"/>
              </a:spcBef>
              <a:spcAft>
                <a:spcPts val="0"/>
              </a:spcAft>
              <a:buSzPts val="3000"/>
              <a:buChar char="●"/>
            </a:pPr>
            <a:r>
              <a:rPr lang="en-GB"/>
              <a:t>Context can be forgotten by the reader between paragraphs</a:t>
            </a:r>
            <a:endParaRPr/>
          </a:p>
          <a:p>
            <a:pPr indent="-419100" lvl="0" marL="457200" rtl="0" algn="l">
              <a:spcBef>
                <a:spcPts val="0"/>
              </a:spcBef>
              <a:spcAft>
                <a:spcPts val="0"/>
              </a:spcAft>
              <a:buSzPts val="3000"/>
              <a:buChar char="●"/>
            </a:pPr>
            <a:r>
              <a:rPr lang="en-GB"/>
              <a:t>Lists reinforce structure and make key points stand out</a:t>
            </a:r>
            <a:endParaRPr/>
          </a:p>
          <a:p>
            <a:pPr indent="0" lvl="0" marL="0" rtl="0" algn="l">
              <a:spcBef>
                <a:spcPts val="60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5"/>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Example: identify para break</a:t>
            </a:r>
            <a:endParaRPr/>
          </a:p>
        </p:txBody>
      </p:sp>
      <p:sp>
        <p:nvSpPr>
          <p:cNvPr id="203" name="Google Shape;203;p35"/>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0" lvl="0" marL="0" rtl="0" algn="l">
              <a:spcBef>
                <a:spcPts val="600"/>
              </a:spcBef>
              <a:spcAft>
                <a:spcPts val="0"/>
              </a:spcAft>
              <a:buClr>
                <a:schemeClr val="dk1"/>
              </a:buClr>
              <a:buSzPts val="2100"/>
              <a:buFont typeface="Arial"/>
              <a:buNone/>
            </a:pPr>
            <a:r>
              <a:rPr lang="en-GB" sz="2400">
                <a:latin typeface="Caveat"/>
                <a:ea typeface="Caveat"/>
                <a:cs typeface="Caveat"/>
                <a:sym typeface="Caveat"/>
              </a:rPr>
              <a:t>For the GTEM system, acknowledgements are costly but needed for L-SIP to be used [1]. To obtain the best benefit from L-SIP, we needed to tune the acknowledgement approach. Instead of using the standard ZStack APS acknowledgement mechanism, we instead use ZigBee polling after each transmit. In ZigBee polling, an end device polls or requests a message from the coordinator. As shown in Figure 9, ordinary APS acknowledgements cause the processor stay active while waiting. In comparison, with polling, as shown in Figure 10, the node sleeps (and thus is idle) while waiting for the receipt of the acknowledgement. The resulting reduction in energy is 0.98 mW (17% of Base), which is significant. </a:t>
            </a:r>
            <a:endParaRPr sz="2400">
              <a:latin typeface="Caveat"/>
              <a:ea typeface="Caveat"/>
              <a:cs typeface="Caveat"/>
              <a:sym typeface="Caveat"/>
            </a:endParaRPr>
          </a:p>
          <a:p>
            <a:pPr indent="0" lvl="0" marL="0" rtl="0" algn="l">
              <a:spcBef>
                <a:spcPts val="600"/>
              </a:spcBef>
              <a:spcAft>
                <a:spcPts val="0"/>
              </a:spcAft>
              <a:buClr>
                <a:schemeClr val="dk1"/>
              </a:buClr>
              <a:buSzPts val="2100"/>
              <a:buFont typeface="Arial"/>
              <a:buNone/>
            </a:pPr>
            <a:r>
              <a:t/>
            </a:r>
            <a:endParaRPr sz="2400">
              <a:latin typeface="Caveat"/>
              <a:ea typeface="Caveat"/>
              <a:cs typeface="Caveat"/>
              <a:sym typeface="Cavea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6"/>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Example: identify para break</a:t>
            </a:r>
            <a:endParaRPr/>
          </a:p>
        </p:txBody>
      </p:sp>
      <p:sp>
        <p:nvSpPr>
          <p:cNvPr id="209" name="Google Shape;209;p36"/>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0" lvl="0" marL="0" rtl="0" algn="l">
              <a:spcBef>
                <a:spcPts val="600"/>
              </a:spcBef>
              <a:spcAft>
                <a:spcPts val="0"/>
              </a:spcAft>
              <a:buClr>
                <a:schemeClr val="dk1"/>
              </a:buClr>
              <a:buSzPts val="2100"/>
              <a:buFont typeface="Arial"/>
              <a:buNone/>
            </a:pPr>
            <a:r>
              <a:rPr lang="en-GB" sz="2400">
                <a:latin typeface="Caveat"/>
                <a:ea typeface="Caveat"/>
                <a:cs typeface="Caveat"/>
                <a:sym typeface="Caveat"/>
              </a:rPr>
              <a:t>For the GTEM system, acknowledgements are costly but needed for L-SIP to be used [1]. To obtain the best benefit from L-SIP, we needed to tune the acknowledgement approach. Instead of using the standard ZStack APS acknowledgement mechanism, we instead use ZigBee polling after each transmit. In ZigBee polling, an end device polls or requests a message from the coordinator. As shown in Figure 9, ordinary APS acknowledgements cause the processor stay active while waiting. In comparison, with polling, as shown in Figure 10, the node sleeps (and thus is idle) while waiting for the receipt of the acknowledgement. The resulting reduction in energy is 0.98 mW (17% of Base), which is significant. </a:t>
            </a:r>
            <a:endParaRPr sz="2400">
              <a:latin typeface="Caveat"/>
              <a:ea typeface="Caveat"/>
              <a:cs typeface="Caveat"/>
              <a:sym typeface="Caveat"/>
            </a:endParaRPr>
          </a:p>
          <a:p>
            <a:pPr indent="0" lvl="0" marL="0" rtl="0" algn="l">
              <a:spcBef>
                <a:spcPts val="600"/>
              </a:spcBef>
              <a:spcAft>
                <a:spcPts val="0"/>
              </a:spcAft>
              <a:buClr>
                <a:schemeClr val="dk1"/>
              </a:buClr>
              <a:buSzPts val="2100"/>
              <a:buFont typeface="Arial"/>
              <a:buNone/>
            </a:pPr>
            <a:r>
              <a:t/>
            </a:r>
            <a:endParaRPr sz="2400">
              <a:latin typeface="Caveat"/>
              <a:ea typeface="Caveat"/>
              <a:cs typeface="Caveat"/>
              <a:sym typeface="Caveat"/>
            </a:endParaRPr>
          </a:p>
        </p:txBody>
      </p:sp>
      <p:sp>
        <p:nvSpPr>
          <p:cNvPr id="210" name="Google Shape;210;p36"/>
          <p:cNvSpPr txBox="1"/>
          <p:nvPr/>
        </p:nvSpPr>
        <p:spPr>
          <a:xfrm>
            <a:off x="2634125" y="4092675"/>
            <a:ext cx="677400" cy="56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FF0000"/>
                </a:solidFill>
              </a:rPr>
              <a:t>//</a:t>
            </a:r>
            <a:endParaRPr sz="2400">
              <a:solidFill>
                <a:srgbClr val="FF0000"/>
              </a:solidFill>
            </a:endParaRPr>
          </a:p>
        </p:txBody>
      </p:sp>
      <p:sp>
        <p:nvSpPr>
          <p:cNvPr id="211" name="Google Shape;211;p36"/>
          <p:cNvSpPr txBox="1"/>
          <p:nvPr/>
        </p:nvSpPr>
        <p:spPr>
          <a:xfrm>
            <a:off x="1376200" y="2668850"/>
            <a:ext cx="677400" cy="56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FF0000"/>
                </a:solidFill>
              </a:rPr>
              <a:t>//</a:t>
            </a:r>
            <a:endParaRPr sz="2400">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7"/>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Example: identify para break</a:t>
            </a:r>
            <a:endParaRPr/>
          </a:p>
        </p:txBody>
      </p:sp>
      <p:sp>
        <p:nvSpPr>
          <p:cNvPr id="217" name="Google Shape;217;p37"/>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0" lvl="0" marL="0" rtl="0" algn="l">
              <a:spcBef>
                <a:spcPts val="600"/>
              </a:spcBef>
              <a:spcAft>
                <a:spcPts val="0"/>
              </a:spcAft>
              <a:buClr>
                <a:schemeClr val="dk1"/>
              </a:buClr>
              <a:buSzPts val="1900"/>
              <a:buFont typeface="Arial"/>
              <a:buNone/>
            </a:pPr>
            <a:r>
              <a:rPr i="1" lang="en-GB" sz="1800"/>
              <a:t>For the GTEM system, acknowledgements are costly but needed for L-SIP to be used [</a:t>
            </a:r>
            <a:r>
              <a:rPr i="1" lang="en-GB" sz="1800"/>
              <a:t>1</a:t>
            </a:r>
            <a:r>
              <a:rPr i="1" lang="en-GB" sz="1800"/>
              <a:t>]. To obtain the best benefit from L-SIP, we needed to tune the acknowledgement approach. Instead of using the standard ZStack APS acknowledgement mechanism, we instead use ZigBee polling after each transmit. </a:t>
            </a:r>
            <a:endParaRPr i="1" sz="1800"/>
          </a:p>
          <a:p>
            <a:pPr indent="0" lvl="0" marL="0" rtl="0" algn="l">
              <a:spcBef>
                <a:spcPts val="600"/>
              </a:spcBef>
              <a:spcAft>
                <a:spcPts val="0"/>
              </a:spcAft>
              <a:buClr>
                <a:schemeClr val="dk1"/>
              </a:buClr>
              <a:buSzPts val="1900"/>
              <a:buFont typeface="Arial"/>
              <a:buNone/>
            </a:pPr>
            <a:r>
              <a:rPr i="1" lang="en-GB" sz="1800"/>
              <a:t>In ZigBee polling, an end device polls or requests a message from the coordinator. As shown in Figure 9, ordinary APS acknowledgements cause the processor stay active while waiting. In comparison, with polling, as shown in Figure 10, the node sleeps (and thus is idle) while waiting for the receipt of the acknowledgement. </a:t>
            </a:r>
            <a:endParaRPr i="1" sz="1800"/>
          </a:p>
          <a:p>
            <a:pPr indent="0" lvl="0" marL="0" rtl="0" algn="l">
              <a:spcBef>
                <a:spcPts val="600"/>
              </a:spcBef>
              <a:spcAft>
                <a:spcPts val="0"/>
              </a:spcAft>
              <a:buClr>
                <a:schemeClr val="dk1"/>
              </a:buClr>
              <a:buSzPts val="1900"/>
              <a:buFont typeface="Arial"/>
              <a:buNone/>
            </a:pPr>
            <a:r>
              <a:rPr i="1" lang="en-GB" sz="1800"/>
              <a:t>The resulting reduction in energy is 0.98 mW (17% of Base), which is significant. </a:t>
            </a:r>
            <a:endParaRPr i="1" sz="1800"/>
          </a:p>
          <a:p>
            <a:pPr indent="0" lvl="0" marL="0" rtl="0" algn="l">
              <a:spcBef>
                <a:spcPts val="600"/>
              </a:spcBef>
              <a:spcAft>
                <a:spcPts val="0"/>
              </a:spcAft>
              <a:buClr>
                <a:schemeClr val="dk1"/>
              </a:buClr>
              <a:buSzPts val="1900"/>
              <a:buFont typeface="Arial"/>
              <a:buNone/>
            </a:pPr>
            <a:r>
              <a:t/>
            </a:r>
            <a:endParaRPr i="1" sz="18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8"/>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Structure</a:t>
            </a:r>
            <a:endParaRPr/>
          </a:p>
        </p:txBody>
      </p:sp>
      <p:sp>
        <p:nvSpPr>
          <p:cNvPr id="223" name="Google Shape;223;p38"/>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419100" lvl="0" marL="457200" rtl="0" algn="l">
              <a:spcBef>
                <a:spcPts val="600"/>
              </a:spcBef>
              <a:spcAft>
                <a:spcPts val="0"/>
              </a:spcAft>
              <a:buSzPts val="3000"/>
              <a:buChar char="●"/>
            </a:pPr>
            <a:r>
              <a:rPr lang="en-GB"/>
              <a:t>A strong structure helps clarify the role of each part of the writing</a:t>
            </a:r>
            <a:endParaRPr/>
          </a:p>
          <a:p>
            <a:pPr indent="-381000" lvl="1" marL="914400" rtl="0" algn="l">
              <a:spcBef>
                <a:spcPts val="0"/>
              </a:spcBef>
              <a:spcAft>
                <a:spcPts val="0"/>
              </a:spcAft>
              <a:buSzPts val="2400"/>
              <a:buChar char="○"/>
            </a:pPr>
            <a:r>
              <a:rPr lang="en-GB"/>
              <a:t>For example, a background section should only describe past work and not include any new material</a:t>
            </a:r>
            <a:endParaRPr/>
          </a:p>
          <a:p>
            <a:pPr indent="-419100" lvl="0" marL="457200" rtl="0" algn="l">
              <a:spcBef>
                <a:spcPts val="0"/>
              </a:spcBef>
              <a:spcAft>
                <a:spcPts val="0"/>
              </a:spcAft>
              <a:buSzPts val="3000"/>
              <a:buChar char="●"/>
            </a:pPr>
            <a:r>
              <a:rPr lang="en-GB"/>
              <a:t>Structure helps avoid repetition</a:t>
            </a:r>
            <a:endParaRPr/>
          </a:p>
          <a:p>
            <a:pPr indent="-342900" lvl="1" marL="914400" rtl="0" algn="l">
              <a:spcBef>
                <a:spcPts val="0"/>
              </a:spcBef>
              <a:spcAft>
                <a:spcPts val="0"/>
              </a:spcAft>
              <a:buSzPts val="1800"/>
              <a:buChar char="○"/>
            </a:pPr>
            <a:r>
              <a:rPr lang="en-GB" sz="1800"/>
              <a:t>e.g., </a:t>
            </a:r>
            <a:r>
              <a:rPr lang="en-GB" sz="1800"/>
              <a:t>avoid</a:t>
            </a:r>
            <a:r>
              <a:rPr lang="en-GB" sz="1800"/>
              <a:t> stat</a:t>
            </a:r>
            <a:r>
              <a:rPr lang="en-GB" sz="1800"/>
              <a:t>ing</a:t>
            </a:r>
            <a:r>
              <a:rPr lang="en-GB" sz="1800"/>
              <a:t> the number of human subjects several times</a:t>
            </a:r>
            <a:endParaRPr sz="1800"/>
          </a:p>
          <a:p>
            <a:pPr indent="-342900" lvl="1" marL="914400" rtl="0" algn="l">
              <a:spcBef>
                <a:spcPts val="0"/>
              </a:spcBef>
              <a:spcAft>
                <a:spcPts val="0"/>
              </a:spcAft>
              <a:buSzPts val="1800"/>
              <a:buChar char="○"/>
            </a:pPr>
            <a:r>
              <a:rPr lang="en-GB" sz="1800"/>
              <a:t>Being clear that this information needs to go into a “methods” section reduces this type of repetition</a:t>
            </a:r>
            <a:endParaRPr sz="1800"/>
          </a:p>
          <a:p>
            <a:pPr indent="-342900" lvl="1" marL="914400" rtl="0" algn="l">
              <a:spcBef>
                <a:spcPts val="0"/>
              </a:spcBef>
              <a:spcAft>
                <a:spcPts val="0"/>
              </a:spcAft>
              <a:buSzPts val="1800"/>
              <a:buChar char="○"/>
            </a:pPr>
            <a:r>
              <a:rPr lang="en-GB" sz="1800"/>
              <a:t>Similarly, if you discover repetition, it could be due to lack of structure</a:t>
            </a:r>
            <a:endParaRPr sz="1800"/>
          </a:p>
          <a:p>
            <a:pPr indent="0" lvl="0" marL="0" rtl="0" algn="l">
              <a:spcBef>
                <a:spcPts val="60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9"/>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Common scientific structuring (IMRAD)</a:t>
            </a:r>
            <a:endParaRPr/>
          </a:p>
        </p:txBody>
      </p:sp>
      <p:sp>
        <p:nvSpPr>
          <p:cNvPr id="229" name="Google Shape;229;p39"/>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228600" lvl="0" marL="177800" rtl="0" algn="l">
              <a:spcBef>
                <a:spcPts val="600"/>
              </a:spcBef>
              <a:spcAft>
                <a:spcPts val="0"/>
              </a:spcAft>
              <a:buSzPts val="3000"/>
              <a:buChar char="•"/>
            </a:pPr>
            <a:r>
              <a:rPr lang="en-GB"/>
              <a:t> </a:t>
            </a:r>
            <a:r>
              <a:rPr lang="en-GB"/>
              <a:t>M</a:t>
            </a:r>
            <a:r>
              <a:rPr lang="en-GB"/>
              <a:t>any papers </a:t>
            </a:r>
            <a:r>
              <a:rPr lang="en-GB"/>
              <a:t>commonly </a:t>
            </a:r>
            <a:r>
              <a:rPr lang="en-GB"/>
              <a:t>follow a </a:t>
            </a:r>
            <a:r>
              <a:rPr lang="en-GB"/>
              <a:t>variant of: </a:t>
            </a:r>
            <a:endParaRPr/>
          </a:p>
          <a:p>
            <a:pPr indent="-215900" lvl="1" marL="520700" rtl="0" algn="l">
              <a:lnSpc>
                <a:spcPct val="100000"/>
              </a:lnSpc>
              <a:spcBef>
                <a:spcPts val="0"/>
              </a:spcBef>
              <a:spcAft>
                <a:spcPts val="0"/>
              </a:spcAft>
              <a:buSzPts val="2400"/>
              <a:buChar char="•"/>
            </a:pPr>
            <a:r>
              <a:rPr lang="en-GB"/>
              <a:t>Introduction; Related work; Method</a:t>
            </a:r>
            <a:r>
              <a:rPr lang="en-GB"/>
              <a:t>; </a:t>
            </a:r>
            <a:r>
              <a:rPr lang="en-GB"/>
              <a:t>Results</a:t>
            </a:r>
            <a:r>
              <a:rPr lang="en-GB"/>
              <a:t>; </a:t>
            </a:r>
            <a:r>
              <a:rPr lang="en-GB"/>
              <a:t>Conclusions</a:t>
            </a:r>
            <a:endParaRPr/>
          </a:p>
          <a:p>
            <a:pPr indent="-215900" lvl="1" marL="520700" rtl="0" algn="l">
              <a:lnSpc>
                <a:spcPct val="100000"/>
              </a:lnSpc>
              <a:spcBef>
                <a:spcPts val="0"/>
              </a:spcBef>
              <a:spcAft>
                <a:spcPts val="0"/>
              </a:spcAft>
              <a:buSzPts val="2400"/>
              <a:buChar char="•"/>
            </a:pPr>
            <a:r>
              <a:rPr lang="en-GB"/>
              <a:t>(sometimes known as IMRAD)</a:t>
            </a:r>
            <a:endParaRPr/>
          </a:p>
          <a:p>
            <a:pPr indent="-228600" lvl="0" marL="177800" rtl="0" algn="l">
              <a:spcBef>
                <a:spcPts val="0"/>
              </a:spcBef>
              <a:spcAft>
                <a:spcPts val="0"/>
              </a:spcAft>
              <a:buSzPts val="3000"/>
              <a:buChar char="•"/>
            </a:pPr>
            <a:r>
              <a:rPr lang="en-GB"/>
              <a:t>Method and results are sometimes combined, or iterated over for different experiments</a:t>
            </a:r>
            <a:endParaRPr/>
          </a:p>
          <a:p>
            <a:pPr indent="-228600" lvl="0" marL="177800" rtl="0" algn="l">
              <a:spcBef>
                <a:spcPts val="0"/>
              </a:spcBef>
              <a:spcAft>
                <a:spcPts val="0"/>
              </a:spcAft>
              <a:buSzPts val="3000"/>
              <a:buChar char="•"/>
            </a:pPr>
            <a:r>
              <a:rPr lang="en-GB"/>
              <a:t>Analysis or discussion sections might be inserted towards the end</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0"/>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Structure for non-scientific reports</a:t>
            </a:r>
            <a:endParaRPr/>
          </a:p>
        </p:txBody>
      </p:sp>
      <p:sp>
        <p:nvSpPr>
          <p:cNvPr id="235" name="Google Shape;235;p40"/>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381000" lvl="0" marL="457200" rtl="0" algn="l">
              <a:spcBef>
                <a:spcPts val="600"/>
              </a:spcBef>
              <a:spcAft>
                <a:spcPts val="0"/>
              </a:spcAft>
              <a:buSzPts val="2400"/>
              <a:buChar char="●"/>
            </a:pPr>
            <a:r>
              <a:rPr lang="en-GB" sz="2400"/>
              <a:t>Non-scientific reports often need a very similar structure but with different headings</a:t>
            </a:r>
            <a:endParaRPr sz="2400"/>
          </a:p>
          <a:p>
            <a:pPr indent="-381000" lvl="0" marL="457200" rtl="0" algn="l">
              <a:spcBef>
                <a:spcPts val="0"/>
              </a:spcBef>
              <a:spcAft>
                <a:spcPts val="0"/>
              </a:spcAft>
              <a:buSzPts val="2400"/>
              <a:buChar char="●"/>
            </a:pPr>
            <a:r>
              <a:rPr lang="en-GB" sz="2400"/>
              <a:t>Executive summary (often bullet pointed conclusions or main points)</a:t>
            </a:r>
            <a:endParaRPr sz="2400"/>
          </a:p>
          <a:p>
            <a:pPr indent="-381000" lvl="0" marL="457200" rtl="0" algn="l">
              <a:spcBef>
                <a:spcPts val="0"/>
              </a:spcBef>
              <a:spcAft>
                <a:spcPts val="0"/>
              </a:spcAft>
              <a:buSzPts val="2400"/>
              <a:buChar char="●"/>
            </a:pPr>
            <a:r>
              <a:rPr lang="en-GB" sz="2400"/>
              <a:t>Introduction (CONVO – see next slide)</a:t>
            </a:r>
            <a:endParaRPr sz="2400"/>
          </a:p>
          <a:p>
            <a:pPr indent="-381000" lvl="0" marL="457200" rtl="0" algn="l">
              <a:spcBef>
                <a:spcPts val="0"/>
              </a:spcBef>
              <a:spcAft>
                <a:spcPts val="0"/>
              </a:spcAft>
              <a:buSzPts val="2400"/>
              <a:buChar char="●"/>
            </a:pPr>
            <a:r>
              <a:rPr lang="en-GB" sz="2400"/>
              <a:t>Background (optional)</a:t>
            </a:r>
            <a:endParaRPr sz="2400"/>
          </a:p>
          <a:p>
            <a:pPr indent="-381000" lvl="0" marL="457200" rtl="0" algn="l">
              <a:spcBef>
                <a:spcPts val="0"/>
              </a:spcBef>
              <a:spcAft>
                <a:spcPts val="0"/>
              </a:spcAft>
              <a:buSzPts val="2400"/>
              <a:buChar char="●"/>
            </a:pPr>
            <a:r>
              <a:rPr lang="en-GB" sz="2400"/>
              <a:t>Key idea 1 (this is like method / results)</a:t>
            </a:r>
            <a:endParaRPr sz="2400"/>
          </a:p>
          <a:p>
            <a:pPr indent="-381000" lvl="0" marL="457200" rtl="0" algn="l">
              <a:spcBef>
                <a:spcPts val="0"/>
              </a:spcBef>
              <a:spcAft>
                <a:spcPts val="0"/>
              </a:spcAft>
              <a:buSzPts val="2400"/>
              <a:buChar char="●"/>
            </a:pPr>
            <a:r>
              <a:rPr lang="en-GB" sz="2400"/>
              <a:t>Key idea 2</a:t>
            </a:r>
            <a:endParaRPr sz="2400"/>
          </a:p>
          <a:p>
            <a:pPr indent="-381000" lvl="0" marL="457200" rtl="0" algn="l">
              <a:spcBef>
                <a:spcPts val="0"/>
              </a:spcBef>
              <a:spcAft>
                <a:spcPts val="0"/>
              </a:spcAft>
              <a:buSzPts val="2400"/>
              <a:buChar char="●"/>
            </a:pPr>
            <a:r>
              <a:rPr lang="en-GB" sz="2400"/>
              <a:t>…</a:t>
            </a:r>
            <a:endParaRPr sz="2400"/>
          </a:p>
          <a:p>
            <a:pPr indent="-381000" lvl="0" marL="457200" rtl="0" algn="l">
              <a:spcBef>
                <a:spcPts val="0"/>
              </a:spcBef>
              <a:spcAft>
                <a:spcPts val="0"/>
              </a:spcAft>
              <a:buSzPts val="2400"/>
              <a:buChar char="●"/>
            </a:pPr>
            <a:r>
              <a:rPr lang="en-GB" sz="2400"/>
              <a:t>Conclusions</a:t>
            </a:r>
            <a:endParaRPr sz="2400"/>
          </a:p>
          <a:p>
            <a:pPr indent="0" lvl="0" marL="0" rtl="0" algn="l">
              <a:spcBef>
                <a:spcPts val="600"/>
              </a:spcBef>
              <a:spcAft>
                <a:spcPts val="0"/>
              </a:spcAft>
              <a:buNone/>
            </a:pPr>
            <a:r>
              <a:t/>
            </a:r>
            <a:endParaRPr sz="24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1"/>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CoNVO</a:t>
            </a:r>
            <a:endParaRPr/>
          </a:p>
        </p:txBody>
      </p:sp>
      <p:sp>
        <p:nvSpPr>
          <p:cNvPr id="241" name="Google Shape;241;p41"/>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419100" lvl="0" marL="457200" rtl="0" algn="l">
              <a:lnSpc>
                <a:spcPct val="100000"/>
              </a:lnSpc>
              <a:spcBef>
                <a:spcPts val="600"/>
              </a:spcBef>
              <a:spcAft>
                <a:spcPts val="0"/>
              </a:spcAft>
              <a:buSzPts val="3000"/>
              <a:buChar char="●"/>
            </a:pPr>
            <a:r>
              <a:rPr lang="en-GB"/>
              <a:t>Context</a:t>
            </a:r>
            <a:endParaRPr/>
          </a:p>
          <a:p>
            <a:pPr indent="-381000" lvl="1" marL="914400" rtl="0" algn="l">
              <a:lnSpc>
                <a:spcPct val="100000"/>
              </a:lnSpc>
              <a:spcBef>
                <a:spcPts val="0"/>
              </a:spcBef>
              <a:spcAft>
                <a:spcPts val="0"/>
              </a:spcAft>
              <a:buSzPts val="2400"/>
              <a:buChar char="○"/>
            </a:pPr>
            <a:r>
              <a:rPr lang="en-GB"/>
              <a:t>What the situation is</a:t>
            </a:r>
            <a:endParaRPr/>
          </a:p>
          <a:p>
            <a:pPr indent="-419100" lvl="0" marL="457200" rtl="0" algn="l">
              <a:lnSpc>
                <a:spcPct val="100000"/>
              </a:lnSpc>
              <a:spcBef>
                <a:spcPts val="0"/>
              </a:spcBef>
              <a:spcAft>
                <a:spcPts val="0"/>
              </a:spcAft>
              <a:buSzPts val="3000"/>
              <a:buChar char="●"/>
            </a:pPr>
            <a:r>
              <a:rPr lang="en-GB"/>
              <a:t>Need</a:t>
            </a:r>
            <a:endParaRPr/>
          </a:p>
          <a:p>
            <a:pPr indent="-381000" lvl="1" marL="914400" rtl="0" algn="l">
              <a:lnSpc>
                <a:spcPct val="100000"/>
              </a:lnSpc>
              <a:spcBef>
                <a:spcPts val="0"/>
              </a:spcBef>
              <a:spcAft>
                <a:spcPts val="0"/>
              </a:spcAft>
              <a:buSzPts val="2400"/>
              <a:buChar char="○"/>
            </a:pPr>
            <a:r>
              <a:rPr lang="en-GB"/>
              <a:t>What the specific problem to be addressed is</a:t>
            </a:r>
            <a:endParaRPr/>
          </a:p>
          <a:p>
            <a:pPr indent="-419100" lvl="0" marL="457200" rtl="0" algn="l">
              <a:lnSpc>
                <a:spcPct val="100000"/>
              </a:lnSpc>
              <a:spcBef>
                <a:spcPts val="0"/>
              </a:spcBef>
              <a:spcAft>
                <a:spcPts val="0"/>
              </a:spcAft>
              <a:buSzPts val="3000"/>
              <a:buChar char="●"/>
            </a:pPr>
            <a:r>
              <a:rPr lang="en-GB"/>
              <a:t>Vision</a:t>
            </a:r>
            <a:endParaRPr/>
          </a:p>
          <a:p>
            <a:pPr indent="-342900" lvl="1" marL="914400" rtl="0" algn="l">
              <a:lnSpc>
                <a:spcPct val="100000"/>
              </a:lnSpc>
              <a:spcBef>
                <a:spcPts val="0"/>
              </a:spcBef>
              <a:spcAft>
                <a:spcPts val="0"/>
              </a:spcAft>
              <a:buSzPts val="1800"/>
              <a:buChar char="○"/>
            </a:pPr>
            <a:r>
              <a:rPr lang="en-GB" sz="1800"/>
              <a:t>What we are heading towards (and this is only one part of)</a:t>
            </a:r>
            <a:endParaRPr sz="1800"/>
          </a:p>
          <a:p>
            <a:pPr indent="-419100" lvl="0" marL="457200" rtl="0" algn="l">
              <a:lnSpc>
                <a:spcPct val="100000"/>
              </a:lnSpc>
              <a:spcBef>
                <a:spcPts val="0"/>
              </a:spcBef>
              <a:spcAft>
                <a:spcPts val="0"/>
              </a:spcAft>
              <a:buSzPts val="3000"/>
              <a:buChar char="●"/>
            </a:pPr>
            <a:r>
              <a:rPr lang="en-GB"/>
              <a:t>Outcome</a:t>
            </a:r>
            <a:endParaRPr/>
          </a:p>
          <a:p>
            <a:pPr indent="-381000" lvl="1" marL="914400" rtl="0" algn="l">
              <a:lnSpc>
                <a:spcPct val="100000"/>
              </a:lnSpc>
              <a:spcBef>
                <a:spcPts val="0"/>
              </a:spcBef>
              <a:spcAft>
                <a:spcPts val="0"/>
              </a:spcAft>
              <a:buSzPts val="2400"/>
              <a:buChar char="○"/>
            </a:pPr>
            <a:r>
              <a:rPr lang="en-GB"/>
              <a:t>What is likely to occur if we solve this problem</a:t>
            </a:r>
            <a:endParaRPr/>
          </a:p>
        </p:txBody>
      </p:sp>
      <p:sp>
        <p:nvSpPr>
          <p:cNvPr id="242" name="Google Shape;242;p41"/>
          <p:cNvSpPr txBox="1"/>
          <p:nvPr/>
        </p:nvSpPr>
        <p:spPr>
          <a:xfrm>
            <a:off x="483433" y="4632722"/>
            <a:ext cx="7667400" cy="2805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None/>
            </a:pPr>
            <a:r>
              <a:rPr lang="en-GB" sz="1100"/>
              <a:t>From Shron M. (2014) Thinking with Data, O’Reilly. </a:t>
            </a:r>
            <a:endParaRPr sz="11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2"/>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e.g. Driver-less cars</a:t>
            </a:r>
            <a:endParaRPr/>
          </a:p>
        </p:txBody>
      </p:sp>
      <p:sp>
        <p:nvSpPr>
          <p:cNvPr id="248" name="Google Shape;248;p42"/>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152400" lvl="0" marL="177800" rtl="0" algn="l">
              <a:spcBef>
                <a:spcPts val="600"/>
              </a:spcBef>
              <a:spcAft>
                <a:spcPts val="0"/>
              </a:spcAft>
              <a:buSzPts val="1800"/>
              <a:buChar char="•"/>
            </a:pPr>
            <a:r>
              <a:rPr b="1" lang="en-GB" sz="1800"/>
              <a:t>Context</a:t>
            </a:r>
            <a:r>
              <a:rPr lang="en-GB" sz="1800"/>
              <a:t>: </a:t>
            </a:r>
            <a:r>
              <a:rPr lang="en-GB" sz="2400">
                <a:latin typeface="Caveat"/>
                <a:ea typeface="Caveat"/>
                <a:cs typeface="Caveat"/>
                <a:sym typeface="Caveat"/>
              </a:rPr>
              <a:t>Almost all vehicles currently require active, engaged participation of a human driver.</a:t>
            </a:r>
            <a:endParaRPr sz="2400">
              <a:latin typeface="Caveat"/>
              <a:ea typeface="Caveat"/>
              <a:cs typeface="Caveat"/>
              <a:sym typeface="Caveat"/>
            </a:endParaRPr>
          </a:p>
          <a:p>
            <a:pPr indent="-152400" lvl="0" marL="177800" rtl="0" algn="l">
              <a:spcBef>
                <a:spcPts val="0"/>
              </a:spcBef>
              <a:spcAft>
                <a:spcPts val="0"/>
              </a:spcAft>
              <a:buSzPts val="1800"/>
              <a:buChar char="•"/>
            </a:pPr>
            <a:r>
              <a:rPr b="1" lang="en-GB" sz="1800"/>
              <a:t>Need</a:t>
            </a:r>
            <a:r>
              <a:rPr lang="en-GB" sz="1800"/>
              <a:t>: </a:t>
            </a:r>
            <a:r>
              <a:rPr lang="en-GB" sz="2400">
                <a:latin typeface="Caveat"/>
                <a:ea typeface="Caveat"/>
                <a:cs typeface="Caveat"/>
                <a:sym typeface="Caveat"/>
              </a:rPr>
              <a:t>Human drivers are unreliable and error prone leading to loss of life and property damage. </a:t>
            </a:r>
            <a:endParaRPr sz="2400">
              <a:latin typeface="Caveat"/>
              <a:ea typeface="Caveat"/>
              <a:cs typeface="Caveat"/>
              <a:sym typeface="Caveat"/>
            </a:endParaRPr>
          </a:p>
          <a:p>
            <a:pPr indent="-152400" lvl="0" marL="177800" rtl="0" algn="l">
              <a:spcBef>
                <a:spcPts val="0"/>
              </a:spcBef>
              <a:spcAft>
                <a:spcPts val="0"/>
              </a:spcAft>
              <a:buSzPts val="1800"/>
              <a:buChar char="•"/>
            </a:pPr>
            <a:r>
              <a:rPr b="1" lang="en-GB" sz="1800"/>
              <a:t>Vision</a:t>
            </a:r>
            <a:r>
              <a:rPr lang="en-GB" sz="1800"/>
              <a:t>: </a:t>
            </a:r>
            <a:r>
              <a:rPr lang="en-GB" sz="2400">
                <a:latin typeface="Caveat"/>
                <a:ea typeface="Caveat"/>
                <a:cs typeface="Caveat"/>
                <a:sym typeface="Caveat"/>
              </a:rPr>
              <a:t>A passenger will key in or state a destination and need to perform no other action until the destination is reached.</a:t>
            </a:r>
            <a:endParaRPr sz="2400">
              <a:latin typeface="Caveat"/>
              <a:ea typeface="Caveat"/>
              <a:cs typeface="Caveat"/>
              <a:sym typeface="Caveat"/>
            </a:endParaRPr>
          </a:p>
          <a:p>
            <a:pPr indent="-152400" lvl="0" marL="177800" rtl="0" algn="l">
              <a:spcBef>
                <a:spcPts val="0"/>
              </a:spcBef>
              <a:spcAft>
                <a:spcPts val="0"/>
              </a:spcAft>
              <a:buSzPts val="1800"/>
              <a:buChar char="•"/>
            </a:pPr>
            <a:r>
              <a:rPr b="1" lang="en-GB" sz="1800"/>
              <a:t>Outcome</a:t>
            </a:r>
            <a:r>
              <a:rPr lang="en-GB" sz="1800"/>
              <a:t>: </a:t>
            </a:r>
            <a:r>
              <a:rPr lang="en-GB" sz="2000">
                <a:latin typeface="Caveat"/>
                <a:ea typeface="Caveat"/>
                <a:cs typeface="Caveat"/>
                <a:sym typeface="Caveat"/>
              </a:rPr>
              <a:t>Driver-less or autonomous cars might significantly reduce errors and the associated losses. In addition, car sharing might be easier; you won’t necessarily have to own the car. Furthermore, the passenger will be able to perform other work while being transported. Finally, traffic jams might be lessened since drives can be coordinated.</a:t>
            </a:r>
            <a:endParaRPr sz="2000">
              <a:latin typeface="Caveat"/>
              <a:ea typeface="Caveat"/>
              <a:cs typeface="Caveat"/>
              <a:sym typeface="Cavea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3"/>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3300"/>
              <a:buFont typeface="Calibri"/>
              <a:buNone/>
            </a:pPr>
            <a:r>
              <a:rPr lang="en-GB"/>
              <a:t>Additional information</a:t>
            </a:r>
            <a:endParaRPr/>
          </a:p>
        </p:txBody>
      </p:sp>
      <p:sp>
        <p:nvSpPr>
          <p:cNvPr id="254" name="Google Shape;254;p43"/>
          <p:cNvSpPr txBox="1"/>
          <p:nvPr>
            <p:ph idx="1" type="body"/>
          </p:nvPr>
        </p:nvSpPr>
        <p:spPr>
          <a:xfrm>
            <a:off x="457200" y="1200150"/>
            <a:ext cx="8229600" cy="3725700"/>
          </a:xfrm>
          <a:prstGeom prst="rect">
            <a:avLst/>
          </a:prstGeom>
          <a:noFill/>
          <a:ln>
            <a:noFill/>
          </a:ln>
        </p:spPr>
        <p:txBody>
          <a:bodyPr anchorCtr="0" anchor="t" bIns="34275" lIns="68575" spcFirstLastPara="1" rIns="68575" wrap="square" tIns="34275">
            <a:noAutofit/>
          </a:bodyPr>
          <a:lstStyle/>
          <a:p>
            <a:pPr indent="-419100" lvl="0" marL="457200" rtl="0" algn="l">
              <a:spcBef>
                <a:spcPts val="600"/>
              </a:spcBef>
              <a:spcAft>
                <a:spcPts val="0"/>
              </a:spcAft>
              <a:buSzPts val="3000"/>
              <a:buChar char="●"/>
            </a:pPr>
            <a:r>
              <a:rPr lang="en-GB"/>
              <a:t>Do the Stanford </a:t>
            </a:r>
            <a:r>
              <a:rPr lang="en-GB" u="sng">
                <a:solidFill>
                  <a:schemeClr val="hlink"/>
                </a:solidFill>
                <a:hlinkClick r:id="rId3"/>
              </a:rPr>
              <a:t>Writing in the Sciences</a:t>
            </a:r>
            <a:r>
              <a:rPr lang="en-GB"/>
              <a:t> course </a:t>
            </a:r>
            <a:endParaRPr/>
          </a:p>
          <a:p>
            <a:pPr indent="-419100" lvl="0" marL="457200" rtl="0" algn="l">
              <a:spcBef>
                <a:spcPts val="0"/>
              </a:spcBef>
              <a:spcAft>
                <a:spcPts val="0"/>
              </a:spcAft>
              <a:buSzPts val="3000"/>
              <a:buChar char="●"/>
            </a:pPr>
            <a:r>
              <a:rPr lang="en-GB"/>
              <a:t>Strunk and White’s Elements of Style</a:t>
            </a:r>
            <a:endParaRPr/>
          </a:p>
          <a:p>
            <a:pPr indent="0" lvl="0" marL="0" rtl="0" algn="l">
              <a:spcBef>
                <a:spcPts val="600"/>
              </a:spcBef>
              <a:spcAft>
                <a:spcPts val="0"/>
              </a:spcAft>
              <a:buNone/>
            </a:pPr>
            <a:r>
              <a:t/>
            </a:r>
            <a:endParaRPr/>
          </a:p>
          <a:p>
            <a:pPr indent="0" lvl="0" marL="0" rtl="0" algn="l">
              <a:spcBef>
                <a:spcPts val="600"/>
              </a:spcBef>
              <a:spcAft>
                <a:spcPts val="0"/>
              </a:spcAft>
              <a:buClr>
                <a:schemeClr val="dk1"/>
              </a:buClr>
              <a:buSzPts val="2100"/>
              <a:buFont typeface="Arial"/>
              <a:buNone/>
            </a:pPr>
            <a:r>
              <a:t/>
            </a:r>
            <a:endParaRPr/>
          </a:p>
          <a:p>
            <a:pPr indent="0" lvl="0" marL="0" rtl="0" algn="l">
              <a:spcBef>
                <a:spcPts val="600"/>
              </a:spcBef>
              <a:spcAft>
                <a:spcPts val="0"/>
              </a:spcAft>
              <a:buClr>
                <a:schemeClr val="dk1"/>
              </a:buClr>
              <a:buSzPts val="2100"/>
              <a:buFont typeface="Arial"/>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Biz">
  <a:themeElements>
    <a:clrScheme name="Custom 233">
      <a:dk1>
        <a:srgbClr val="000000"/>
      </a:dk1>
      <a:lt1>
        <a:srgbClr val="FFFFFF"/>
      </a:lt1>
      <a:dk2>
        <a:srgbClr val="2388DB"/>
      </a:dk2>
      <a:lt2>
        <a:srgbClr val="BBD7F8"/>
      </a:lt2>
      <a:accent1>
        <a:srgbClr val="80B606"/>
      </a:accent1>
      <a:accent2>
        <a:srgbClr val="E29F1D"/>
      </a:accent2>
      <a:accent3>
        <a:srgbClr val="1D6FB2"/>
      </a:accent3>
      <a:accent4>
        <a:srgbClr val="3FAC98"/>
      </a:accent4>
      <a:accent5>
        <a:srgbClr val="5B57BB"/>
      </a:accent5>
      <a:accent6>
        <a:srgbClr val="D1505E"/>
      </a:accent6>
      <a:hlink>
        <a:srgbClr val="185DA2"/>
      </a:hlink>
      <a:folHlink>
        <a:srgbClr val="00487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