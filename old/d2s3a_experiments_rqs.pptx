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7d43548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27d43548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7d435483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7d43548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7d435483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7d435483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7d435483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7d435483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7d435483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7d435483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d435483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7d435483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7d435483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7d435483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7d435483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7d435483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7d435483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7d435483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7d435483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7d435483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d435483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7d435483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d435483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d435483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7d435483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7d435483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7d435483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7d435483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7d435483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7d435483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control group avoids maturation threat but note that there is no pre-test now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7d435483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7d435483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7d435483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7d435483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7d435483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7d435483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d435483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7d435483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d4354834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7d435483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7d4354834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7d435483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7d4354834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7d435483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d4354834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7d435483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7d4354834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7d4354834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7d435483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7d435483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7d4354834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7d435483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7d435483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7d435483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7d435483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7d435483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51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0" y="349660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omic Sans MS"/>
              <a:buNone/>
              <a:defRPr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5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mic Sans MS"/>
              <a:buNone/>
              <a:defRPr sz="18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/>
        </p:txBody>
      </p:sp>
      <p:sp>
        <p:nvSpPr>
          <p:cNvPr id="35" name="Google Shape;35;p6"/>
          <p:cNvSpPr/>
          <p:nvPr/>
        </p:nvSpPr>
        <p:spPr>
          <a:xfrm>
            <a:off x="4274" y="0"/>
            <a:ext cx="9144000" cy="44064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0" y="4384371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iz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pgr week</a:t>
            </a:r>
            <a:endParaRPr/>
          </a:p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experiments and research questions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intended learning outcomes</a:t>
            </a:r>
            <a:endParaRPr/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design research that produces rigorous results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locate, appraise, and summarise relevant literature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write a clear and concise research paper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present a persuasive presentation on the research paper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proofread and referee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1138" y="220377"/>
            <a:ext cx="3921725" cy="47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www.cdn.sciencebuddies.org/Files/5084/7/2013-updated_scientific-method-steps_v6_noheader.png" id="61" name="Google Shape;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5072" y="73025"/>
            <a:ext cx="4243200" cy="50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</a:t>
            </a:r>
            <a:endParaRPr/>
          </a:p>
        </p:txBody>
      </p:sp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How would you study the “quality” of this course? How good is it? Does it achieve its aims?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In groups, come up with a research question that asks this type of question more precisely.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</a:t>
            </a:r>
            <a:endParaRPr/>
          </a:p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probably we found many ways to pose this question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interestingly different questions will lead us to use different experimental methods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it will also lead to potentially different conclusions (although hopefully not conflicting ones)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critical thinking checklist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800"/>
              <a:t>Identify what's important:</a:t>
            </a:r>
            <a:endParaRPr sz="1800"/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What are the key ideas, problems, arguments, observations, findings, conclusions?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What evidence is there?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Distinguish critical from other types of writing (eg descriptive); fact from opinion; bias from reason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800"/>
              <a:t>Evaluate what you find:</a:t>
            </a:r>
            <a:endParaRPr sz="1800"/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Explore the evidence - does it convince?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What assumptions are being made and inferences drawn?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Is there engagement with relevant, up to date research?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How appropriate are the methods of investigation?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Is there a consistent and logical line of reasoning?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Do you agree with what's being said? Why?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How is language being used (emotive, biased etc.)?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0" name="Google Shape;80;p1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600"/>
              <a:t>Look beyond what you're reading/hearing:</a:t>
            </a:r>
            <a:endParaRPr sz="1400"/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What other viewpoints, interpretations and perspectives are there? What's the evidence for these? How do they compare?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How does your prior knowledge and understanding relate to these ideas, findings, observations etc.?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What are the implications of what you're reading/hearing?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600"/>
              <a:t>Clarify your point of view:</a:t>
            </a:r>
            <a:endParaRPr sz="1400"/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Weigh up the relevant research in the area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Find effective reasons and evidence for your views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Reach conclusions on the basis of your reasoning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Illustrate your reasons with effective examples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 what's important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What are the key ideas, problems, arguments, observations, findings, conclusions?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What evidence is there?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Distinguish critical from other types of writing (eg descriptive); fact from opinion; bias from reason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/>
              <a:t>evaluate what you find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Explore the evidence - does it convince?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What assumptions are being made and inferences drawn?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Is there engagement with relevant, up to date research?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How appropriate are the methods of investigation?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Is there a consistent and logical line of reasoning?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Do you agree with what's being said? Why?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How is language being used (emotive, biased etc.)?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look beyond what you're reading/hearing</a:t>
            </a:r>
            <a:endParaRPr sz="3000"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What other viewpoints, interpretations and perspectives are there? What's the evidence for these? How do they compare?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How does your prior knowledge and understanding relate to these ideas, findings, observations etc.?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What are the implications of what you're reading/hearing?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clarify your point of view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Weigh up the relevant research in the area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Find effective reasons and evidence for your views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Reach conclusions on the basis of your reasoning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Illustrate your reasons with effective examples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How good is this course? Based on the previous research question: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Discuss the question in your groups and come up with 3 or 4 different experiment designs that would answer it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research design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case studies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one group pre-test post-test design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static group comparison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true experimental design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case study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81000" y="1200150"/>
            <a:ext cx="8167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why?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rare instances?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may still be informative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why not?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cannot analyse statistically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one-off may really be a one-off</a:t>
            </a:r>
            <a:endParaRPr/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750" y="-66675"/>
            <a:ext cx="476250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 pre-test post-test design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457200" y="2666500"/>
            <a:ext cx="4085400" cy="22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why?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shows change in variable, before versus after</a:t>
            </a:r>
            <a:endParaRPr/>
          </a:p>
        </p:txBody>
      </p:sp>
      <p:sp>
        <p:nvSpPr>
          <p:cNvPr id="130" name="Google Shape;130;p22"/>
          <p:cNvSpPr txBox="1"/>
          <p:nvPr/>
        </p:nvSpPr>
        <p:spPr>
          <a:xfrm>
            <a:off x="4719475" y="2701900"/>
            <a:ext cx="41649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why not?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 sz="3000"/>
              <a:t>no randomised selection 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 sz="3000"/>
              <a:t>no control group</a:t>
            </a:r>
            <a:endParaRPr sz="3000"/>
          </a:p>
        </p:txBody>
      </p:sp>
      <p:sp>
        <p:nvSpPr>
          <p:cNvPr id="131" name="Google Shape;131;p22"/>
          <p:cNvSpPr/>
          <p:nvPr/>
        </p:nvSpPr>
        <p:spPr>
          <a:xfrm>
            <a:off x="4427550" y="1585175"/>
            <a:ext cx="1665600" cy="5949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treatment</a:t>
            </a:r>
            <a:endParaRPr/>
          </a:p>
        </p:txBody>
      </p:sp>
      <p:sp>
        <p:nvSpPr>
          <p:cNvPr id="132" name="Google Shape;132;p22"/>
          <p:cNvSpPr txBox="1"/>
          <p:nvPr/>
        </p:nvSpPr>
        <p:spPr>
          <a:xfrm>
            <a:off x="3238200" y="1585175"/>
            <a:ext cx="964200" cy="59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pretest</a:t>
            </a:r>
            <a:endParaRPr sz="1800"/>
          </a:p>
        </p:txBody>
      </p:sp>
      <p:sp>
        <p:nvSpPr>
          <p:cNvPr id="133" name="Google Shape;133;p22"/>
          <p:cNvSpPr txBox="1"/>
          <p:nvPr/>
        </p:nvSpPr>
        <p:spPr>
          <a:xfrm>
            <a:off x="6318300" y="1585175"/>
            <a:ext cx="1200300" cy="5949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post-test</a:t>
            </a:r>
            <a:endParaRPr sz="1800"/>
          </a:p>
        </p:txBody>
      </p:sp>
      <p:cxnSp>
        <p:nvCxnSpPr>
          <p:cNvPr id="134" name="Google Shape;134;p22"/>
          <p:cNvCxnSpPr>
            <a:stCxn id="132" idx="3"/>
            <a:endCxn id="131" idx="2"/>
          </p:cNvCxnSpPr>
          <p:nvPr/>
        </p:nvCxnSpPr>
        <p:spPr>
          <a:xfrm>
            <a:off x="4202400" y="1882625"/>
            <a:ext cx="225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22"/>
          <p:cNvCxnSpPr>
            <a:stCxn id="131" idx="6"/>
            <a:endCxn id="133" idx="1"/>
          </p:cNvCxnSpPr>
          <p:nvPr/>
        </p:nvCxnSpPr>
        <p:spPr>
          <a:xfrm>
            <a:off x="6093150" y="1882625"/>
            <a:ext cx="225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22"/>
          <p:cNvSpPr txBox="1"/>
          <p:nvPr/>
        </p:nvSpPr>
        <p:spPr>
          <a:xfrm>
            <a:off x="1625400" y="1516475"/>
            <a:ext cx="1387800" cy="732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experiment group</a:t>
            </a:r>
            <a:endParaRPr sz="1800"/>
          </a:p>
        </p:txBody>
      </p:sp>
      <p:cxnSp>
        <p:nvCxnSpPr>
          <p:cNvPr id="137" name="Google Shape;137;p22"/>
          <p:cNvCxnSpPr>
            <a:stCxn id="136" idx="3"/>
            <a:endCxn id="132" idx="1"/>
          </p:cNvCxnSpPr>
          <p:nvPr/>
        </p:nvCxnSpPr>
        <p:spPr>
          <a:xfrm>
            <a:off x="3013200" y="1882625"/>
            <a:ext cx="225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static group comparison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457200" y="3276525"/>
            <a:ext cx="8368200" cy="16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why? / why not?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control / experiment selection should be random</a:t>
            </a:r>
            <a:endParaRPr/>
          </a:p>
        </p:txBody>
      </p:sp>
      <p:grpSp>
        <p:nvGrpSpPr>
          <p:cNvPr id="144" name="Google Shape;144;p23"/>
          <p:cNvGrpSpPr/>
          <p:nvPr/>
        </p:nvGrpSpPr>
        <p:grpSpPr>
          <a:xfrm>
            <a:off x="2220025" y="1296800"/>
            <a:ext cx="4703950" cy="1649400"/>
            <a:chOff x="1090400" y="1276725"/>
            <a:chExt cx="4703950" cy="1649400"/>
          </a:xfrm>
        </p:grpSpPr>
        <p:sp>
          <p:nvSpPr>
            <p:cNvPr id="145" name="Google Shape;145;p23"/>
            <p:cNvSpPr/>
            <p:nvPr/>
          </p:nvSpPr>
          <p:spPr>
            <a:xfrm>
              <a:off x="2703325" y="1345425"/>
              <a:ext cx="1665600" cy="5949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treatment</a:t>
              </a:r>
              <a:endParaRPr/>
            </a:p>
          </p:txBody>
        </p:sp>
        <p:sp>
          <p:nvSpPr>
            <p:cNvPr id="146" name="Google Shape;146;p23"/>
            <p:cNvSpPr txBox="1"/>
            <p:nvPr/>
          </p:nvSpPr>
          <p:spPr>
            <a:xfrm>
              <a:off x="1090400" y="1276725"/>
              <a:ext cx="1387800" cy="7323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experiment group</a:t>
              </a:r>
              <a:endParaRPr sz="1800"/>
            </a:p>
          </p:txBody>
        </p:sp>
        <p:sp>
          <p:nvSpPr>
            <p:cNvPr id="147" name="Google Shape;147;p23"/>
            <p:cNvSpPr txBox="1"/>
            <p:nvPr/>
          </p:nvSpPr>
          <p:spPr>
            <a:xfrm>
              <a:off x="4594050" y="1345425"/>
              <a:ext cx="1200300" cy="594900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post-test</a:t>
              </a:r>
              <a:endParaRPr sz="1800"/>
            </a:p>
          </p:txBody>
        </p:sp>
        <p:cxnSp>
          <p:nvCxnSpPr>
            <p:cNvPr id="148" name="Google Shape;148;p23"/>
            <p:cNvCxnSpPr>
              <a:stCxn id="146" idx="3"/>
              <a:endCxn id="145" idx="2"/>
            </p:cNvCxnSpPr>
            <p:nvPr/>
          </p:nvCxnSpPr>
          <p:spPr>
            <a:xfrm>
              <a:off x="2478200" y="1642875"/>
              <a:ext cx="225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9" name="Google Shape;149;p23"/>
            <p:cNvCxnSpPr>
              <a:stCxn id="145" idx="6"/>
              <a:endCxn id="147" idx="1"/>
            </p:cNvCxnSpPr>
            <p:nvPr/>
          </p:nvCxnSpPr>
          <p:spPr>
            <a:xfrm>
              <a:off x="4368925" y="1642875"/>
              <a:ext cx="225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0" name="Google Shape;150;p23"/>
            <p:cNvSpPr txBox="1"/>
            <p:nvPr/>
          </p:nvSpPr>
          <p:spPr>
            <a:xfrm>
              <a:off x="1090400" y="2193825"/>
              <a:ext cx="1387800" cy="732300"/>
            </a:xfrm>
            <a:prstGeom prst="rect">
              <a:avLst/>
            </a:prstGeom>
            <a:solidFill>
              <a:srgbClr val="FCE5C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control group</a:t>
              </a:r>
              <a:endParaRPr sz="1800"/>
            </a:p>
          </p:txBody>
        </p:sp>
        <p:sp>
          <p:nvSpPr>
            <p:cNvPr id="151" name="Google Shape;151;p23"/>
            <p:cNvSpPr txBox="1"/>
            <p:nvPr/>
          </p:nvSpPr>
          <p:spPr>
            <a:xfrm>
              <a:off x="4594050" y="2262525"/>
              <a:ext cx="1200300" cy="594900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post-test</a:t>
              </a:r>
              <a:endParaRPr sz="1800"/>
            </a:p>
          </p:txBody>
        </p:sp>
        <p:cxnSp>
          <p:nvCxnSpPr>
            <p:cNvPr id="152" name="Google Shape;152;p23"/>
            <p:cNvCxnSpPr>
              <a:stCxn id="150" idx="3"/>
              <a:endCxn id="151" idx="1"/>
            </p:cNvCxnSpPr>
            <p:nvPr/>
          </p:nvCxnSpPr>
          <p:spPr>
            <a:xfrm>
              <a:off x="2478200" y="2559975"/>
              <a:ext cx="2115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true experimental design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For an experiment to be considered a true design:</a:t>
            </a:r>
            <a:endParaRPr sz="2400"/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The sample groups must be assigned randomly.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There must be a viable control group.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Only one variable can be manipulated and tested. It is possible to test more than one, but such experiments and their statistical analysis tend to be cumbersome and difficult.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The tested subjects must be randomly assigned to either control or experimental groups</a:t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validity</a:t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" name="Google Shape;165;p25"/>
          <p:cNvGrpSpPr/>
          <p:nvPr/>
        </p:nvGrpSpPr>
        <p:grpSpPr>
          <a:xfrm>
            <a:off x="1671675" y="1315625"/>
            <a:ext cx="5753484" cy="3447252"/>
            <a:chOff x="1747875" y="934625"/>
            <a:chExt cx="5753484" cy="3447252"/>
          </a:xfrm>
        </p:grpSpPr>
        <p:sp>
          <p:nvSpPr>
            <p:cNvPr id="166" name="Google Shape;166;p25"/>
            <p:cNvSpPr/>
            <p:nvPr/>
          </p:nvSpPr>
          <p:spPr>
            <a:xfrm>
              <a:off x="1747875" y="934625"/>
              <a:ext cx="5753484" cy="3447252"/>
            </a:xfrm>
            <a:prstGeom prst="cloud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5"/>
            <p:cNvSpPr/>
            <p:nvPr/>
          </p:nvSpPr>
          <p:spPr>
            <a:xfrm>
              <a:off x="2564500" y="1916450"/>
              <a:ext cx="2172600" cy="1359600"/>
            </a:xfrm>
            <a:prstGeom prst="ellipse">
              <a:avLst/>
            </a:prstGeom>
            <a:solidFill>
              <a:srgbClr val="D9EAD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Inside the study: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/>
                <a:t>Internal</a:t>
              </a:r>
              <a:r>
                <a:rPr lang="en-GB"/>
                <a:t> validity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Was the research done “right”?</a:t>
              </a:r>
              <a:endParaRPr/>
            </a:p>
          </p:txBody>
        </p:sp>
        <p:sp>
          <p:nvSpPr>
            <p:cNvPr id="168" name="Google Shape;168;p25"/>
            <p:cNvSpPr txBox="1"/>
            <p:nvPr/>
          </p:nvSpPr>
          <p:spPr>
            <a:xfrm>
              <a:off x="4839725" y="1578800"/>
              <a:ext cx="22578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Outside the study: </a:t>
              </a:r>
              <a:r>
                <a:rPr b="1" lang="en-GB"/>
                <a:t>External </a:t>
              </a:r>
              <a:r>
                <a:rPr lang="en-GB"/>
                <a:t>validity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Does the same thing happen in other settings?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Other labs?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Everyday settings?</a:t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threats to internal validity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History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Maturation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Testing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Instrumentation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Statistical regression to mean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Selection bias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Experimental mortality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Resentful demoralization of the control group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+ any interactions between the above…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threats to internal validity</a:t>
            </a:r>
            <a:endParaRPr/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History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GB"/>
              <a:t>Something that happened other than [xxx] (tornado, budget cut, season change)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Maturation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Testing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Instrumentation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Statistical regression to mean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Selection bias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Experimental mortality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Resentful demoralization of the control group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+ any interactions between the above…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threats to internal validity</a:t>
            </a:r>
            <a:endParaRPr/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History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Maturation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GB" sz="2400"/>
              <a:t>Something that happened in the </a:t>
            </a:r>
            <a:r>
              <a:rPr lang="en-GB"/>
              <a:t>individuals</a:t>
            </a:r>
            <a:r>
              <a:rPr lang="en-GB" sz="2400"/>
              <a:t> (hunger, growth, age, sickness)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Testing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Instrumentation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Statistical regression to mean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Selection bias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Experimental mortality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Resentful demoralization of the control group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+ any interactions between the above…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threats to internal validity</a:t>
            </a:r>
            <a:endParaRPr/>
          </a:p>
        </p:txBody>
      </p:sp>
      <p:sp>
        <p:nvSpPr>
          <p:cNvPr id="192" name="Google Shape;192;p2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History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Maturation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Testing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GB"/>
              <a:t>Taking a test again and getting better at taking the 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Instrumentation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Statistical regression to mean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Selection bias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Experimental mortality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Resentful demoralization of the control group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+ any interactions between the above…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threats to internal validity</a:t>
            </a:r>
            <a:endParaRPr/>
          </a:p>
        </p:txBody>
      </p:sp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History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Maturation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Testing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Instrumentation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GB"/>
              <a:t>Changes in the calibration of a measuring instrument (change in how you diagnose), observers, scorers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Statistical regression to mean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Selection bias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Experimental mortality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Resentful demoralization of the control group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+ any interactions between the above…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threats to internal validity</a:t>
            </a:r>
            <a:endParaRPr/>
          </a:p>
        </p:txBody>
      </p:sp>
      <p:sp>
        <p:nvSpPr>
          <p:cNvPr id="204" name="Google Shape;204;p31"/>
          <p:cNvSpPr txBox="1"/>
          <p:nvPr>
            <p:ph idx="1" type="body"/>
          </p:nvPr>
        </p:nvSpPr>
        <p:spPr>
          <a:xfrm>
            <a:off x="457200" y="1200150"/>
            <a:ext cx="5595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History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Maturation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Testing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Instrumentation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Statistical regression to mean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GB"/>
              <a:t>Selecting outliers for your study that “regress” (go back) to the mean or average.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Selection bias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Experimental mortality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Resentful demoralization of the control group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+ any interactions between the above…</a:t>
            </a:r>
            <a:endParaRPr/>
          </a:p>
        </p:txBody>
      </p:sp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2808" y="1200158"/>
            <a:ext cx="3091200" cy="2932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threats to internal validity</a:t>
            </a:r>
            <a:endParaRPr/>
          </a:p>
        </p:txBody>
      </p:sp>
      <p:sp>
        <p:nvSpPr>
          <p:cNvPr id="211" name="Google Shape;211;p3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History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Maturation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Testing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Instrumentation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Statistical regression to mean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Selection bias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GB"/>
              <a:t>Selecting people for your study on the basis of their scores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Experimental mortality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Resentful demoralization of the control group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+ any interactions between the above…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threats to internal validity</a:t>
            </a:r>
            <a:endParaRPr/>
          </a:p>
        </p:txBody>
      </p:sp>
      <p:sp>
        <p:nvSpPr>
          <p:cNvPr id="217" name="Google Shape;217;p33"/>
          <p:cNvSpPr txBox="1"/>
          <p:nvPr>
            <p:ph idx="1" type="body"/>
          </p:nvPr>
        </p:nvSpPr>
        <p:spPr>
          <a:xfrm>
            <a:off x="457200" y="1200150"/>
            <a:ext cx="4714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History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Maturation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Testing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Instrumentation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Statistical regression to mean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Selection bias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Experimental mortality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Resentful demoralization of the control group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+ any interactions between the above…</a:t>
            </a:r>
            <a:endParaRPr/>
          </a:p>
        </p:txBody>
      </p:sp>
      <p:pic>
        <p:nvPicPr>
          <p:cNvPr id="218" name="Google Shape;21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2063" y="1243000"/>
            <a:ext cx="3971925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threats to internal validity</a:t>
            </a:r>
            <a:endParaRPr/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History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Maturation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Testing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Instrumentation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Statistical regression to mean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Selection bias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Experimental mortality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Resentful demoralization of the control group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+ any interactions between the above…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threats to internal validity</a:t>
            </a:r>
            <a:endParaRPr/>
          </a:p>
        </p:txBody>
      </p:sp>
      <p:sp>
        <p:nvSpPr>
          <p:cNvPr id="230" name="Google Shape;230;p35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History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Maturation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Testing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Instrumentation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Statistical regression to mean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Selection bias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Experimental mortality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Resentful demoralization of the control group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+ any interactions between the above …</a:t>
            </a:r>
            <a:endParaRPr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External threats to validity</a:t>
            </a:r>
            <a:endParaRPr/>
          </a:p>
        </p:txBody>
      </p:sp>
      <p:sp>
        <p:nvSpPr>
          <p:cNvPr id="236" name="Google Shape;236;p36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Reactive or interactive effects of </a:t>
            </a:r>
            <a:r>
              <a:rPr b="1" lang="en-GB"/>
              <a:t>testing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 figure out what you are looking for from the questions you are asking me, the teacher tries harder when s/he knows his/her course is being evaluated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Reactive effects to </a:t>
            </a:r>
            <a:r>
              <a:rPr b="1" lang="en-GB"/>
              <a:t>experimental setting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Acting differently when being videotaped, in a lab, etc.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Multiple treatment interference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When you take a course in writing, you may also be taking other writing courses at the time which may impact outcomes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z">
  <a:themeElements>
    <a:clrScheme name="Custom 233">
      <a:dk1>
        <a:srgbClr val="000000"/>
      </a:dk1>
      <a:lt1>
        <a:srgbClr val="FFFFFF"/>
      </a:lt1>
      <a:dk2>
        <a:srgbClr val="2388DB"/>
      </a:dk2>
      <a:lt2>
        <a:srgbClr val="BBD7F8"/>
      </a:lt2>
      <a:accent1>
        <a:srgbClr val="80B606"/>
      </a:accent1>
      <a:accent2>
        <a:srgbClr val="E29F1D"/>
      </a:accent2>
      <a:accent3>
        <a:srgbClr val="1D6FB2"/>
      </a:accent3>
      <a:accent4>
        <a:srgbClr val="3FAC98"/>
      </a:accent4>
      <a:accent5>
        <a:srgbClr val="5B57BB"/>
      </a:accent5>
      <a:accent6>
        <a:srgbClr val="D1505E"/>
      </a:accent6>
      <a:hlink>
        <a:srgbClr val="185DA2"/>
      </a:hlink>
      <a:folHlink>
        <a:srgbClr val="0048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