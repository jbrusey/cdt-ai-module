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b53c5f7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b53c5f7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dfb92ccd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dfb92ccd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dfb92ccd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dfb92ccd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dfb92cc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dfb92cc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fb92ccd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fb92ccd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8393ec8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8393ec8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8393ec8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8393ec8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8393ec86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c8393ec86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8393ec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8393ec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8393ec86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c8393ec86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8393ec86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8393ec86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8393ec86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8393ec86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8393ec86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c8393ec86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c8393ec86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c8393ec86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8393ec86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c8393ec86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c8393ec86_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c8393ec86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c8393ec86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c8393ec86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c8393ec86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c8393ec86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c8393ec86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c8393ec86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e01bc43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e01bc43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illustrates use of curved arrows to centroid of box or element (with offset for some arrows to keep them separate)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produced using metapost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7c4b33c2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7c4b33c2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7c4b33c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7c4b33c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7c4b33c2c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7c4b33c2c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7c4b33c2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7c4b33c2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c8393ec86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c8393ec86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c8393ec86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c8393ec86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e01bc43d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e01bc43d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51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0" y="349660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Font typeface="Comic Sans MS"/>
              <a:buNone/>
              <a:defRPr sz="7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omic Sans MS"/>
              <a:buNone/>
              <a:defRPr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5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ic Sans MS"/>
              <a:buNone/>
              <a:defRPr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4274" y="0"/>
            <a:ext cx="9144000" cy="44064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iz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codecogs.com/latex/eqneditor.php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jmlr.csail.mit.edu/reviewing-papers/knuth_mathematical_writing.pdf" TargetMode="External"/><Relationship Id="rId4" Type="http://schemas.openxmlformats.org/officeDocument/2006/relationships/hyperlink" Target="http://goo.gl/gqWUUb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physics.nist.gov/cuu/pdf/sp811.pdf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wmo.int/pages/prog/gcos/documents/gruanmanuals/UK_NPL/mgpg11.pdf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oo.gl/LNI5wy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pgr week</a:t>
            </a:r>
            <a:endParaRPr/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Mathematics, Algorithms, Plots, Diagrams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intended learning outcomes</a:t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design research that produces rigorous results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locate, appraise, and summarise relevant literature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write a clear and concise research paper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present a persuasive presentation on the research paper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proofread and referee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- why to avoid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maths may put off many readers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you may just be reproducing proofs or formula found elsewhere for no good reason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it may not aid comprehension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- why to NOT avoid</a:t>
            </a:r>
            <a:endParaRPr/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(correct) maths forces you to be precise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GB"/>
              <a:t>trying to state things mathematically may help you clarify your ideas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maths may aid in ensuring your approach is </a:t>
            </a:r>
            <a:r>
              <a:rPr i="1" lang="en-GB"/>
              <a:t>reproducible</a:t>
            </a:r>
            <a:endParaRPr i="1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well-written maths may </a:t>
            </a:r>
            <a:r>
              <a:rPr i="1" lang="en-GB"/>
              <a:t>aid</a:t>
            </a:r>
            <a:r>
              <a:rPr lang="en-GB"/>
              <a:t> comprehension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</a:t>
            </a:r>
            <a:endParaRPr/>
          </a:p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Strongly recommend LyX or LaTeX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or possibly: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http://www.codecogs.com/latex/eqneditor.php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(but result is pixelated unless you use pdf/svg) </a:t>
            </a:r>
            <a:endParaRPr/>
          </a:p>
        </p:txBody>
      </p:sp>
      <p:pic>
        <p:nvPicPr>
          <p:cNvPr descr="CodeCogsEqn.png" id="70" name="Google Shape;7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1476" y="3595726"/>
            <a:ext cx="4815325" cy="1211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advice from Donald Knuth </a:t>
            </a:r>
            <a:endParaRPr/>
          </a:p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http://jmlr.csail.mit.edu/reviewing-papers/knuth_mathematical_writing.pdf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Also see: Writing a maths phase 2 paper at MIT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http://goo.gl/gqWUUb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sizing parenthesis</a:t>
            </a:r>
            <a:endParaRPr/>
          </a:p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Size parenthesis so they wrap their subclauses</a:t>
            </a:r>
            <a:endParaRPr/>
          </a:p>
        </p:txBody>
      </p:sp>
      <p:pic>
        <p:nvPicPr>
          <p:cNvPr id="83" name="Google Shape;8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388" y="2234088"/>
            <a:ext cx="19907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9838" y="2048338"/>
            <a:ext cx="2295525" cy="14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/>
        </p:nvSpPr>
        <p:spPr>
          <a:xfrm>
            <a:off x="624850" y="1999525"/>
            <a:ext cx="9405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Incorrect</a:t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3901450" y="1999525"/>
            <a:ext cx="9405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116099"/>
            <a:ext cx="9144002" cy="413095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avoid wrong para breaks</a:t>
            </a:r>
            <a:endParaRPr/>
          </a:p>
        </p:txBody>
      </p:sp>
      <p:cxnSp>
        <p:nvCxnSpPr>
          <p:cNvPr id="93" name="Google Shape;93;p15"/>
          <p:cNvCxnSpPr/>
          <p:nvPr/>
        </p:nvCxnSpPr>
        <p:spPr>
          <a:xfrm>
            <a:off x="7089350" y="1830625"/>
            <a:ext cx="0" cy="30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" name="Google Shape;94;p15"/>
          <p:cNvCxnSpPr/>
          <p:nvPr/>
        </p:nvCxnSpPr>
        <p:spPr>
          <a:xfrm flipH="1" rot="10800000">
            <a:off x="98700" y="2798750"/>
            <a:ext cx="358500" cy="2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describe every external variable</a:t>
            </a:r>
            <a:endParaRPr/>
          </a:p>
        </p:txBody>
      </p:sp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Internal variables are like </a:t>
            </a:r>
            <a:r>
              <a:rPr i="1" lang="en-GB"/>
              <a:t>i, s</a:t>
            </a:r>
            <a:r>
              <a:rPr lang="en-GB"/>
              <a:t> in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other variables / functions need explanation.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e.g. what is </a:t>
            </a:r>
            <a:r>
              <a:rPr i="1" lang="en-GB"/>
              <a:t>g</a:t>
            </a:r>
            <a:r>
              <a:rPr lang="en-GB"/>
              <a:t>?</a:t>
            </a:r>
            <a:endParaRPr/>
          </a:p>
        </p:txBody>
      </p:sp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1700" y="1921325"/>
            <a:ext cx="3581400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 (1 pomodoro)</a:t>
            </a:r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Use LyX, LaTeX, or codecogs to typeset the following equation: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for bonus marks, put parenthesis around the bit being “maxed” so that the brackets are sized correctly</a:t>
            </a:r>
            <a:endParaRPr sz="2400"/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575" y="2649425"/>
            <a:ext cx="7262850" cy="72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numbers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See the NIST advice </a:t>
            </a:r>
            <a:r>
              <a:rPr lang="en-GB" sz="2400" u="sng">
                <a:solidFill>
                  <a:schemeClr val="hlink"/>
                </a:solidFill>
                <a:hlinkClick r:id="rId3"/>
              </a:rPr>
              <a:t>[1]</a:t>
            </a:r>
            <a:r>
              <a:rPr lang="en-GB" sz="2400"/>
              <a:t> for recommendations on how to quote numerical values (such as 22 deg. C, or 3 min).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My quick summary: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1. Use the correct case (e.g. kWh not KWh or Kwh)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2. Put a non-breaking space between the numerical value and the unit (e.g. 3 min not 3min; 2 m/s not 2m/s)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3. Use SI units where possible.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uncertainty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The standard deviation provides an estimate of how well you know a particular measurement. It is, however, an </a:t>
            </a:r>
            <a:r>
              <a:rPr i="1" lang="en-GB" sz="1800"/>
              <a:t>estimate</a:t>
            </a:r>
            <a:r>
              <a:rPr lang="en-GB" sz="1800"/>
              <a:t>. 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The standard deviation should be expressed to ONE significant figure 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400"/>
              <a:t>unless the number is between 11 and 19 (times some power of ten) in which case you can use two significant figures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The number modified by the significant figure should be expressed to agree in place with the standard deviation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For example, a value resulting from a spreadsheet calculation of an average and standard deviation might be 10.1298 ± 0.2595. This should be expressed as 10.1 ± 0.3 or 10.1 (0.3) where the number in parenthesis is taken to be the estimated standard deviation. The estimate indicates that the value is only known to within three tenths of a unit of measurement. The figures beyond the tenths place, are not significant.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uncertainty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Where possible, it is more meaningful to provide a 95% (say) confidence interval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Standard deviation does not give the confidence interval directly (look up std error and </a:t>
            </a:r>
            <a:r>
              <a:rPr i="1" lang="en-GB" sz="2400"/>
              <a:t>t</a:t>
            </a:r>
            <a:r>
              <a:rPr lang="en-GB" sz="2400"/>
              <a:t> statistic for more info)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Note: interval may not be evenly distributed around mean (e.g., 97% ± 5%???)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For further reading, look up </a:t>
            </a:r>
            <a:r>
              <a:rPr lang="en-GB" sz="2400" u="sng">
                <a:solidFill>
                  <a:schemeClr val="hlink"/>
                </a:solidFill>
                <a:hlinkClick r:id="rId3"/>
              </a:rPr>
              <a:t>measurement uncertainty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algorithms are (only) worth including if they enable reproducibility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algorithms should not be obvious or readily available elsewhere </a:t>
            </a:r>
            <a:endParaRPr sz="18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(e.g. showing how to calculate RMSE)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algorithms should be stated concisely but clearly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avoid flowcharts - consider pseudocode or literate programming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avoid using the term “calculate” when it is clear that a calculation is taking place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avoid * when you mean ×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weighted_sum(v, w):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for i in range(len(v)):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wsum += w[i]*v[i]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return wsum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improved version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The same idea can be given as a formula: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Note that algorithmic statements are generally sequential, while equations are timeless, so use ← to make clear you mean assignment </a:t>
            </a:r>
            <a:endParaRPr sz="2400"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250" y="1923350"/>
            <a:ext cx="4003700" cy="65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 even without explanation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ws ← weighted_sum(v, w)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since the idea of a weighted sum is commonplace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plots - a check-list</a:t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labelled axes with units 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consistent fonts and readable font sizes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connect points with lines </a:t>
            </a:r>
            <a:r>
              <a:rPr i="1" lang="en-GB" sz="2400"/>
              <a:t>only</a:t>
            </a:r>
            <a:r>
              <a:rPr lang="en-GB" sz="2400"/>
              <a:t> for continuous axes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consider boxplots to show distribution shape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Tufte: minimum ink for maximum information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size appropriately for eventual format (e.g., for two column report, width should be about 3.5cm) 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plots (1? pomodoro)</a:t>
            </a:r>
            <a:endParaRPr/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use your preferred plotting program to graph the following data: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https://goo.gl/LNI5wy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plot any way you like but pay attention to grouping and timestamps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diagrams</a:t>
            </a:r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Start with a rough sketch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Size your canvas appropriately before laying out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Use a consistent sizing of fonts and lines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Type consistency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Try to use standard diagrams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Be careful with resizing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Drawing arrows between shapes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Sizing boxes with text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a good colour scheme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Print out and review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Check for spelling errors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A check-list for graphics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400"/>
              <a:t>https://jamesbrusey.coventry.domains/writing/drawing-diagrams-and-figures-for-research-articles-and-theses/ </a:t>
            </a:r>
            <a:endParaRPr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examples</a:t>
            </a:r>
            <a:endParaRPr/>
          </a:p>
        </p:txBody>
      </p:sp>
      <p:pic>
        <p:nvPicPr>
          <p:cNvPr descr="plc-robot.png"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875" y="0"/>
            <a:ext cx="544784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original architecture figure</a:t>
            </a:r>
            <a:endParaRPr/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6" y="1200150"/>
            <a:ext cx="8229600" cy="3512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revised architecture figure</a:t>
            </a:r>
            <a:endParaRPr/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825" y="1131763"/>
            <a:ext cx="6760357" cy="38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original diagram</a:t>
            </a:r>
            <a:endParaRPr/>
          </a:p>
        </p:txBody>
      </p:sp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im.png" id="198" name="Google Shape;1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275" y="1200150"/>
            <a:ext cx="6027442" cy="3943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revised diagram</a:t>
            </a:r>
            <a:endParaRPr/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g2-model-0.png" id="205" name="Google Shape;2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786" y="1200150"/>
            <a:ext cx="7306429" cy="4030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 (2 pomodoros)</a:t>
            </a:r>
            <a:endParaRPr/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roughly sketch a system diagram for your thesis or the research topic you previously proposed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e.g., a novel car HVAC controller might show the interaction between the car cabin, the blower, heater, air con, control input, etc. 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now: put it into a drawing tool (e.g., inkscape, visio, coreldraw etc) - you may want to review the checklist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</a:t>
            </a:r>
            <a:endParaRPr/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swap your diagram with a partner and critique each other’s diagram using the checklist / drawing guidelines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did you come up with suggestions that disagreed with or were not on the checklist?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 (1 pomodoro)</a:t>
            </a:r>
            <a:endParaRPr/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find a diagram from a paper in your topic area and try to reproduce using vector drawing software package (e.g., inkscape, etc.)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if the quality of your result is lower, it could be a problem with the tool that you are using.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