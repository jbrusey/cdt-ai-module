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1B3AE76-6216-489F-81C2-28F23B1F9166}">
  <a:tblStyle styleId="{C1B3AE76-6216-489F-81C2-28F23B1F916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2" name="Google Shape;4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b53c5f77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 name="Google Shape;48;gb53c5f77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244386c8e6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244386c8e6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44386c8e6c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44386c8e6c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44386c8e6c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44386c8e6c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44386c8e6c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44386c8e6c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44386c8e6c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44386c8e6c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44386c8e6c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44386c8e6c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writing the paper is how you develop the idea in the first place</a:t>
            </a:r>
            <a:endParaRPr/>
          </a:p>
          <a:p>
            <a:pPr indent="0" lvl="0" marL="0" rtl="0" algn="l">
              <a:spcBef>
                <a:spcPts val="0"/>
              </a:spcBef>
              <a:spcAft>
                <a:spcPts val="0"/>
              </a:spcAft>
              <a:buNone/>
            </a:pPr>
            <a:r>
              <a:rPr lang="en-GB"/>
              <a:t>it usually turns out to be more interesting and challenging than you first thought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44386c8e6c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44386c8e6c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44386c8e6c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44386c8e6c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44386c8e6c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44386c8e6c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44386c8e6c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44386c8e6c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44386c8e6c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44386c8e6c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44386c8e6c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44386c8e6c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44386c8e6c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44386c8e6c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44386c8e6c_1_87: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244386c8e6c_1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44386c8e6c_1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44386c8e6c_1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44386c8e6c_1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44386c8e6c_1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44386c8e6c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44386c8e6c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44386c8e6c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44386c8e6c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44386c8e6c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44386c8e6c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44386c8e6c_1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44386c8e6c_1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44386c8e6c_1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44386c8e6c_1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44386c8e6c_1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44386c8e6c_1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44386c8e6c_1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44386c8e6c_1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44386c8e6c_1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244386c8e6c_1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44386c8e6c_1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44386c8e6c_1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44386c8e6c_1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44386c8e6c_1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44386c8e6c_1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44386c8e6c_1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44386c8e6c_1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44386c8e6c_1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44386c8e6c_1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44386c8e6c_1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44386c8e6c_1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44386c8e6c_1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44386c8e6c_1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44386c8e6c_1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44386c8e6c_1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44386c8e6c_1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44386c8e6c_1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44386c8e6c_1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44386c8e6c_1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44386c8e6c_1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44386c8e6c_1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244386c8e6c_1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df886312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df88631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finish by 10</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df886312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df886312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7c4acc5d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17c4acc5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7c4acc5d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17c4acc5d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df886312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df886312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finish by 10:30 - possible coffee break</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df8863126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df886312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44386c8e6c_1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244386c8e6c_1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44386c8e6c_1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244386c8e6c_1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44386c8e6c_1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244386c8e6c_1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11:30 finish</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44386c8e6c_1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244386c8e6c_1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12:00 finish</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df8863126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df8863126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11:30 finish</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df886312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df886312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12:00 finish</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df8863126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df886312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df886312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df886312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0" y="0"/>
            <a:ext cx="9144000" cy="35184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11" name="Google Shape;11;p2"/>
          <p:cNvCxnSpPr/>
          <p:nvPr/>
        </p:nvCxnSpPr>
        <p:spPr>
          <a:xfrm>
            <a:off x="0" y="3496605"/>
            <a:ext cx="9144000" cy="0"/>
          </a:xfrm>
          <a:prstGeom prst="straightConnector1">
            <a:avLst/>
          </a:prstGeom>
          <a:noFill/>
          <a:ln cap="flat" cmpd="sng" w="57150">
            <a:solidFill>
              <a:srgbClr val="000000">
                <a:alpha val="14901"/>
              </a:srgbClr>
            </a:solidFill>
            <a:prstDash val="solid"/>
            <a:round/>
            <a:headEnd len="sm" w="sm" type="none"/>
            <a:tailEnd len="sm" w="sm" type="none"/>
          </a:ln>
        </p:spPr>
      </p:cxnSp>
      <p:sp>
        <p:nvSpPr>
          <p:cNvPr id="12" name="Google Shape;12;p2"/>
          <p:cNvSpPr txBox="1"/>
          <p:nvPr>
            <p:ph type="ctrTitle"/>
          </p:nvPr>
        </p:nvSpPr>
        <p:spPr>
          <a:xfrm>
            <a:off x="685800" y="1867781"/>
            <a:ext cx="7772400" cy="1648800"/>
          </a:xfrm>
          <a:prstGeom prst="rect">
            <a:avLst/>
          </a:prstGeom>
        </p:spPr>
        <p:txBody>
          <a:bodyPr anchorCtr="0" anchor="b" bIns="91425" lIns="91425" spcFirstLastPara="1" rIns="91425" wrap="square" tIns="91425">
            <a:noAutofit/>
          </a:bodyPr>
          <a:lstStyle>
            <a:lvl1pPr lvl="0">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sp>
        <p:nvSpPr>
          <p:cNvPr id="13" name="Google Shape;13;p2"/>
          <p:cNvSpPr txBox="1"/>
          <p:nvPr>
            <p:ph idx="1" type="subTitle"/>
          </p:nvPr>
        </p:nvSpPr>
        <p:spPr>
          <a:xfrm>
            <a:off x="685800" y="3627027"/>
            <a:ext cx="7772400" cy="77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14" name="Google Shape;14;p2"/>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3"/>
          <p:cNvSpPr/>
          <p:nvPr/>
        </p:nvSpPr>
        <p:spPr>
          <a:xfrm>
            <a:off x="0" y="0"/>
            <a:ext cx="9144000" cy="11499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17" name="Google Shape;17;p3"/>
          <p:cNvCxnSpPr/>
          <p:nvPr/>
        </p:nvCxnSpPr>
        <p:spPr>
          <a:xfrm>
            <a:off x="0" y="1127875"/>
            <a:ext cx="9144000" cy="0"/>
          </a:xfrm>
          <a:prstGeom prst="straightConnector1">
            <a:avLst/>
          </a:prstGeom>
          <a:noFill/>
          <a:ln cap="flat" cmpd="sng" w="57150">
            <a:solidFill>
              <a:srgbClr val="000000">
                <a:alpha val="14901"/>
              </a:srgbClr>
            </a:solidFill>
            <a:prstDash val="solid"/>
            <a:round/>
            <a:headEnd len="sm" w="sm" type="none"/>
            <a:tailEnd len="sm" w="sm" type="none"/>
          </a:ln>
        </p:spPr>
      </p:cxnSp>
      <p:sp>
        <p:nvSpPr>
          <p:cNvPr id="18" name="Google Shape;18;p3"/>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lvl1pPr lvl="0">
              <a:spcBef>
                <a:spcPts val="0"/>
              </a:spcBef>
              <a:spcAft>
                <a:spcPts val="0"/>
              </a:spcAft>
              <a:buSzPts val="3600"/>
              <a:buFont typeface="Comic Sans MS"/>
              <a:buNone/>
              <a:defRPr>
                <a:latin typeface="Comic Sans MS"/>
                <a:ea typeface="Comic Sans MS"/>
                <a:cs typeface="Comic Sans MS"/>
                <a:sym typeface="Comic Sans MS"/>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9" name="Google Shape;19;p3"/>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lvl1pPr indent="-419100" lvl="0" marL="457200">
              <a:spcBef>
                <a:spcPts val="600"/>
              </a:spcBef>
              <a:spcAft>
                <a:spcPts val="0"/>
              </a:spcAft>
              <a:buSzPts val="3000"/>
              <a:buFont typeface="Comic Sans MS"/>
              <a:buChar char="●"/>
              <a:defRPr>
                <a:latin typeface="Comic Sans MS"/>
                <a:ea typeface="Comic Sans MS"/>
                <a:cs typeface="Comic Sans MS"/>
                <a:sym typeface="Comic Sans MS"/>
              </a:defRPr>
            </a:lvl1pPr>
            <a:lvl2pPr indent="-381000" lvl="1" marL="914400">
              <a:spcBef>
                <a:spcPts val="0"/>
              </a:spcBef>
              <a:spcAft>
                <a:spcPts val="0"/>
              </a:spcAft>
              <a:buSzPts val="2400"/>
              <a:buFont typeface="Comic Sans MS"/>
              <a:buChar char="○"/>
              <a:defRPr>
                <a:latin typeface="Comic Sans MS"/>
                <a:ea typeface="Comic Sans MS"/>
                <a:cs typeface="Comic Sans MS"/>
                <a:sym typeface="Comic Sans MS"/>
              </a:defRPr>
            </a:lvl2pPr>
            <a:lvl3pPr indent="-381000" lvl="2" marL="1371600">
              <a:spcBef>
                <a:spcPts val="0"/>
              </a:spcBef>
              <a:spcAft>
                <a:spcPts val="0"/>
              </a:spcAft>
              <a:buSzPts val="2400"/>
              <a:buFont typeface="Comic Sans MS"/>
              <a:buChar char="■"/>
              <a:defRPr>
                <a:latin typeface="Comic Sans MS"/>
                <a:ea typeface="Comic Sans MS"/>
                <a:cs typeface="Comic Sans MS"/>
                <a:sym typeface="Comic Sans MS"/>
              </a:defRPr>
            </a:lvl3pPr>
            <a:lvl4pPr indent="-342900" lvl="3" marL="1828800">
              <a:spcBef>
                <a:spcPts val="0"/>
              </a:spcBef>
              <a:spcAft>
                <a:spcPts val="0"/>
              </a:spcAft>
              <a:buSzPts val="1800"/>
              <a:buFont typeface="Comic Sans MS"/>
              <a:buChar char="●"/>
              <a:defRPr>
                <a:latin typeface="Comic Sans MS"/>
                <a:ea typeface="Comic Sans MS"/>
                <a:cs typeface="Comic Sans MS"/>
                <a:sym typeface="Comic Sans MS"/>
              </a:defRPr>
            </a:lvl4pPr>
            <a:lvl5pPr indent="-342900" lvl="4" marL="2286000">
              <a:spcBef>
                <a:spcPts val="0"/>
              </a:spcBef>
              <a:spcAft>
                <a:spcPts val="0"/>
              </a:spcAft>
              <a:buSzPts val="1800"/>
              <a:buFont typeface="Comic Sans MS"/>
              <a:buChar char="○"/>
              <a:defRPr>
                <a:latin typeface="Comic Sans MS"/>
                <a:ea typeface="Comic Sans MS"/>
                <a:cs typeface="Comic Sans MS"/>
                <a:sym typeface="Comic Sans MS"/>
              </a:defRPr>
            </a:lvl5pPr>
            <a:lvl6pPr indent="-342900" lvl="5" marL="2743200">
              <a:spcBef>
                <a:spcPts val="0"/>
              </a:spcBef>
              <a:spcAft>
                <a:spcPts val="0"/>
              </a:spcAft>
              <a:buSzPts val="1800"/>
              <a:buFont typeface="Comic Sans MS"/>
              <a:buChar char="■"/>
              <a:defRPr>
                <a:latin typeface="Comic Sans MS"/>
                <a:ea typeface="Comic Sans MS"/>
                <a:cs typeface="Comic Sans MS"/>
                <a:sym typeface="Comic Sans MS"/>
              </a:defRPr>
            </a:lvl6pPr>
            <a:lvl7pPr indent="-342900" lvl="6" marL="3200400">
              <a:spcBef>
                <a:spcPts val="0"/>
              </a:spcBef>
              <a:spcAft>
                <a:spcPts val="0"/>
              </a:spcAft>
              <a:buSzPts val="1800"/>
              <a:buFont typeface="Comic Sans MS"/>
              <a:buChar char="●"/>
              <a:defRPr>
                <a:latin typeface="Comic Sans MS"/>
                <a:ea typeface="Comic Sans MS"/>
                <a:cs typeface="Comic Sans MS"/>
                <a:sym typeface="Comic Sans MS"/>
              </a:defRPr>
            </a:lvl7pPr>
            <a:lvl8pPr indent="-342900" lvl="7" marL="3657600">
              <a:spcBef>
                <a:spcPts val="0"/>
              </a:spcBef>
              <a:spcAft>
                <a:spcPts val="0"/>
              </a:spcAft>
              <a:buSzPts val="1800"/>
              <a:buFont typeface="Comic Sans MS"/>
              <a:buChar char="○"/>
              <a:defRPr>
                <a:latin typeface="Comic Sans MS"/>
                <a:ea typeface="Comic Sans MS"/>
                <a:cs typeface="Comic Sans MS"/>
                <a:sym typeface="Comic Sans MS"/>
              </a:defRPr>
            </a:lvl8pPr>
            <a:lvl9pPr indent="-342900" lvl="8" marL="4114800">
              <a:spcBef>
                <a:spcPts val="0"/>
              </a:spcBef>
              <a:spcAft>
                <a:spcPts val="0"/>
              </a:spcAft>
              <a:buSzPts val="1800"/>
              <a:buFont typeface="Comic Sans MS"/>
              <a:buChar char="■"/>
              <a:defRPr>
                <a:latin typeface="Comic Sans MS"/>
                <a:ea typeface="Comic Sans MS"/>
                <a:cs typeface="Comic Sans MS"/>
                <a:sym typeface="Comic Sans MS"/>
              </a:defRPr>
            </a:lvl9pPr>
          </a:lstStyle>
          <a:p/>
        </p:txBody>
      </p:sp>
      <p:sp>
        <p:nvSpPr>
          <p:cNvPr id="20" name="Google Shape;20;p3"/>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4"/>
          <p:cNvSpPr/>
          <p:nvPr/>
        </p:nvSpPr>
        <p:spPr>
          <a:xfrm>
            <a:off x="0" y="0"/>
            <a:ext cx="9144000" cy="11499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23" name="Google Shape;23;p4"/>
          <p:cNvCxnSpPr/>
          <p:nvPr/>
        </p:nvCxnSpPr>
        <p:spPr>
          <a:xfrm>
            <a:off x="0" y="1127875"/>
            <a:ext cx="9144000" cy="0"/>
          </a:xfrm>
          <a:prstGeom prst="straightConnector1">
            <a:avLst/>
          </a:prstGeom>
          <a:noFill/>
          <a:ln cap="flat" cmpd="sng" w="57150">
            <a:solidFill>
              <a:srgbClr val="000000">
                <a:alpha val="14901"/>
              </a:srgbClr>
            </a:solidFill>
            <a:prstDash val="solid"/>
            <a:round/>
            <a:headEnd len="sm" w="sm" type="none"/>
            <a:tailEnd len="sm" w="sm" type="none"/>
          </a:ln>
        </p:spPr>
      </p:cxnSp>
      <p:sp>
        <p:nvSpPr>
          <p:cNvPr id="24" name="Google Shape;24;p4"/>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5" name="Google Shape;25;p4"/>
          <p:cNvSpPr txBox="1"/>
          <p:nvPr>
            <p:ph idx="1" type="body"/>
          </p:nvPr>
        </p:nvSpPr>
        <p:spPr>
          <a:xfrm>
            <a:off x="457200" y="1200150"/>
            <a:ext cx="3994500" cy="3725700"/>
          </a:xfrm>
          <a:prstGeom prst="rect">
            <a:avLst/>
          </a:prstGeom>
        </p:spPr>
        <p:txBody>
          <a:bodyPr anchorCtr="0" anchor="t" bIns="91425" lIns="91425" spcFirstLastPara="1" rIns="91425" wrap="square" tIns="91425">
            <a:noAutofit/>
          </a:bodyPr>
          <a:lstStyle>
            <a:lvl1pPr indent="-419100" lvl="0" marL="457200">
              <a:spcBef>
                <a:spcPts val="600"/>
              </a:spcBef>
              <a:spcAft>
                <a:spcPts val="0"/>
              </a:spcAft>
              <a:buSzPts val="30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6" name="Google Shape;26;p4"/>
          <p:cNvSpPr txBox="1"/>
          <p:nvPr>
            <p:ph idx="2" type="body"/>
          </p:nvPr>
        </p:nvSpPr>
        <p:spPr>
          <a:xfrm>
            <a:off x="4692274" y="1200150"/>
            <a:ext cx="3994500" cy="3725700"/>
          </a:xfrm>
          <a:prstGeom prst="rect">
            <a:avLst/>
          </a:prstGeom>
        </p:spPr>
        <p:txBody>
          <a:bodyPr anchorCtr="0" anchor="t" bIns="91425" lIns="91425" spcFirstLastPara="1" rIns="91425" wrap="square" tIns="91425">
            <a:noAutofit/>
          </a:bodyPr>
          <a:lstStyle>
            <a:lvl1pPr indent="-419100" lvl="0" marL="457200">
              <a:spcBef>
                <a:spcPts val="600"/>
              </a:spcBef>
              <a:spcAft>
                <a:spcPts val="0"/>
              </a:spcAft>
              <a:buSzPts val="30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7" name="Google Shape;27;p4"/>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5"/>
          <p:cNvSpPr/>
          <p:nvPr/>
        </p:nvSpPr>
        <p:spPr>
          <a:xfrm>
            <a:off x="0" y="0"/>
            <a:ext cx="9144000" cy="11499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30" name="Google Shape;30;p5"/>
          <p:cNvCxnSpPr/>
          <p:nvPr/>
        </p:nvCxnSpPr>
        <p:spPr>
          <a:xfrm>
            <a:off x="0" y="1127875"/>
            <a:ext cx="9144000" cy="0"/>
          </a:xfrm>
          <a:prstGeom prst="straightConnector1">
            <a:avLst/>
          </a:prstGeom>
          <a:noFill/>
          <a:ln cap="flat" cmpd="sng" w="57150">
            <a:solidFill>
              <a:srgbClr val="000000">
                <a:alpha val="14901"/>
              </a:srgbClr>
            </a:solidFill>
            <a:prstDash val="solid"/>
            <a:round/>
            <a:headEnd len="sm" w="sm" type="none"/>
            <a:tailEnd len="sm" w="sm" type="none"/>
          </a:ln>
        </p:spPr>
      </p:cxnSp>
      <p:sp>
        <p:nvSpPr>
          <p:cNvPr id="31" name="Google Shape;31;p5"/>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3" name="Shape 33"/>
        <p:cNvGrpSpPr/>
        <p:nvPr/>
      </p:nvGrpSpPr>
      <p:grpSpPr>
        <a:xfrm>
          <a:off x="0" y="0"/>
          <a:ext cx="0" cy="0"/>
          <a:chOff x="0" y="0"/>
          <a:chExt cx="0" cy="0"/>
        </a:xfrm>
      </p:grpSpPr>
      <p:sp>
        <p:nvSpPr>
          <p:cNvPr id="34" name="Google Shape;34;p6"/>
          <p:cNvSpPr txBox="1"/>
          <p:nvPr>
            <p:ph idx="1" type="body"/>
          </p:nvPr>
        </p:nvSpPr>
        <p:spPr>
          <a:xfrm>
            <a:off x="457200" y="4406309"/>
            <a:ext cx="8229600" cy="5196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Clr>
                <a:schemeClr val="dk2"/>
              </a:buClr>
              <a:buSzPts val="1800"/>
              <a:buNone/>
              <a:defRPr sz="1800">
                <a:solidFill>
                  <a:schemeClr val="dk2"/>
                </a:solidFill>
              </a:defRPr>
            </a:lvl1pPr>
          </a:lstStyle>
          <a:p/>
        </p:txBody>
      </p:sp>
      <p:sp>
        <p:nvSpPr>
          <p:cNvPr id="35" name="Google Shape;35;p6"/>
          <p:cNvSpPr/>
          <p:nvPr/>
        </p:nvSpPr>
        <p:spPr>
          <a:xfrm>
            <a:off x="4274" y="0"/>
            <a:ext cx="9144000" cy="44064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36" name="Google Shape;36;p6"/>
          <p:cNvCxnSpPr/>
          <p:nvPr/>
        </p:nvCxnSpPr>
        <p:spPr>
          <a:xfrm>
            <a:off x="0" y="4384371"/>
            <a:ext cx="9144000" cy="0"/>
          </a:xfrm>
          <a:prstGeom prst="straightConnector1">
            <a:avLst/>
          </a:prstGeom>
          <a:noFill/>
          <a:ln cap="flat" cmpd="sng" w="57150">
            <a:solidFill>
              <a:srgbClr val="000000">
                <a:alpha val="14901"/>
              </a:srgbClr>
            </a:solidFill>
            <a:prstDash val="solid"/>
            <a:round/>
            <a:headEnd len="sm" w="sm" type="none"/>
            <a:tailEnd len="sm" w="sm" type="none"/>
          </a:ln>
        </p:spPr>
      </p:cxnSp>
      <p:sp>
        <p:nvSpPr>
          <p:cNvPr id="37" name="Google Shape;37;p6"/>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38" name="Shape 38"/>
        <p:cNvGrpSpPr/>
        <p:nvPr/>
      </p:nvGrpSpPr>
      <p:grpSpPr>
        <a:xfrm>
          <a:off x="0" y="0"/>
          <a:ext cx="0" cy="0"/>
          <a:chOff x="0" y="0"/>
          <a:chExt cx="0" cy="0"/>
        </a:xfrm>
      </p:grpSpPr>
      <p:sp>
        <p:nvSpPr>
          <p:cNvPr id="39" name="Google Shape;39;p7"/>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iz">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lt1"/>
              </a:buClr>
              <a:buSzPts val="3600"/>
              <a:buNone/>
              <a:defRPr b="1" sz="3600">
                <a:solidFill>
                  <a:schemeClr val="lt1"/>
                </a:solidFill>
              </a:defRPr>
            </a:lvl1pPr>
            <a:lvl2pPr lvl="1">
              <a:spcBef>
                <a:spcPts val="0"/>
              </a:spcBef>
              <a:spcAft>
                <a:spcPts val="0"/>
              </a:spcAft>
              <a:buClr>
                <a:schemeClr val="lt1"/>
              </a:buClr>
              <a:buSzPts val="3600"/>
              <a:buNone/>
              <a:defRPr b="1" sz="3600">
                <a:solidFill>
                  <a:schemeClr val="lt1"/>
                </a:solidFill>
              </a:defRPr>
            </a:lvl2pPr>
            <a:lvl3pPr lvl="2">
              <a:spcBef>
                <a:spcPts val="0"/>
              </a:spcBef>
              <a:spcAft>
                <a:spcPts val="0"/>
              </a:spcAft>
              <a:buClr>
                <a:schemeClr val="lt1"/>
              </a:buClr>
              <a:buSzPts val="3600"/>
              <a:buNone/>
              <a:defRPr b="1" sz="3600">
                <a:solidFill>
                  <a:schemeClr val="lt1"/>
                </a:solidFill>
              </a:defRPr>
            </a:lvl3pPr>
            <a:lvl4pPr lvl="3">
              <a:spcBef>
                <a:spcPts val="0"/>
              </a:spcBef>
              <a:spcAft>
                <a:spcPts val="0"/>
              </a:spcAft>
              <a:buClr>
                <a:schemeClr val="lt1"/>
              </a:buClr>
              <a:buSzPts val="3600"/>
              <a:buNone/>
              <a:defRPr b="1" sz="3600">
                <a:solidFill>
                  <a:schemeClr val="lt1"/>
                </a:solidFill>
              </a:defRPr>
            </a:lvl4pPr>
            <a:lvl5pPr lvl="4">
              <a:spcBef>
                <a:spcPts val="0"/>
              </a:spcBef>
              <a:spcAft>
                <a:spcPts val="0"/>
              </a:spcAft>
              <a:buClr>
                <a:schemeClr val="lt1"/>
              </a:buClr>
              <a:buSzPts val="3600"/>
              <a:buNone/>
              <a:defRPr b="1" sz="3600">
                <a:solidFill>
                  <a:schemeClr val="lt1"/>
                </a:solidFill>
              </a:defRPr>
            </a:lvl5pPr>
            <a:lvl6pPr lvl="5">
              <a:spcBef>
                <a:spcPts val="0"/>
              </a:spcBef>
              <a:spcAft>
                <a:spcPts val="0"/>
              </a:spcAft>
              <a:buClr>
                <a:schemeClr val="lt1"/>
              </a:buClr>
              <a:buSzPts val="3600"/>
              <a:buNone/>
              <a:defRPr b="1" sz="3600">
                <a:solidFill>
                  <a:schemeClr val="lt1"/>
                </a:solidFill>
              </a:defRPr>
            </a:lvl6pPr>
            <a:lvl7pPr lvl="6">
              <a:spcBef>
                <a:spcPts val="0"/>
              </a:spcBef>
              <a:spcAft>
                <a:spcPts val="0"/>
              </a:spcAft>
              <a:buClr>
                <a:schemeClr val="lt1"/>
              </a:buClr>
              <a:buSzPts val="3600"/>
              <a:buNone/>
              <a:defRPr b="1" sz="3600">
                <a:solidFill>
                  <a:schemeClr val="lt1"/>
                </a:solidFill>
              </a:defRPr>
            </a:lvl7pPr>
            <a:lvl8pPr lvl="7">
              <a:spcBef>
                <a:spcPts val="0"/>
              </a:spcBef>
              <a:spcAft>
                <a:spcPts val="0"/>
              </a:spcAft>
              <a:buClr>
                <a:schemeClr val="lt1"/>
              </a:buClr>
              <a:buSzPts val="3600"/>
              <a:buNone/>
              <a:defRPr b="1" sz="3600">
                <a:solidFill>
                  <a:schemeClr val="lt1"/>
                </a:solidFill>
              </a:defRPr>
            </a:lvl8pPr>
            <a:lvl9pPr lvl="8">
              <a:spcBef>
                <a:spcPts val="0"/>
              </a:spcBef>
              <a:spcAft>
                <a:spcPts val="0"/>
              </a:spcAft>
              <a:buClr>
                <a:schemeClr val="lt1"/>
              </a:buClr>
              <a:buSzPts val="3600"/>
              <a:buNone/>
              <a:defRPr b="1" sz="3600">
                <a:solidFill>
                  <a:schemeClr val="lt1"/>
                </a:solidFill>
              </a:defRPr>
            </a:lvl9pPr>
          </a:lstStyle>
          <a:p/>
        </p:txBody>
      </p:sp>
      <p:sp>
        <p:nvSpPr>
          <p:cNvPr id="7" name="Google Shape;7;p1"/>
          <p:cNvSpPr txBox="1"/>
          <p:nvPr>
            <p:ph idx="1" type="body"/>
          </p:nvPr>
        </p:nvSpPr>
        <p:spPr>
          <a:xfrm>
            <a:off x="457200" y="1200150"/>
            <a:ext cx="8229600" cy="3725700"/>
          </a:xfrm>
          <a:prstGeom prst="rect">
            <a:avLst/>
          </a:prstGeom>
          <a:noFill/>
          <a:ln>
            <a:noFill/>
          </a:ln>
        </p:spPr>
        <p:txBody>
          <a:bodyPr anchorCtr="0" anchor="t" bIns="91425" lIns="91425" spcFirstLastPara="1" rIns="91425" wrap="square" tIns="91425">
            <a:noAutofit/>
          </a:bodyPr>
          <a:lstStyle>
            <a:lvl1pPr indent="-419100" lvl="0" marL="457200">
              <a:spcBef>
                <a:spcPts val="600"/>
              </a:spcBef>
              <a:spcAft>
                <a:spcPts val="0"/>
              </a:spcAft>
              <a:buClr>
                <a:schemeClr val="dk1"/>
              </a:buClr>
              <a:buSzPts val="3000"/>
              <a:buChar char="●"/>
              <a:defRPr sz="3000">
                <a:solidFill>
                  <a:schemeClr val="dk1"/>
                </a:solidFill>
              </a:defRPr>
            </a:lvl1pPr>
            <a:lvl2pPr indent="-381000" lvl="1" marL="914400">
              <a:spcBef>
                <a:spcPts val="0"/>
              </a:spcBef>
              <a:spcAft>
                <a:spcPts val="0"/>
              </a:spcAft>
              <a:buClr>
                <a:schemeClr val="dk1"/>
              </a:buClr>
              <a:buSzPts val="2400"/>
              <a:buChar char="○"/>
              <a:defRPr sz="2400">
                <a:solidFill>
                  <a:schemeClr val="dk1"/>
                </a:solidFill>
              </a:defRPr>
            </a:lvl2pPr>
            <a:lvl3pPr indent="-381000" lvl="2" marL="1371600">
              <a:spcBef>
                <a:spcPts val="0"/>
              </a:spcBef>
              <a:spcAft>
                <a:spcPts val="0"/>
              </a:spcAft>
              <a:buClr>
                <a:schemeClr val="dk1"/>
              </a:buClr>
              <a:buSzPts val="2400"/>
              <a:buChar char="■"/>
              <a:defRPr sz="2400">
                <a:solidFill>
                  <a:schemeClr val="dk1"/>
                </a:solidFill>
              </a:defRPr>
            </a:lvl3pPr>
            <a:lvl4pPr indent="-342900" lvl="3" marL="1828800">
              <a:spcBef>
                <a:spcPts val="0"/>
              </a:spcBef>
              <a:spcAft>
                <a:spcPts val="0"/>
              </a:spcAft>
              <a:buClr>
                <a:schemeClr val="dk1"/>
              </a:buClr>
              <a:buSzPts val="1800"/>
              <a:buChar char="●"/>
              <a:defRPr sz="1800">
                <a:solidFill>
                  <a:schemeClr val="dk1"/>
                </a:solidFill>
              </a:defRPr>
            </a:lvl4pPr>
            <a:lvl5pPr indent="-342900" lvl="4" marL="2286000">
              <a:spcBef>
                <a:spcPts val="0"/>
              </a:spcBef>
              <a:spcAft>
                <a:spcPts val="0"/>
              </a:spcAft>
              <a:buClr>
                <a:schemeClr val="dk1"/>
              </a:buClr>
              <a:buSzPts val="1800"/>
              <a:buChar char="○"/>
              <a:defRPr sz="1800">
                <a:solidFill>
                  <a:schemeClr val="dk1"/>
                </a:solidFill>
              </a:defRPr>
            </a:lvl5pPr>
            <a:lvl6pPr indent="-342900" lvl="5" marL="2743200">
              <a:spcBef>
                <a:spcPts val="0"/>
              </a:spcBef>
              <a:spcAft>
                <a:spcPts val="0"/>
              </a:spcAft>
              <a:buClr>
                <a:schemeClr val="dk1"/>
              </a:buClr>
              <a:buSzPts val="1800"/>
              <a:buChar char="■"/>
              <a:defRPr sz="1800">
                <a:solidFill>
                  <a:schemeClr val="dk1"/>
                </a:solidFill>
              </a:defRPr>
            </a:lvl6pPr>
            <a:lvl7pPr indent="-342900" lvl="6" marL="3200400">
              <a:spcBef>
                <a:spcPts val="0"/>
              </a:spcBef>
              <a:spcAft>
                <a:spcPts val="0"/>
              </a:spcAft>
              <a:buClr>
                <a:schemeClr val="dk1"/>
              </a:buClr>
              <a:buSzPts val="1800"/>
              <a:buChar char="●"/>
              <a:defRPr sz="1800">
                <a:solidFill>
                  <a:schemeClr val="dk1"/>
                </a:solidFill>
              </a:defRPr>
            </a:lvl7pPr>
            <a:lvl8pPr indent="-342900" lvl="7" marL="3657600">
              <a:spcBef>
                <a:spcPts val="0"/>
              </a:spcBef>
              <a:spcAft>
                <a:spcPts val="0"/>
              </a:spcAft>
              <a:buClr>
                <a:schemeClr val="dk1"/>
              </a:buClr>
              <a:buSzPts val="1800"/>
              <a:buChar char="○"/>
              <a:defRPr sz="1800">
                <a:solidFill>
                  <a:schemeClr val="dk1"/>
                </a:solidFill>
              </a:defRPr>
            </a:lvl8pPr>
            <a:lvl9pPr indent="-342900" lvl="8" marL="4114800">
              <a:spcBef>
                <a:spcPts val="0"/>
              </a:spcBef>
              <a:spcAft>
                <a:spcPts val="0"/>
              </a:spcAft>
              <a:buClr>
                <a:schemeClr val="dk1"/>
              </a:buClr>
              <a:buSzPts val="1800"/>
              <a:buChar char="■"/>
              <a:defRPr sz="1800">
                <a:solidFill>
                  <a:schemeClr val="dk1"/>
                </a:solidFill>
              </a:defRPr>
            </a:lvl9pPr>
          </a:lstStyle>
          <a:p/>
        </p:txBody>
      </p:sp>
      <p:sp>
        <p:nvSpPr>
          <p:cNvPr id="8" name="Google Shape;8;p1"/>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hyperlink" Target="http://www.youtube.com/watch?v=WP-FkUaOcOM" TargetMode="External"/><Relationship Id="rId4" Type="http://schemas.openxmlformats.org/officeDocument/2006/relationships/image" Target="../media/image5.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hyperlink" Target="http://www.pomodorotechnique.com" TargetMode="External"/><Relationship Id="rId4" Type="http://schemas.openxmlformats.org/officeDocument/2006/relationships/hyperlink" Target="http://www.youtube.com/watch?v=dnt2lTdcn8g" TargetMode="External"/><Relationship Id="rId5" Type="http://schemas.openxmlformats.org/officeDocument/2006/relationships/image" Target="../media/image3.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hyperlink" Target="https://thesiswhisperer.com/shut-up-and-write/"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hyperlink" Target="http://goo.gl/8Ibmf0"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 Id="rId3" Type="http://schemas.openxmlformats.org/officeDocument/2006/relationships/image" Target="../media/image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hyperlink" Target="https://www.coursera.org/learn/sciwrit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8"/>
          <p:cNvSpPr txBox="1"/>
          <p:nvPr>
            <p:ph type="ctrTitle"/>
          </p:nvPr>
        </p:nvSpPr>
        <p:spPr>
          <a:xfrm>
            <a:off x="685800" y="1867781"/>
            <a:ext cx="7772400" cy="1648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pgr week</a:t>
            </a:r>
            <a:endParaRPr/>
          </a:p>
        </p:txBody>
      </p:sp>
      <p:sp>
        <p:nvSpPr>
          <p:cNvPr id="45" name="Google Shape;45;p8"/>
          <p:cNvSpPr txBox="1"/>
          <p:nvPr>
            <p:ph idx="1" type="subTitle"/>
          </p:nvPr>
        </p:nvSpPr>
        <p:spPr>
          <a:xfrm>
            <a:off x="685800" y="3627027"/>
            <a:ext cx="7772400" cy="77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Style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9"/>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intended learning outcomes</a:t>
            </a:r>
            <a:endParaRPr/>
          </a:p>
        </p:txBody>
      </p:sp>
      <p:sp>
        <p:nvSpPr>
          <p:cNvPr id="51" name="Google Shape;51;p9"/>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GB"/>
              <a:t>design research that produces rigorous results</a:t>
            </a:r>
            <a:endParaRPr/>
          </a:p>
          <a:p>
            <a:pPr indent="0" lvl="0" marL="0" rtl="0" algn="l">
              <a:spcBef>
                <a:spcPts val="600"/>
              </a:spcBef>
              <a:spcAft>
                <a:spcPts val="0"/>
              </a:spcAft>
              <a:buClr>
                <a:schemeClr val="dk1"/>
              </a:buClr>
              <a:buSzPts val="1100"/>
              <a:buFont typeface="Arial"/>
              <a:buNone/>
            </a:pPr>
            <a:r>
              <a:rPr lang="en-GB"/>
              <a:t>locate, appraise, and summarise relevant literature</a:t>
            </a:r>
            <a:endParaRPr/>
          </a:p>
          <a:p>
            <a:pPr indent="0" lvl="0" marL="0" rtl="0" algn="l">
              <a:spcBef>
                <a:spcPts val="600"/>
              </a:spcBef>
              <a:spcAft>
                <a:spcPts val="0"/>
              </a:spcAft>
              <a:buClr>
                <a:schemeClr val="dk1"/>
              </a:buClr>
              <a:buSzPts val="1100"/>
              <a:buFont typeface="Arial"/>
              <a:buNone/>
            </a:pPr>
            <a:r>
              <a:rPr b="1" lang="en-GB"/>
              <a:t>write a clear and concise research paper</a:t>
            </a:r>
            <a:endParaRPr b="1"/>
          </a:p>
          <a:p>
            <a:pPr indent="0" lvl="0" marL="0" rtl="0" algn="l">
              <a:spcBef>
                <a:spcPts val="600"/>
              </a:spcBef>
              <a:spcAft>
                <a:spcPts val="0"/>
              </a:spcAft>
              <a:buClr>
                <a:schemeClr val="dk1"/>
              </a:buClr>
              <a:buSzPts val="1100"/>
              <a:buFont typeface="Arial"/>
              <a:buNone/>
            </a:pPr>
            <a:r>
              <a:rPr lang="en-GB"/>
              <a:t>present a persuasive presentation on the research paper</a:t>
            </a:r>
            <a:endParaRPr/>
          </a:p>
          <a:p>
            <a:pPr indent="0" lvl="0" marL="0" rtl="0" algn="l">
              <a:spcBef>
                <a:spcPts val="600"/>
              </a:spcBef>
              <a:spcAft>
                <a:spcPts val="0"/>
              </a:spcAft>
              <a:buClr>
                <a:schemeClr val="dk1"/>
              </a:buClr>
              <a:buSzPts val="1100"/>
              <a:buFont typeface="Arial"/>
              <a:buNone/>
            </a:pPr>
            <a:r>
              <a:rPr lang="en-GB"/>
              <a:t>proofread and referee</a:t>
            </a:r>
            <a:endParaRPr/>
          </a:p>
          <a:p>
            <a:pPr indent="0" lvl="0" marL="0" rtl="0" algn="l">
              <a:spcBef>
                <a:spcPts val="6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0"/>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seven simple suggestions</a:t>
            </a:r>
            <a:endParaRPr/>
          </a:p>
        </p:txBody>
      </p:sp>
      <p:sp>
        <p:nvSpPr>
          <p:cNvPr id="57" name="Google Shape;57;p10"/>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a:t>The following material is based on “How to write a great research paper” talk by Simon Peyton-Jones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GB"/>
              <a:t>Make a </a:t>
            </a:r>
            <a:r>
              <a:rPr i="1" lang="en-GB"/>
              <a:t>written</a:t>
            </a:r>
            <a:r>
              <a:rPr lang="en-GB"/>
              <a:t> note of anything you don’t expect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1"/>
          <p:cNvSpPr txBox="1"/>
          <p:nvPr/>
        </p:nvSpPr>
        <p:spPr>
          <a:xfrm>
            <a:off x="1077000" y="1892550"/>
            <a:ext cx="6990000" cy="135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4800">
                <a:solidFill>
                  <a:schemeClr val="lt1"/>
                </a:solidFill>
                <a:latin typeface="Comic Sans MS"/>
                <a:ea typeface="Comic Sans MS"/>
                <a:cs typeface="Comic Sans MS"/>
                <a:sym typeface="Comic Sans MS"/>
              </a:rPr>
              <a:t>#1: Don’t wait - write!</a:t>
            </a:r>
            <a:endParaRPr sz="4800">
              <a:solidFill>
                <a:schemeClr val="lt1"/>
              </a:solidFill>
              <a:latin typeface="Comic Sans MS"/>
              <a:ea typeface="Comic Sans MS"/>
              <a:cs typeface="Comic Sans MS"/>
              <a:sym typeface="Comic Sans M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2"/>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writing papers model 1</a:t>
            </a:r>
            <a:endParaRPr/>
          </a:p>
        </p:txBody>
      </p:sp>
      <p:sp>
        <p:nvSpPr>
          <p:cNvPr id="68" name="Google Shape;68;p12"/>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p:txBody>
      </p:sp>
      <p:sp>
        <p:nvSpPr>
          <p:cNvPr id="69" name="Google Shape;69;p12"/>
          <p:cNvSpPr/>
          <p:nvPr/>
        </p:nvSpPr>
        <p:spPr>
          <a:xfrm>
            <a:off x="1068275" y="1186950"/>
            <a:ext cx="1028700" cy="68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3000">
                <a:latin typeface="Comic Sans MS"/>
                <a:ea typeface="Comic Sans MS"/>
                <a:cs typeface="Comic Sans MS"/>
                <a:sym typeface="Comic Sans MS"/>
              </a:rPr>
              <a:t>idea</a:t>
            </a:r>
            <a:endParaRPr sz="3000">
              <a:latin typeface="Comic Sans MS"/>
              <a:ea typeface="Comic Sans MS"/>
              <a:cs typeface="Comic Sans MS"/>
              <a:sym typeface="Comic Sans MS"/>
            </a:endParaRPr>
          </a:p>
        </p:txBody>
      </p:sp>
      <p:sp>
        <p:nvSpPr>
          <p:cNvPr id="70" name="Google Shape;70;p12"/>
          <p:cNvSpPr/>
          <p:nvPr/>
        </p:nvSpPr>
        <p:spPr>
          <a:xfrm>
            <a:off x="2705425" y="1404625"/>
            <a:ext cx="3506400" cy="6858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3000">
                <a:latin typeface="Comic Sans MS"/>
                <a:ea typeface="Comic Sans MS"/>
                <a:cs typeface="Comic Sans MS"/>
                <a:sym typeface="Comic Sans MS"/>
              </a:rPr>
              <a:t>research</a:t>
            </a:r>
            <a:endParaRPr sz="3000">
              <a:latin typeface="Comic Sans MS"/>
              <a:ea typeface="Comic Sans MS"/>
              <a:cs typeface="Comic Sans MS"/>
              <a:sym typeface="Comic Sans MS"/>
            </a:endParaRPr>
          </a:p>
        </p:txBody>
      </p:sp>
      <p:cxnSp>
        <p:nvCxnSpPr>
          <p:cNvPr id="71" name="Google Shape;71;p12"/>
          <p:cNvCxnSpPr>
            <a:stCxn id="69" idx="3"/>
            <a:endCxn id="70" idx="1"/>
          </p:cNvCxnSpPr>
          <p:nvPr/>
        </p:nvCxnSpPr>
        <p:spPr>
          <a:xfrm>
            <a:off x="2096975" y="1529850"/>
            <a:ext cx="608400" cy="217800"/>
          </a:xfrm>
          <a:prstGeom prst="straightConnector1">
            <a:avLst/>
          </a:prstGeom>
          <a:noFill/>
          <a:ln cap="flat" cmpd="sng" w="38100">
            <a:solidFill>
              <a:schemeClr val="dk2"/>
            </a:solidFill>
            <a:prstDash val="solid"/>
            <a:round/>
            <a:headEnd len="med" w="med" type="none"/>
            <a:tailEnd len="med" w="med" type="triangle"/>
          </a:ln>
        </p:spPr>
      </p:cxnSp>
      <p:sp>
        <p:nvSpPr>
          <p:cNvPr id="72" name="Google Shape;72;p12"/>
          <p:cNvSpPr/>
          <p:nvPr/>
        </p:nvSpPr>
        <p:spPr>
          <a:xfrm>
            <a:off x="6681675" y="1529850"/>
            <a:ext cx="1344000" cy="11730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3000">
                <a:latin typeface="Comic Sans MS"/>
                <a:ea typeface="Comic Sans MS"/>
                <a:cs typeface="Comic Sans MS"/>
                <a:sym typeface="Comic Sans MS"/>
              </a:rPr>
              <a:t>write paper</a:t>
            </a:r>
            <a:endParaRPr sz="3000">
              <a:latin typeface="Comic Sans MS"/>
              <a:ea typeface="Comic Sans MS"/>
              <a:cs typeface="Comic Sans MS"/>
              <a:sym typeface="Comic Sans MS"/>
            </a:endParaRPr>
          </a:p>
        </p:txBody>
      </p:sp>
      <p:cxnSp>
        <p:nvCxnSpPr>
          <p:cNvPr id="73" name="Google Shape;73;p12"/>
          <p:cNvCxnSpPr>
            <a:stCxn id="70" idx="3"/>
            <a:endCxn id="72" idx="1"/>
          </p:cNvCxnSpPr>
          <p:nvPr/>
        </p:nvCxnSpPr>
        <p:spPr>
          <a:xfrm>
            <a:off x="6211825" y="1747525"/>
            <a:ext cx="469800" cy="368700"/>
          </a:xfrm>
          <a:prstGeom prst="straightConnector1">
            <a:avLst/>
          </a:prstGeom>
          <a:noFill/>
          <a:ln cap="flat" cmpd="sng" w="38100">
            <a:solidFill>
              <a:schemeClr val="dk2"/>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3"/>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writing papers model 2</a:t>
            </a:r>
            <a:endParaRPr/>
          </a:p>
        </p:txBody>
      </p:sp>
      <p:sp>
        <p:nvSpPr>
          <p:cNvPr id="79" name="Google Shape;79;p13"/>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p:txBody>
      </p:sp>
      <p:sp>
        <p:nvSpPr>
          <p:cNvPr id="80" name="Google Shape;80;p13"/>
          <p:cNvSpPr/>
          <p:nvPr/>
        </p:nvSpPr>
        <p:spPr>
          <a:xfrm>
            <a:off x="1068275" y="1186950"/>
            <a:ext cx="1028700" cy="68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3000">
                <a:latin typeface="Comic Sans MS"/>
                <a:ea typeface="Comic Sans MS"/>
                <a:cs typeface="Comic Sans MS"/>
                <a:sym typeface="Comic Sans MS"/>
              </a:rPr>
              <a:t>idea</a:t>
            </a:r>
            <a:endParaRPr sz="3000">
              <a:latin typeface="Comic Sans MS"/>
              <a:ea typeface="Comic Sans MS"/>
              <a:cs typeface="Comic Sans MS"/>
              <a:sym typeface="Comic Sans MS"/>
            </a:endParaRPr>
          </a:p>
        </p:txBody>
      </p:sp>
      <p:sp>
        <p:nvSpPr>
          <p:cNvPr id="81" name="Google Shape;81;p13"/>
          <p:cNvSpPr/>
          <p:nvPr/>
        </p:nvSpPr>
        <p:spPr>
          <a:xfrm>
            <a:off x="2705425" y="1404625"/>
            <a:ext cx="3506400" cy="6858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3000">
                <a:latin typeface="Comic Sans MS"/>
                <a:ea typeface="Comic Sans MS"/>
                <a:cs typeface="Comic Sans MS"/>
                <a:sym typeface="Comic Sans MS"/>
              </a:rPr>
              <a:t>research</a:t>
            </a:r>
            <a:endParaRPr sz="3000">
              <a:latin typeface="Comic Sans MS"/>
              <a:ea typeface="Comic Sans MS"/>
              <a:cs typeface="Comic Sans MS"/>
              <a:sym typeface="Comic Sans MS"/>
            </a:endParaRPr>
          </a:p>
        </p:txBody>
      </p:sp>
      <p:cxnSp>
        <p:nvCxnSpPr>
          <p:cNvPr id="82" name="Google Shape;82;p13"/>
          <p:cNvCxnSpPr>
            <a:stCxn id="80" idx="3"/>
            <a:endCxn id="81" idx="1"/>
          </p:cNvCxnSpPr>
          <p:nvPr/>
        </p:nvCxnSpPr>
        <p:spPr>
          <a:xfrm>
            <a:off x="2096975" y="1529850"/>
            <a:ext cx="608400" cy="217800"/>
          </a:xfrm>
          <a:prstGeom prst="straightConnector1">
            <a:avLst/>
          </a:prstGeom>
          <a:noFill/>
          <a:ln cap="flat" cmpd="sng" w="38100">
            <a:solidFill>
              <a:schemeClr val="dk2"/>
            </a:solidFill>
            <a:prstDash val="solid"/>
            <a:round/>
            <a:headEnd len="med" w="med" type="none"/>
            <a:tailEnd len="med" w="med" type="triangle"/>
          </a:ln>
        </p:spPr>
      </p:cxnSp>
      <p:sp>
        <p:nvSpPr>
          <p:cNvPr id="83" name="Google Shape;83;p13"/>
          <p:cNvSpPr/>
          <p:nvPr/>
        </p:nvSpPr>
        <p:spPr>
          <a:xfrm>
            <a:off x="6681675" y="1529850"/>
            <a:ext cx="1344000" cy="11730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3000">
                <a:latin typeface="Comic Sans MS"/>
                <a:ea typeface="Comic Sans MS"/>
                <a:cs typeface="Comic Sans MS"/>
                <a:sym typeface="Comic Sans MS"/>
              </a:rPr>
              <a:t>write paper</a:t>
            </a:r>
            <a:endParaRPr sz="3000">
              <a:latin typeface="Comic Sans MS"/>
              <a:ea typeface="Comic Sans MS"/>
              <a:cs typeface="Comic Sans MS"/>
              <a:sym typeface="Comic Sans MS"/>
            </a:endParaRPr>
          </a:p>
        </p:txBody>
      </p:sp>
      <p:cxnSp>
        <p:nvCxnSpPr>
          <p:cNvPr id="84" name="Google Shape;84;p13"/>
          <p:cNvCxnSpPr>
            <a:stCxn id="81" idx="3"/>
            <a:endCxn id="83" idx="1"/>
          </p:cNvCxnSpPr>
          <p:nvPr/>
        </p:nvCxnSpPr>
        <p:spPr>
          <a:xfrm>
            <a:off x="6211825" y="1747525"/>
            <a:ext cx="469800" cy="368700"/>
          </a:xfrm>
          <a:prstGeom prst="straightConnector1">
            <a:avLst/>
          </a:prstGeom>
          <a:noFill/>
          <a:ln cap="flat" cmpd="sng" w="38100">
            <a:solidFill>
              <a:schemeClr val="dk2"/>
            </a:solidFill>
            <a:prstDash val="solid"/>
            <a:round/>
            <a:headEnd len="med" w="med" type="none"/>
            <a:tailEnd len="med" w="med" type="triangle"/>
          </a:ln>
        </p:spPr>
      </p:cxnSp>
      <p:sp>
        <p:nvSpPr>
          <p:cNvPr id="85" name="Google Shape;85;p13"/>
          <p:cNvSpPr/>
          <p:nvPr/>
        </p:nvSpPr>
        <p:spPr>
          <a:xfrm>
            <a:off x="1093300" y="2578700"/>
            <a:ext cx="1028700" cy="68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3000">
                <a:latin typeface="Comic Sans MS"/>
                <a:ea typeface="Comic Sans MS"/>
                <a:cs typeface="Comic Sans MS"/>
                <a:sym typeface="Comic Sans MS"/>
              </a:rPr>
              <a:t>idea</a:t>
            </a:r>
            <a:endParaRPr sz="3000">
              <a:latin typeface="Comic Sans MS"/>
              <a:ea typeface="Comic Sans MS"/>
              <a:cs typeface="Comic Sans MS"/>
              <a:sym typeface="Comic Sans MS"/>
            </a:endParaRPr>
          </a:p>
        </p:txBody>
      </p:sp>
      <p:sp>
        <p:nvSpPr>
          <p:cNvPr id="86" name="Google Shape;86;p13"/>
          <p:cNvSpPr/>
          <p:nvPr/>
        </p:nvSpPr>
        <p:spPr>
          <a:xfrm>
            <a:off x="2730450" y="2796375"/>
            <a:ext cx="2634900" cy="8574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3000">
                <a:latin typeface="Comic Sans MS"/>
                <a:ea typeface="Comic Sans MS"/>
                <a:cs typeface="Comic Sans MS"/>
                <a:sym typeface="Comic Sans MS"/>
              </a:rPr>
              <a:t>write paper</a:t>
            </a:r>
            <a:endParaRPr sz="3000">
              <a:latin typeface="Comic Sans MS"/>
              <a:ea typeface="Comic Sans MS"/>
              <a:cs typeface="Comic Sans MS"/>
              <a:sym typeface="Comic Sans MS"/>
            </a:endParaRPr>
          </a:p>
        </p:txBody>
      </p:sp>
      <p:cxnSp>
        <p:nvCxnSpPr>
          <p:cNvPr id="87" name="Google Shape;87;p13"/>
          <p:cNvCxnSpPr>
            <a:stCxn id="85" idx="3"/>
            <a:endCxn id="86" idx="1"/>
          </p:cNvCxnSpPr>
          <p:nvPr/>
        </p:nvCxnSpPr>
        <p:spPr>
          <a:xfrm>
            <a:off x="2122000" y="2921600"/>
            <a:ext cx="608400" cy="303600"/>
          </a:xfrm>
          <a:prstGeom prst="straightConnector1">
            <a:avLst/>
          </a:prstGeom>
          <a:noFill/>
          <a:ln cap="flat" cmpd="sng" w="38100">
            <a:solidFill>
              <a:schemeClr val="dk2"/>
            </a:solidFill>
            <a:prstDash val="solid"/>
            <a:round/>
            <a:headEnd len="med" w="med" type="none"/>
            <a:tailEnd len="med" w="med" type="triangle"/>
          </a:ln>
        </p:spPr>
      </p:cxnSp>
      <p:sp>
        <p:nvSpPr>
          <p:cNvPr id="88" name="Google Shape;88;p13"/>
          <p:cNvSpPr/>
          <p:nvPr/>
        </p:nvSpPr>
        <p:spPr>
          <a:xfrm>
            <a:off x="5973800" y="2921600"/>
            <a:ext cx="2076900" cy="11730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3000">
                <a:latin typeface="Comic Sans MS"/>
                <a:ea typeface="Comic Sans MS"/>
                <a:cs typeface="Comic Sans MS"/>
                <a:sym typeface="Comic Sans MS"/>
              </a:rPr>
              <a:t>research</a:t>
            </a:r>
            <a:endParaRPr sz="3000">
              <a:latin typeface="Comic Sans MS"/>
              <a:ea typeface="Comic Sans MS"/>
              <a:cs typeface="Comic Sans MS"/>
              <a:sym typeface="Comic Sans MS"/>
            </a:endParaRPr>
          </a:p>
        </p:txBody>
      </p:sp>
      <p:cxnSp>
        <p:nvCxnSpPr>
          <p:cNvPr id="89" name="Google Shape;89;p13"/>
          <p:cNvCxnSpPr>
            <a:stCxn id="86" idx="3"/>
            <a:endCxn id="88" idx="1"/>
          </p:cNvCxnSpPr>
          <p:nvPr/>
        </p:nvCxnSpPr>
        <p:spPr>
          <a:xfrm>
            <a:off x="5365350" y="3225075"/>
            <a:ext cx="608400" cy="282900"/>
          </a:xfrm>
          <a:prstGeom prst="straightConnector1">
            <a:avLst/>
          </a:prstGeom>
          <a:noFill/>
          <a:ln cap="flat" cmpd="sng" w="38100">
            <a:solidFill>
              <a:schemeClr val="dk2"/>
            </a:solidFill>
            <a:prstDash val="solid"/>
            <a:round/>
            <a:headEnd len="med" w="med" type="none"/>
            <a:tailEnd len="med" w="med" type="triangle"/>
          </a:ln>
        </p:spPr>
      </p:cxnSp>
      <p:cxnSp>
        <p:nvCxnSpPr>
          <p:cNvPr id="90" name="Google Shape;90;p13"/>
          <p:cNvCxnSpPr/>
          <p:nvPr/>
        </p:nvCxnSpPr>
        <p:spPr>
          <a:xfrm flipH="1" rot="10800000">
            <a:off x="1088200" y="1451075"/>
            <a:ext cx="7224600" cy="770700"/>
          </a:xfrm>
          <a:prstGeom prst="straightConnector1">
            <a:avLst/>
          </a:prstGeom>
          <a:noFill/>
          <a:ln cap="flat" cmpd="sng" w="76200">
            <a:solidFill>
              <a:schemeClr val="accent6"/>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writing papers model 2</a:t>
            </a:r>
            <a:endParaRPr/>
          </a:p>
        </p:txBody>
      </p:sp>
      <p:sp>
        <p:nvSpPr>
          <p:cNvPr id="96" name="Google Shape;96;p14"/>
          <p:cNvSpPr txBox="1"/>
          <p:nvPr>
            <p:ph idx="1" type="body"/>
          </p:nvPr>
        </p:nvSpPr>
        <p:spPr>
          <a:xfrm>
            <a:off x="457200" y="2723000"/>
            <a:ext cx="8229600" cy="22029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GB"/>
              <a:t>forces us to be clear / focused</a:t>
            </a:r>
            <a:endParaRPr/>
          </a:p>
          <a:p>
            <a:pPr indent="-419100" lvl="0" marL="457200" rtl="0" algn="l">
              <a:spcBef>
                <a:spcPts val="0"/>
              </a:spcBef>
              <a:spcAft>
                <a:spcPts val="0"/>
              </a:spcAft>
              <a:buSzPts val="3000"/>
              <a:buChar char="●"/>
            </a:pPr>
            <a:r>
              <a:rPr lang="en-GB"/>
              <a:t>articulates what we don’t understand</a:t>
            </a:r>
            <a:endParaRPr/>
          </a:p>
          <a:p>
            <a:pPr indent="-419100" lvl="0" marL="457200" rtl="0" algn="l">
              <a:spcBef>
                <a:spcPts val="0"/>
              </a:spcBef>
              <a:spcAft>
                <a:spcPts val="0"/>
              </a:spcAft>
              <a:buSzPts val="3000"/>
              <a:buChar char="●"/>
            </a:pPr>
            <a:r>
              <a:rPr lang="en-GB"/>
              <a:t>opens the way to collaborate with others</a:t>
            </a:r>
            <a:endParaRPr/>
          </a:p>
        </p:txBody>
      </p:sp>
      <p:sp>
        <p:nvSpPr>
          <p:cNvPr id="97" name="Google Shape;97;p14"/>
          <p:cNvSpPr/>
          <p:nvPr/>
        </p:nvSpPr>
        <p:spPr>
          <a:xfrm>
            <a:off x="1093300" y="1207100"/>
            <a:ext cx="1028700" cy="68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3000">
                <a:latin typeface="Comic Sans MS"/>
                <a:ea typeface="Comic Sans MS"/>
                <a:cs typeface="Comic Sans MS"/>
                <a:sym typeface="Comic Sans MS"/>
              </a:rPr>
              <a:t>idea</a:t>
            </a:r>
            <a:endParaRPr sz="3000">
              <a:latin typeface="Comic Sans MS"/>
              <a:ea typeface="Comic Sans MS"/>
              <a:cs typeface="Comic Sans MS"/>
              <a:sym typeface="Comic Sans MS"/>
            </a:endParaRPr>
          </a:p>
        </p:txBody>
      </p:sp>
      <p:sp>
        <p:nvSpPr>
          <p:cNvPr id="98" name="Google Shape;98;p14"/>
          <p:cNvSpPr/>
          <p:nvPr/>
        </p:nvSpPr>
        <p:spPr>
          <a:xfrm>
            <a:off x="2730450" y="1424775"/>
            <a:ext cx="2634900" cy="8574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3000">
                <a:latin typeface="Comic Sans MS"/>
                <a:ea typeface="Comic Sans MS"/>
                <a:cs typeface="Comic Sans MS"/>
                <a:sym typeface="Comic Sans MS"/>
              </a:rPr>
              <a:t>write paper</a:t>
            </a:r>
            <a:endParaRPr sz="3000">
              <a:latin typeface="Comic Sans MS"/>
              <a:ea typeface="Comic Sans MS"/>
              <a:cs typeface="Comic Sans MS"/>
              <a:sym typeface="Comic Sans MS"/>
            </a:endParaRPr>
          </a:p>
        </p:txBody>
      </p:sp>
      <p:cxnSp>
        <p:nvCxnSpPr>
          <p:cNvPr id="99" name="Google Shape;99;p14"/>
          <p:cNvCxnSpPr>
            <a:stCxn id="97" idx="3"/>
            <a:endCxn id="98" idx="1"/>
          </p:cNvCxnSpPr>
          <p:nvPr/>
        </p:nvCxnSpPr>
        <p:spPr>
          <a:xfrm>
            <a:off x="2122000" y="1550000"/>
            <a:ext cx="608400" cy="303600"/>
          </a:xfrm>
          <a:prstGeom prst="straightConnector1">
            <a:avLst/>
          </a:prstGeom>
          <a:noFill/>
          <a:ln cap="flat" cmpd="sng" w="38100">
            <a:solidFill>
              <a:schemeClr val="dk2"/>
            </a:solidFill>
            <a:prstDash val="solid"/>
            <a:round/>
            <a:headEnd len="med" w="med" type="none"/>
            <a:tailEnd len="med" w="med" type="triangle"/>
          </a:ln>
        </p:spPr>
      </p:cxnSp>
      <p:sp>
        <p:nvSpPr>
          <p:cNvPr id="100" name="Google Shape;100;p14"/>
          <p:cNvSpPr/>
          <p:nvPr/>
        </p:nvSpPr>
        <p:spPr>
          <a:xfrm>
            <a:off x="5973800" y="1550000"/>
            <a:ext cx="2076900" cy="11730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3000">
                <a:latin typeface="Comic Sans MS"/>
                <a:ea typeface="Comic Sans MS"/>
                <a:cs typeface="Comic Sans MS"/>
                <a:sym typeface="Comic Sans MS"/>
              </a:rPr>
              <a:t>research</a:t>
            </a:r>
            <a:endParaRPr sz="3000">
              <a:latin typeface="Comic Sans MS"/>
              <a:ea typeface="Comic Sans MS"/>
              <a:cs typeface="Comic Sans MS"/>
              <a:sym typeface="Comic Sans MS"/>
            </a:endParaRPr>
          </a:p>
        </p:txBody>
      </p:sp>
      <p:cxnSp>
        <p:nvCxnSpPr>
          <p:cNvPr id="101" name="Google Shape;101;p14"/>
          <p:cNvCxnSpPr>
            <a:stCxn id="98" idx="3"/>
            <a:endCxn id="100" idx="1"/>
          </p:cNvCxnSpPr>
          <p:nvPr/>
        </p:nvCxnSpPr>
        <p:spPr>
          <a:xfrm>
            <a:off x="5365350" y="1853475"/>
            <a:ext cx="608400" cy="282900"/>
          </a:xfrm>
          <a:prstGeom prst="straightConnector1">
            <a:avLst/>
          </a:prstGeom>
          <a:noFill/>
          <a:ln cap="flat" cmpd="sng" w="38100">
            <a:solidFill>
              <a:schemeClr val="dk2"/>
            </a:solidFill>
            <a:prstDash val="solid"/>
            <a:round/>
            <a:headEnd len="med" w="med" type="none"/>
            <a:tailEnd len="med" w="med" type="triangle"/>
          </a:ln>
        </p:spPr>
      </p:cxnSp>
      <p:sp>
        <p:nvSpPr>
          <p:cNvPr id="102" name="Google Shape;102;p14"/>
          <p:cNvSpPr/>
          <p:nvPr/>
        </p:nvSpPr>
        <p:spPr>
          <a:xfrm rot="-1266994">
            <a:off x="3990214" y="2361352"/>
            <a:ext cx="4870561" cy="1964702"/>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3000">
                <a:latin typeface="Comic Sans MS"/>
                <a:ea typeface="Comic Sans MS"/>
                <a:cs typeface="Comic Sans MS"/>
                <a:sym typeface="Comic Sans MS"/>
              </a:rPr>
              <a:t>writing is </a:t>
            </a:r>
            <a:r>
              <a:rPr b="1" lang="en-GB" sz="3000">
                <a:latin typeface="Comic Sans MS"/>
                <a:ea typeface="Comic Sans MS"/>
                <a:cs typeface="Comic Sans MS"/>
                <a:sym typeface="Comic Sans MS"/>
              </a:rPr>
              <a:t>doing</a:t>
            </a:r>
            <a:r>
              <a:rPr lang="en-GB" sz="3000">
                <a:latin typeface="Comic Sans MS"/>
                <a:ea typeface="Comic Sans MS"/>
                <a:cs typeface="Comic Sans MS"/>
                <a:sym typeface="Comic Sans MS"/>
              </a:rPr>
              <a:t> research - not just </a:t>
            </a:r>
            <a:r>
              <a:rPr b="1" lang="en-GB" sz="3000">
                <a:latin typeface="Comic Sans MS"/>
                <a:ea typeface="Comic Sans MS"/>
                <a:cs typeface="Comic Sans MS"/>
                <a:sym typeface="Comic Sans MS"/>
              </a:rPr>
              <a:t>reporting</a:t>
            </a:r>
            <a:r>
              <a:rPr lang="en-GB" sz="3000">
                <a:latin typeface="Comic Sans MS"/>
                <a:ea typeface="Comic Sans MS"/>
                <a:cs typeface="Comic Sans MS"/>
                <a:sym typeface="Comic Sans MS"/>
              </a:rPr>
              <a:t> research</a:t>
            </a:r>
            <a:endParaRPr sz="3000">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5"/>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do not be intimidated</a:t>
            </a:r>
            <a:endParaRPr/>
          </a:p>
        </p:txBody>
      </p:sp>
      <p:sp>
        <p:nvSpPr>
          <p:cNvPr id="108" name="Google Shape;108;p15"/>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GB" sz="2400"/>
              <a:t>fallacy</a:t>
            </a:r>
            <a:r>
              <a:rPr lang="en-GB" sz="2400"/>
              <a:t> - you need to have a fantastic idea before you can write a paper</a:t>
            </a:r>
            <a:endParaRPr sz="2400"/>
          </a:p>
          <a:p>
            <a:pPr indent="0" lvl="0" marL="0" rtl="0" algn="l">
              <a:spcBef>
                <a:spcPts val="600"/>
              </a:spcBef>
              <a:spcAft>
                <a:spcPts val="0"/>
              </a:spcAft>
              <a:buNone/>
            </a:pPr>
            <a:r>
              <a:t/>
            </a:r>
            <a:endParaRPr/>
          </a:p>
        </p:txBody>
      </p:sp>
      <p:sp>
        <p:nvSpPr>
          <p:cNvPr id="109" name="Google Shape;109;p15"/>
          <p:cNvSpPr txBox="1"/>
          <p:nvPr/>
        </p:nvSpPr>
        <p:spPr>
          <a:xfrm>
            <a:off x="1420650" y="2569375"/>
            <a:ext cx="6302700" cy="214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400">
                <a:latin typeface="Comic Sans MS"/>
                <a:ea typeface="Comic Sans MS"/>
                <a:cs typeface="Comic Sans MS"/>
                <a:sym typeface="Comic Sans MS"/>
              </a:rPr>
              <a:t>write a paper / give a talk on </a:t>
            </a:r>
            <a:endParaRPr sz="2400">
              <a:latin typeface="Comic Sans MS"/>
              <a:ea typeface="Comic Sans MS"/>
              <a:cs typeface="Comic Sans MS"/>
              <a:sym typeface="Comic Sans MS"/>
            </a:endParaRPr>
          </a:p>
          <a:p>
            <a:pPr indent="0" lvl="0" marL="0" rtl="0" algn="ctr">
              <a:spcBef>
                <a:spcPts val="0"/>
              </a:spcBef>
              <a:spcAft>
                <a:spcPts val="0"/>
              </a:spcAft>
              <a:buNone/>
            </a:pPr>
            <a:r>
              <a:rPr lang="en-GB" sz="3600">
                <a:latin typeface="Comic Sans MS"/>
                <a:ea typeface="Comic Sans MS"/>
                <a:cs typeface="Comic Sans MS"/>
                <a:sym typeface="Comic Sans MS"/>
              </a:rPr>
              <a:t>any idea</a:t>
            </a:r>
            <a:endParaRPr sz="3600">
              <a:latin typeface="Comic Sans MS"/>
              <a:ea typeface="Comic Sans MS"/>
              <a:cs typeface="Comic Sans MS"/>
              <a:sym typeface="Comic Sans MS"/>
            </a:endParaRPr>
          </a:p>
          <a:p>
            <a:pPr indent="0" lvl="0" marL="0" rtl="0" algn="ctr">
              <a:spcBef>
                <a:spcPts val="0"/>
              </a:spcBef>
              <a:spcAft>
                <a:spcPts val="0"/>
              </a:spcAft>
              <a:buNone/>
            </a:pPr>
            <a:r>
              <a:rPr lang="en-GB" sz="2400">
                <a:latin typeface="Comic Sans MS"/>
                <a:ea typeface="Comic Sans MS"/>
                <a:cs typeface="Comic Sans MS"/>
                <a:sym typeface="Comic Sans MS"/>
              </a:rPr>
              <a:t>no matter how poor you initially think the idea to be </a:t>
            </a:r>
            <a:endParaRPr sz="2400">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6"/>
          <p:cNvSpPr txBox="1"/>
          <p:nvPr/>
        </p:nvSpPr>
        <p:spPr>
          <a:xfrm>
            <a:off x="1077000" y="1892550"/>
            <a:ext cx="6990000" cy="135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4800">
                <a:solidFill>
                  <a:schemeClr val="lt1"/>
                </a:solidFill>
                <a:latin typeface="Comic Sans MS"/>
                <a:ea typeface="Comic Sans MS"/>
                <a:cs typeface="Comic Sans MS"/>
                <a:sym typeface="Comic Sans MS"/>
              </a:rPr>
              <a:t>#2: Identify your key idea</a:t>
            </a:r>
            <a:endParaRPr sz="4800">
              <a:solidFill>
                <a:schemeClr val="lt1"/>
              </a:solidFill>
              <a:latin typeface="Comic Sans MS"/>
              <a:ea typeface="Comic Sans MS"/>
              <a:cs typeface="Comic Sans MS"/>
              <a:sym typeface="Comic Sans M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7"/>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convey a </a:t>
            </a:r>
            <a:r>
              <a:rPr lang="en-GB">
                <a:solidFill>
                  <a:schemeClr val="lt2"/>
                </a:solidFill>
              </a:rPr>
              <a:t>useful</a:t>
            </a:r>
            <a:r>
              <a:rPr lang="en-GB"/>
              <a:t> / </a:t>
            </a:r>
            <a:r>
              <a:rPr lang="en-GB">
                <a:solidFill>
                  <a:schemeClr val="lt2"/>
                </a:solidFill>
              </a:rPr>
              <a:t>reusable</a:t>
            </a:r>
            <a:r>
              <a:rPr lang="en-GB"/>
              <a:t> idea</a:t>
            </a:r>
            <a:endParaRPr/>
          </a:p>
        </p:txBody>
      </p:sp>
      <p:sp>
        <p:nvSpPr>
          <p:cNvPr id="120" name="Google Shape;120;p17"/>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GB"/>
              <a:t>you want to infect the mind of your reader with your idea</a:t>
            </a:r>
            <a:endParaRPr/>
          </a:p>
          <a:p>
            <a:pPr indent="-419100" lvl="0" marL="457200" rtl="0" algn="l">
              <a:spcBef>
                <a:spcPts val="0"/>
              </a:spcBef>
              <a:spcAft>
                <a:spcPts val="0"/>
              </a:spcAft>
              <a:buSzPts val="3000"/>
              <a:buChar char="●"/>
            </a:pPr>
            <a:r>
              <a:rPr lang="en-GB"/>
              <a:t>papers last longer (are more reusable) than programs</a:t>
            </a:r>
            <a:endParaRPr/>
          </a:p>
          <a:p>
            <a:pPr indent="-419100" lvl="0" marL="457200" rtl="0" algn="l">
              <a:spcBef>
                <a:spcPts val="0"/>
              </a:spcBef>
              <a:spcAft>
                <a:spcPts val="0"/>
              </a:spcAft>
              <a:buSzPts val="3000"/>
              <a:buChar char="●"/>
            </a:pPr>
            <a:r>
              <a:rPr lang="en-GB"/>
              <a:t>ideas are only useful if they are communicated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8"/>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the idea</a:t>
            </a:r>
            <a:endParaRPr/>
          </a:p>
        </p:txBody>
      </p:sp>
      <p:sp>
        <p:nvSpPr>
          <p:cNvPr id="126" name="Google Shape;126;p18"/>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GB"/>
              <a:t>each paper should have one clear, sharp idea</a:t>
            </a:r>
            <a:endParaRPr/>
          </a:p>
          <a:p>
            <a:pPr indent="-419100" lvl="0" marL="457200" rtl="0" algn="l">
              <a:spcBef>
                <a:spcPts val="0"/>
              </a:spcBef>
              <a:spcAft>
                <a:spcPts val="0"/>
              </a:spcAft>
              <a:buSzPts val="3000"/>
              <a:buChar char="●"/>
            </a:pPr>
            <a:r>
              <a:rPr lang="en-GB"/>
              <a:t>you may not know it when you start but must by the time you finish</a:t>
            </a:r>
            <a:endParaRPr/>
          </a:p>
          <a:p>
            <a:pPr indent="-419100" lvl="0" marL="457200" rtl="0" algn="l">
              <a:spcBef>
                <a:spcPts val="0"/>
              </a:spcBef>
              <a:spcAft>
                <a:spcPts val="0"/>
              </a:spcAft>
              <a:buSzPts val="3000"/>
              <a:buChar char="●"/>
            </a:pPr>
            <a:r>
              <a:rPr lang="en-GB"/>
              <a:t>if you have lots of ideas, write separate papers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9"/>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is the idea “audible”</a:t>
            </a:r>
            <a:endParaRPr/>
          </a:p>
        </p:txBody>
      </p:sp>
      <p:sp>
        <p:nvSpPr>
          <p:cNvPr id="132" name="Google Shape;132;p19"/>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GB"/>
              <a:t>many papers have good ideas but don’t necessarily state them clearly</a:t>
            </a:r>
            <a:endParaRPr/>
          </a:p>
          <a:p>
            <a:pPr indent="-419100" lvl="0" marL="457200" rtl="0" algn="l">
              <a:spcBef>
                <a:spcPts val="0"/>
              </a:spcBef>
              <a:spcAft>
                <a:spcPts val="0"/>
              </a:spcAft>
              <a:buSzPts val="3000"/>
              <a:buChar char="●"/>
            </a:pPr>
            <a:r>
              <a:rPr lang="en-GB"/>
              <a:t>be sure that the reader is in no doubt:</a:t>
            </a:r>
            <a:endParaRPr/>
          </a:p>
          <a:p>
            <a:pPr indent="-381000" lvl="1" marL="914400" rtl="0" algn="l">
              <a:spcBef>
                <a:spcPts val="0"/>
              </a:spcBef>
              <a:spcAft>
                <a:spcPts val="0"/>
              </a:spcAft>
              <a:buSzPts val="2400"/>
              <a:buChar char="○"/>
            </a:pPr>
            <a:r>
              <a:rPr lang="en-GB"/>
              <a:t>“The main idea of this paper is …”</a:t>
            </a:r>
            <a:endParaRPr/>
          </a:p>
          <a:p>
            <a:pPr indent="-381000" lvl="1" marL="914400" rtl="0" algn="l">
              <a:spcBef>
                <a:spcPts val="0"/>
              </a:spcBef>
              <a:spcAft>
                <a:spcPts val="0"/>
              </a:spcAft>
              <a:buSzPts val="2400"/>
              <a:buChar char="○"/>
            </a:pPr>
            <a:r>
              <a:rPr lang="en-GB"/>
              <a:t>“In this section, we present the main contribution of this paper.”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0"/>
          <p:cNvSpPr txBox="1"/>
          <p:nvPr/>
        </p:nvSpPr>
        <p:spPr>
          <a:xfrm>
            <a:off x="1077000" y="1892550"/>
            <a:ext cx="6990000" cy="135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4800">
                <a:solidFill>
                  <a:schemeClr val="lt1"/>
                </a:solidFill>
                <a:latin typeface="Comic Sans MS"/>
                <a:ea typeface="Comic Sans MS"/>
                <a:cs typeface="Comic Sans MS"/>
                <a:sym typeface="Comic Sans MS"/>
              </a:rPr>
              <a:t>#3: Tell a story</a:t>
            </a:r>
            <a:endParaRPr sz="4800">
              <a:solidFill>
                <a:schemeClr val="lt1"/>
              </a:solidFill>
              <a:latin typeface="Comic Sans MS"/>
              <a:ea typeface="Comic Sans MS"/>
              <a:cs typeface="Comic Sans MS"/>
              <a:sym typeface="Comic Sans M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1"/>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narrative flow</a:t>
            </a:r>
            <a:endParaRPr/>
          </a:p>
        </p:txBody>
      </p:sp>
      <p:sp>
        <p:nvSpPr>
          <p:cNvPr id="143" name="Google Shape;143;p21"/>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a:t>Imagine explaining at a whiteboard:</a:t>
            </a:r>
            <a:endParaRPr/>
          </a:p>
          <a:p>
            <a:pPr indent="-419100" lvl="0" marL="457200" rtl="0" algn="l">
              <a:spcBef>
                <a:spcPts val="600"/>
              </a:spcBef>
              <a:spcAft>
                <a:spcPts val="0"/>
              </a:spcAft>
              <a:buSzPts val="3000"/>
              <a:buChar char="●"/>
            </a:pPr>
            <a:r>
              <a:rPr lang="en-GB"/>
              <a:t>What is the problem?</a:t>
            </a:r>
            <a:endParaRPr/>
          </a:p>
          <a:p>
            <a:pPr indent="-419100" lvl="0" marL="457200" rtl="0" algn="l">
              <a:spcBef>
                <a:spcPts val="0"/>
              </a:spcBef>
              <a:spcAft>
                <a:spcPts val="0"/>
              </a:spcAft>
              <a:buSzPts val="3000"/>
              <a:buChar char="●"/>
            </a:pPr>
            <a:r>
              <a:rPr lang="en-GB"/>
              <a:t>Why is it interesting?</a:t>
            </a:r>
            <a:endParaRPr/>
          </a:p>
          <a:p>
            <a:pPr indent="-419100" lvl="0" marL="457200" rtl="0" algn="l">
              <a:spcBef>
                <a:spcPts val="0"/>
              </a:spcBef>
              <a:spcAft>
                <a:spcPts val="0"/>
              </a:spcAft>
              <a:buSzPts val="3000"/>
              <a:buChar char="●"/>
            </a:pPr>
            <a:r>
              <a:rPr lang="en-GB"/>
              <a:t>Is it unsolved?</a:t>
            </a:r>
            <a:endParaRPr/>
          </a:p>
          <a:p>
            <a:pPr indent="-419100" lvl="0" marL="457200" rtl="0" algn="l">
              <a:spcBef>
                <a:spcPts val="0"/>
              </a:spcBef>
              <a:spcAft>
                <a:spcPts val="0"/>
              </a:spcAft>
              <a:buSzPts val="3000"/>
              <a:buChar char="●"/>
            </a:pPr>
            <a:r>
              <a:rPr lang="en-GB"/>
              <a:t>Idea</a:t>
            </a:r>
            <a:endParaRPr/>
          </a:p>
          <a:p>
            <a:pPr indent="-419100" lvl="0" marL="457200" rtl="0" algn="l">
              <a:spcBef>
                <a:spcPts val="0"/>
              </a:spcBef>
              <a:spcAft>
                <a:spcPts val="0"/>
              </a:spcAft>
              <a:buSzPts val="3000"/>
              <a:buChar char="●"/>
            </a:pPr>
            <a:r>
              <a:rPr lang="en-GB"/>
              <a:t>Details of how idea works</a:t>
            </a:r>
            <a:endParaRPr/>
          </a:p>
          <a:p>
            <a:pPr indent="-419100" lvl="0" marL="457200" rtl="0" algn="l">
              <a:spcBef>
                <a:spcPts val="0"/>
              </a:spcBef>
              <a:spcAft>
                <a:spcPts val="0"/>
              </a:spcAft>
              <a:buSzPts val="3000"/>
              <a:buChar char="●"/>
            </a:pPr>
            <a:r>
              <a:rPr lang="en-GB"/>
              <a:t>Compare idea to other’s works</a:t>
            </a:r>
            <a:endParaRPr/>
          </a:p>
        </p:txBody>
      </p:sp>
      <p:sp>
        <p:nvSpPr>
          <p:cNvPr id="144" name="Google Shape;144;p21"/>
          <p:cNvSpPr/>
          <p:nvPr/>
        </p:nvSpPr>
        <p:spPr>
          <a:xfrm>
            <a:off x="6665300" y="1405625"/>
            <a:ext cx="1828764" cy="1314900"/>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Comic Sans MS"/>
                <a:ea typeface="Comic Sans MS"/>
                <a:cs typeface="Comic Sans MS"/>
                <a:sym typeface="Comic Sans MS"/>
              </a:rPr>
              <a:t>I wish I knew how to solve that!</a:t>
            </a:r>
            <a:endParaRPr>
              <a:latin typeface="Comic Sans MS"/>
              <a:ea typeface="Comic Sans MS"/>
              <a:cs typeface="Comic Sans MS"/>
              <a:sym typeface="Comic Sans MS"/>
            </a:endParaRPr>
          </a:p>
        </p:txBody>
      </p:sp>
      <p:sp>
        <p:nvSpPr>
          <p:cNvPr id="145" name="Google Shape;145;p21"/>
          <p:cNvSpPr/>
          <p:nvPr/>
        </p:nvSpPr>
        <p:spPr>
          <a:xfrm>
            <a:off x="6923500" y="2903175"/>
            <a:ext cx="1828764" cy="1314900"/>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Comic Sans MS"/>
                <a:ea typeface="Comic Sans MS"/>
                <a:cs typeface="Comic Sans MS"/>
                <a:sym typeface="Comic Sans MS"/>
              </a:rPr>
              <a:t>I see how that works! Ingenious!</a:t>
            </a:r>
            <a:endParaRPr>
              <a:latin typeface="Comic Sans MS"/>
              <a:ea typeface="Comic Sans MS"/>
              <a:cs typeface="Comic Sans MS"/>
              <a:sym typeface="Comic Sans M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2"/>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structure</a:t>
            </a:r>
            <a:endParaRPr/>
          </a:p>
        </p:txBody>
      </p:sp>
      <p:sp>
        <p:nvSpPr>
          <p:cNvPr id="151" name="Google Shape;151;p22"/>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GB"/>
              <a:t>Title (1000 readers)</a:t>
            </a:r>
            <a:endParaRPr/>
          </a:p>
          <a:p>
            <a:pPr indent="-419100" lvl="0" marL="457200" rtl="0" algn="l">
              <a:spcBef>
                <a:spcPts val="0"/>
              </a:spcBef>
              <a:spcAft>
                <a:spcPts val="0"/>
              </a:spcAft>
              <a:buSzPts val="3000"/>
              <a:buChar char="●"/>
            </a:pPr>
            <a:r>
              <a:rPr lang="en-GB"/>
              <a:t>Abstract (&lt;12 sentences, 100 readers)</a:t>
            </a:r>
            <a:endParaRPr/>
          </a:p>
          <a:p>
            <a:pPr indent="-419100" lvl="0" marL="457200" rtl="0" algn="l">
              <a:spcBef>
                <a:spcPts val="0"/>
              </a:spcBef>
              <a:spcAft>
                <a:spcPts val="0"/>
              </a:spcAft>
              <a:buSzPts val="3000"/>
              <a:buChar char="●"/>
            </a:pPr>
            <a:r>
              <a:rPr lang="en-GB"/>
              <a:t>Introduction (1 page, 100 readers)</a:t>
            </a:r>
            <a:endParaRPr/>
          </a:p>
          <a:p>
            <a:pPr indent="-419100" lvl="0" marL="457200" rtl="0" algn="l">
              <a:spcBef>
                <a:spcPts val="0"/>
              </a:spcBef>
              <a:spcAft>
                <a:spcPts val="0"/>
              </a:spcAft>
              <a:buSzPts val="3000"/>
              <a:buChar char="●"/>
            </a:pPr>
            <a:r>
              <a:rPr lang="en-GB"/>
              <a:t>The problem (1 page, 10 readers)</a:t>
            </a:r>
            <a:endParaRPr/>
          </a:p>
          <a:p>
            <a:pPr indent="-419100" lvl="0" marL="457200" rtl="0" algn="l">
              <a:spcBef>
                <a:spcPts val="0"/>
              </a:spcBef>
              <a:spcAft>
                <a:spcPts val="0"/>
              </a:spcAft>
              <a:buSzPts val="3000"/>
              <a:buChar char="●"/>
            </a:pPr>
            <a:r>
              <a:rPr lang="en-GB"/>
              <a:t>Idea (2 pages, 10 readers)</a:t>
            </a:r>
            <a:endParaRPr/>
          </a:p>
          <a:p>
            <a:pPr indent="-419100" lvl="0" marL="457200" rtl="0" algn="l">
              <a:spcBef>
                <a:spcPts val="0"/>
              </a:spcBef>
              <a:spcAft>
                <a:spcPts val="0"/>
              </a:spcAft>
              <a:buSzPts val="3000"/>
              <a:buChar char="●"/>
            </a:pPr>
            <a:r>
              <a:rPr lang="en-GB"/>
              <a:t>The details (5 pages, 3 readers)</a:t>
            </a:r>
            <a:endParaRPr/>
          </a:p>
          <a:p>
            <a:pPr indent="-419100" lvl="0" marL="457200" rtl="0" algn="l">
              <a:spcBef>
                <a:spcPts val="0"/>
              </a:spcBef>
              <a:spcAft>
                <a:spcPts val="0"/>
              </a:spcAft>
              <a:buSzPts val="3000"/>
              <a:buChar char="●"/>
            </a:pPr>
            <a:r>
              <a:rPr lang="en-GB"/>
              <a:t>Related work (1-2 pages, 10 readers)</a:t>
            </a:r>
            <a:endParaRPr/>
          </a:p>
          <a:p>
            <a:pPr indent="-419100" lvl="0" marL="457200" rtl="0" algn="l">
              <a:spcBef>
                <a:spcPts val="0"/>
              </a:spcBef>
              <a:spcAft>
                <a:spcPts val="0"/>
              </a:spcAft>
              <a:buSzPts val="3000"/>
              <a:buChar char="●"/>
            </a:pPr>
            <a:r>
              <a:rPr lang="en-GB"/>
              <a:t>Conclusions / future work (½ page)</a:t>
            </a:r>
            <a:endParaRPr/>
          </a:p>
          <a:p>
            <a:pPr indent="0" lvl="0" marL="0" rtl="0" algn="l">
              <a:spcBef>
                <a:spcPts val="60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3"/>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s</a:t>
            </a:r>
            <a:r>
              <a:rPr lang="en-GB"/>
              <a:t>tructure</a:t>
            </a:r>
            <a:endParaRPr/>
          </a:p>
        </p:txBody>
      </p:sp>
      <p:sp>
        <p:nvSpPr>
          <p:cNvPr id="157" name="Google Shape;157;p23"/>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419100" lvl="0" marL="457200" rtl="0" algn="l">
              <a:spcBef>
                <a:spcPts val="600"/>
              </a:spcBef>
              <a:spcAft>
                <a:spcPts val="0"/>
              </a:spcAft>
              <a:buSzPts val="3000"/>
              <a:buChar char="●"/>
            </a:pPr>
            <a:r>
              <a:rPr lang="en-GB"/>
              <a:t>A strong structure helps clarify the role of each part of the writing</a:t>
            </a:r>
            <a:endParaRPr/>
          </a:p>
          <a:p>
            <a:pPr indent="-381000" lvl="1" marL="914400" rtl="0" algn="l">
              <a:spcBef>
                <a:spcPts val="0"/>
              </a:spcBef>
              <a:spcAft>
                <a:spcPts val="0"/>
              </a:spcAft>
              <a:buSzPts val="2400"/>
              <a:buChar char="○"/>
            </a:pPr>
            <a:r>
              <a:rPr lang="en-GB"/>
              <a:t>For example, a </a:t>
            </a:r>
            <a:r>
              <a:rPr lang="en-GB"/>
              <a:t>related work</a:t>
            </a:r>
            <a:r>
              <a:rPr lang="en-GB"/>
              <a:t> section should only describe past work and not include any new material</a:t>
            </a:r>
            <a:endParaRPr/>
          </a:p>
          <a:p>
            <a:pPr indent="-419100" lvl="0" marL="457200" rtl="0" algn="l">
              <a:spcBef>
                <a:spcPts val="0"/>
              </a:spcBef>
              <a:spcAft>
                <a:spcPts val="0"/>
              </a:spcAft>
              <a:buSzPts val="3000"/>
              <a:buChar char="●"/>
            </a:pPr>
            <a:r>
              <a:rPr lang="en-GB"/>
              <a:t>Structure helps avoid repetition</a:t>
            </a:r>
            <a:endParaRPr/>
          </a:p>
          <a:p>
            <a:pPr indent="-342900" lvl="1" marL="914400" rtl="0" algn="l">
              <a:spcBef>
                <a:spcPts val="0"/>
              </a:spcBef>
              <a:spcAft>
                <a:spcPts val="0"/>
              </a:spcAft>
              <a:buSzPts val="1800"/>
              <a:buChar char="○"/>
            </a:pPr>
            <a:r>
              <a:rPr lang="en-GB" sz="1800"/>
              <a:t>e.g., stat</a:t>
            </a:r>
            <a:r>
              <a:rPr lang="en-GB" sz="1800"/>
              <a:t>ing</a:t>
            </a:r>
            <a:r>
              <a:rPr lang="en-GB" sz="1800"/>
              <a:t> the number of human subjects several times</a:t>
            </a:r>
            <a:endParaRPr sz="1800"/>
          </a:p>
          <a:p>
            <a:pPr indent="-342900" lvl="1" marL="914400" rtl="0" algn="l">
              <a:spcBef>
                <a:spcPts val="0"/>
              </a:spcBef>
              <a:spcAft>
                <a:spcPts val="0"/>
              </a:spcAft>
              <a:buSzPts val="1800"/>
              <a:buChar char="○"/>
            </a:pPr>
            <a:r>
              <a:rPr lang="en-GB" sz="1800"/>
              <a:t>Being clear that this information needs to go into a “methods” section reduces this type of repetition</a:t>
            </a:r>
            <a:endParaRPr sz="1800"/>
          </a:p>
          <a:p>
            <a:pPr indent="-342900" lvl="1" marL="914400" rtl="0" algn="l">
              <a:spcBef>
                <a:spcPts val="0"/>
              </a:spcBef>
              <a:spcAft>
                <a:spcPts val="0"/>
              </a:spcAft>
              <a:buSzPts val="1800"/>
              <a:buChar char="○"/>
            </a:pPr>
            <a:r>
              <a:rPr lang="en-GB" sz="1800"/>
              <a:t>Similarly, if you discover repetition, it could be due to </a:t>
            </a:r>
            <a:r>
              <a:rPr lang="en-GB" sz="1800"/>
              <a:t>poor</a:t>
            </a:r>
            <a:r>
              <a:rPr lang="en-GB" sz="1800"/>
              <a:t> structure</a:t>
            </a:r>
            <a:endParaRPr sz="1800"/>
          </a:p>
          <a:p>
            <a:pPr indent="0" lvl="0" marL="0" rtl="0" algn="l">
              <a:spcBef>
                <a:spcPts val="60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nvSpPr>
        <p:spPr>
          <a:xfrm>
            <a:off x="1077000" y="1892550"/>
            <a:ext cx="6990000" cy="135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4800">
                <a:solidFill>
                  <a:schemeClr val="lt1"/>
                </a:solidFill>
                <a:latin typeface="Comic Sans MS"/>
                <a:ea typeface="Comic Sans MS"/>
                <a:cs typeface="Comic Sans MS"/>
                <a:sym typeface="Comic Sans MS"/>
              </a:rPr>
              <a:t>#4: Nail your contributions</a:t>
            </a:r>
            <a:endParaRPr sz="4800">
              <a:solidFill>
                <a:schemeClr val="lt1"/>
              </a:solidFill>
              <a:latin typeface="Comic Sans MS"/>
              <a:ea typeface="Comic Sans MS"/>
              <a:cs typeface="Comic Sans MS"/>
              <a:sym typeface="Comic Sans M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5"/>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molehills not mountains</a:t>
            </a:r>
            <a:endParaRPr/>
          </a:p>
        </p:txBody>
      </p:sp>
      <p:sp>
        <p:nvSpPr>
          <p:cNvPr id="168" name="Google Shape;168;p25"/>
          <p:cNvSpPr txBox="1"/>
          <p:nvPr>
            <p:ph idx="1" type="body"/>
          </p:nvPr>
        </p:nvSpPr>
        <p:spPr>
          <a:xfrm>
            <a:off x="457200" y="1200150"/>
            <a:ext cx="61137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2400"/>
              <a:t>“Computer programs often have bugs [1]. It’s important to eliminate these bugs [2,3]. Many researchers have tried [4-9]. It’s really very important”</a:t>
            </a:r>
            <a:endParaRPr sz="2400"/>
          </a:p>
          <a:p>
            <a:pPr indent="0" lvl="0" marL="0" rtl="0" algn="l">
              <a:spcBef>
                <a:spcPts val="600"/>
              </a:spcBef>
              <a:spcAft>
                <a:spcPts val="0"/>
              </a:spcAft>
              <a:buNone/>
            </a:pPr>
            <a:r>
              <a:rPr lang="en-GB" sz="2400"/>
              <a:t>“Consider this program, which has an interesting bug … we will show an automatic method for identifying and removing such bugs”</a:t>
            </a:r>
            <a:endParaRPr sz="2400"/>
          </a:p>
        </p:txBody>
      </p:sp>
      <p:sp>
        <p:nvSpPr>
          <p:cNvPr id="169" name="Google Shape;169;p25"/>
          <p:cNvSpPr/>
          <p:nvPr/>
        </p:nvSpPr>
        <p:spPr>
          <a:xfrm>
            <a:off x="6737150" y="1200150"/>
            <a:ext cx="2115900" cy="1390500"/>
          </a:xfrm>
          <a:prstGeom prst="cloudCallout">
            <a:avLst>
              <a:gd fmla="val -61253" name="adj1"/>
              <a:gd fmla="val 27819"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2400">
                <a:latin typeface="Comic Sans MS"/>
                <a:ea typeface="Comic Sans MS"/>
                <a:cs typeface="Comic Sans MS"/>
                <a:sym typeface="Comic Sans MS"/>
              </a:rPr>
              <a:t>yawn!</a:t>
            </a:r>
            <a:endParaRPr sz="2400">
              <a:latin typeface="Comic Sans MS"/>
              <a:ea typeface="Comic Sans MS"/>
              <a:cs typeface="Comic Sans MS"/>
              <a:sym typeface="Comic Sans MS"/>
            </a:endParaRPr>
          </a:p>
        </p:txBody>
      </p:sp>
      <p:sp>
        <p:nvSpPr>
          <p:cNvPr id="170" name="Google Shape;170;p25"/>
          <p:cNvSpPr/>
          <p:nvPr/>
        </p:nvSpPr>
        <p:spPr>
          <a:xfrm>
            <a:off x="6164100" y="2932150"/>
            <a:ext cx="2115900" cy="1390500"/>
          </a:xfrm>
          <a:prstGeom prst="cloudCallout">
            <a:avLst>
              <a:gd fmla="val -70600" name="adj1"/>
              <a:gd fmla="val 2172"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2400">
                <a:latin typeface="Comic Sans MS"/>
                <a:ea typeface="Comic Sans MS"/>
                <a:cs typeface="Comic Sans MS"/>
                <a:sym typeface="Comic Sans MS"/>
              </a:rPr>
              <a:t>cool!</a:t>
            </a:r>
            <a:endParaRPr sz="2400">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000"/>
                                        <p:tgtEl>
                                          <p:spTgt spid="1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6"/>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state your contributions</a:t>
            </a:r>
            <a:endParaRPr/>
          </a:p>
        </p:txBody>
      </p:sp>
      <p:sp>
        <p:nvSpPr>
          <p:cNvPr id="176" name="Google Shape;176;p26"/>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GB"/>
              <a:t>write the list of contributions in introduction</a:t>
            </a:r>
            <a:endParaRPr/>
          </a:p>
          <a:p>
            <a:pPr indent="-419100" lvl="0" marL="457200" rtl="0" algn="l">
              <a:spcBef>
                <a:spcPts val="0"/>
              </a:spcBef>
              <a:spcAft>
                <a:spcPts val="0"/>
              </a:spcAft>
              <a:buSzPts val="3000"/>
              <a:buChar char="●"/>
            </a:pPr>
            <a:r>
              <a:rPr lang="en-GB"/>
              <a:t>the list of contributions drives the whole paper</a:t>
            </a:r>
            <a:endParaRPr/>
          </a:p>
          <a:p>
            <a:pPr indent="-419100" lvl="0" marL="457200" rtl="0" algn="l">
              <a:spcBef>
                <a:spcPts val="0"/>
              </a:spcBef>
              <a:spcAft>
                <a:spcPts val="0"/>
              </a:spcAft>
              <a:buSzPts val="3000"/>
              <a:buChar char="●"/>
            </a:pPr>
            <a:r>
              <a:rPr lang="en-GB"/>
              <a:t>specifically link contributions to sections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80" name="Shape 180"/>
        <p:cNvGrpSpPr/>
        <p:nvPr/>
      </p:nvGrpSpPr>
      <p:grpSpPr>
        <a:xfrm>
          <a:off x="0" y="0"/>
          <a:ext cx="0" cy="0"/>
          <a:chOff x="0" y="0"/>
          <a:chExt cx="0" cy="0"/>
        </a:xfrm>
      </p:grpSpPr>
      <p:sp>
        <p:nvSpPr>
          <p:cNvPr id="181" name="Google Shape;181;p27"/>
          <p:cNvSpPr txBox="1"/>
          <p:nvPr>
            <p:ph idx="4294967295"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state your contributions</a:t>
            </a:r>
            <a:endParaRPr/>
          </a:p>
        </p:txBody>
      </p:sp>
      <p:pic>
        <p:nvPicPr>
          <p:cNvPr id="182" name="Google Shape;182;p27"/>
          <p:cNvPicPr preferRelativeResize="0"/>
          <p:nvPr/>
        </p:nvPicPr>
        <p:blipFill rotWithShape="1">
          <a:blip r:embed="rId3">
            <a:alphaModFix/>
          </a:blip>
          <a:srcRect b="0" l="0" r="0" t="0"/>
          <a:stretch/>
        </p:blipFill>
        <p:spPr>
          <a:xfrm>
            <a:off x="452804" y="131379"/>
            <a:ext cx="8216700" cy="1306200"/>
          </a:xfrm>
          <a:prstGeom prst="rect">
            <a:avLst/>
          </a:prstGeom>
          <a:noFill/>
          <a:ln>
            <a:noFill/>
          </a:ln>
        </p:spPr>
      </p:pic>
      <p:pic>
        <p:nvPicPr>
          <p:cNvPr id="183" name="Google Shape;183;p27"/>
          <p:cNvPicPr preferRelativeResize="0"/>
          <p:nvPr/>
        </p:nvPicPr>
        <p:blipFill rotWithShape="1">
          <a:blip r:embed="rId4">
            <a:alphaModFix/>
          </a:blip>
          <a:srcRect b="0" l="0" r="0" t="0"/>
          <a:stretch/>
        </p:blipFill>
        <p:spPr>
          <a:xfrm>
            <a:off x="263060" y="1360512"/>
            <a:ext cx="8676781" cy="385937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87" name="Shape 187"/>
        <p:cNvGrpSpPr/>
        <p:nvPr/>
      </p:nvGrpSpPr>
      <p:grpSpPr>
        <a:xfrm>
          <a:off x="0" y="0"/>
          <a:ext cx="0" cy="0"/>
          <a:chOff x="0" y="0"/>
          <a:chExt cx="0" cy="0"/>
        </a:xfrm>
      </p:grpSpPr>
      <p:pic>
        <p:nvPicPr>
          <p:cNvPr id="188" name="Google Shape;188;p28"/>
          <p:cNvPicPr preferRelativeResize="0"/>
          <p:nvPr/>
        </p:nvPicPr>
        <p:blipFill rotWithShape="1">
          <a:blip r:embed="rId3">
            <a:alphaModFix/>
          </a:blip>
          <a:srcRect b="0" l="0" r="0" t="0"/>
          <a:stretch/>
        </p:blipFill>
        <p:spPr>
          <a:xfrm>
            <a:off x="574807" y="377562"/>
            <a:ext cx="7994400" cy="4388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9"/>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evidence</a:t>
            </a:r>
            <a:endParaRPr/>
          </a:p>
        </p:txBody>
      </p:sp>
      <p:sp>
        <p:nvSpPr>
          <p:cNvPr id="194" name="Google Shape;194;p29"/>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a:t>your intro makes claims</a:t>
            </a:r>
            <a:endParaRPr/>
          </a:p>
          <a:p>
            <a:pPr indent="0" lvl="0" marL="0" rtl="0" algn="l">
              <a:spcBef>
                <a:spcPts val="600"/>
              </a:spcBef>
              <a:spcAft>
                <a:spcPts val="0"/>
              </a:spcAft>
              <a:buNone/>
            </a:pPr>
            <a:r>
              <a:rPr lang="en-GB"/>
              <a:t>the body contains </a:t>
            </a:r>
            <a:r>
              <a:rPr lang="en-GB">
                <a:solidFill>
                  <a:schemeClr val="accent2"/>
                </a:solidFill>
              </a:rPr>
              <a:t>evidence</a:t>
            </a:r>
            <a:r>
              <a:rPr lang="en-GB"/>
              <a:t> to support each claim</a:t>
            </a:r>
            <a:endParaRPr/>
          </a:p>
          <a:p>
            <a:pPr indent="0" lvl="0" marL="0" rtl="0" algn="l">
              <a:spcBef>
                <a:spcPts val="600"/>
              </a:spcBef>
              <a:spcAft>
                <a:spcPts val="0"/>
              </a:spcAft>
              <a:buNone/>
            </a:pPr>
            <a:r>
              <a:rPr lang="en-GB"/>
              <a:t>evidence can be: theorem / proofs, experimental results, case studies, or even argumentation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0"/>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contributions should be refutable</a:t>
            </a:r>
            <a:endParaRPr/>
          </a:p>
        </p:txBody>
      </p:sp>
      <p:graphicFrame>
        <p:nvGraphicFramePr>
          <p:cNvPr id="200" name="Google Shape;200;p30"/>
          <p:cNvGraphicFramePr/>
          <p:nvPr/>
        </p:nvGraphicFramePr>
        <p:xfrm>
          <a:off x="952500" y="1308575"/>
          <a:ext cx="3000000" cy="3000000"/>
        </p:xfrm>
        <a:graphic>
          <a:graphicData uri="http://schemas.openxmlformats.org/drawingml/2006/table">
            <a:tbl>
              <a:tblPr>
                <a:noFill/>
                <a:tableStyleId>{C1B3AE76-6216-489F-81C2-28F23B1F9166}</a:tableStyleId>
              </a:tblPr>
              <a:tblGrid>
                <a:gridCol w="3619500"/>
                <a:gridCol w="3619500"/>
              </a:tblGrid>
              <a:tr h="381000">
                <a:tc>
                  <a:txBody>
                    <a:bodyPr/>
                    <a:lstStyle/>
                    <a:p>
                      <a:pPr indent="0" lvl="0" marL="0" rtl="0" algn="l">
                        <a:spcBef>
                          <a:spcPts val="0"/>
                        </a:spcBef>
                        <a:spcAft>
                          <a:spcPts val="0"/>
                        </a:spcAft>
                        <a:buNone/>
                      </a:pPr>
                      <a:r>
                        <a:rPr b="1" lang="en-GB" sz="1800">
                          <a:solidFill>
                            <a:schemeClr val="accent6"/>
                          </a:solidFill>
                          <a:latin typeface="Comic Sans MS"/>
                          <a:ea typeface="Comic Sans MS"/>
                          <a:cs typeface="Comic Sans MS"/>
                          <a:sym typeface="Comic Sans MS"/>
                        </a:rPr>
                        <a:t>NO!</a:t>
                      </a:r>
                      <a:endParaRPr b="1" sz="1800">
                        <a:solidFill>
                          <a:schemeClr val="accent6"/>
                        </a:solidFill>
                        <a:latin typeface="Comic Sans MS"/>
                        <a:ea typeface="Comic Sans MS"/>
                        <a:cs typeface="Comic Sans MS"/>
                        <a:sym typeface="Comic Sans MS"/>
                      </a:endParaRPr>
                    </a:p>
                  </a:txBody>
                  <a:tcPr marT="91425" marB="91425" marR="91425" marL="91425"/>
                </a:tc>
                <a:tc>
                  <a:txBody>
                    <a:bodyPr/>
                    <a:lstStyle/>
                    <a:p>
                      <a:pPr indent="0" lvl="0" marL="0" rtl="0" algn="l">
                        <a:spcBef>
                          <a:spcPts val="0"/>
                        </a:spcBef>
                        <a:spcAft>
                          <a:spcPts val="0"/>
                        </a:spcAft>
                        <a:buNone/>
                      </a:pPr>
                      <a:r>
                        <a:rPr b="1" lang="en-GB" sz="1800">
                          <a:solidFill>
                            <a:schemeClr val="accent6"/>
                          </a:solidFill>
                          <a:latin typeface="Comic Sans MS"/>
                          <a:ea typeface="Comic Sans MS"/>
                          <a:cs typeface="Comic Sans MS"/>
                          <a:sym typeface="Comic Sans MS"/>
                        </a:rPr>
                        <a:t>YES!</a:t>
                      </a:r>
                      <a:endParaRPr b="1" sz="1800">
                        <a:solidFill>
                          <a:schemeClr val="accent6"/>
                        </a:solidFill>
                        <a:latin typeface="Comic Sans MS"/>
                        <a:ea typeface="Comic Sans MS"/>
                        <a:cs typeface="Comic Sans MS"/>
                        <a:sym typeface="Comic Sans MS"/>
                      </a:endParaRPr>
                    </a:p>
                  </a:txBody>
                  <a:tcPr marT="91425" marB="91425" marR="91425" marL="91425"/>
                </a:tc>
              </a:tr>
              <a:tr h="381000">
                <a:tc>
                  <a:txBody>
                    <a:bodyPr/>
                    <a:lstStyle/>
                    <a:p>
                      <a:pPr indent="0" lvl="0" marL="0" rtl="0" algn="l">
                        <a:spcBef>
                          <a:spcPts val="0"/>
                        </a:spcBef>
                        <a:spcAft>
                          <a:spcPts val="0"/>
                        </a:spcAft>
                        <a:buNone/>
                      </a:pPr>
                      <a:r>
                        <a:rPr lang="en-GB">
                          <a:latin typeface="Comic Sans MS"/>
                          <a:ea typeface="Comic Sans MS"/>
                          <a:cs typeface="Comic Sans MS"/>
                          <a:sym typeface="Comic Sans MS"/>
                        </a:rPr>
                        <a:t>We describe the WizWoz system. It’s really cool!</a:t>
                      </a:r>
                      <a:endParaRPr>
                        <a:latin typeface="Comic Sans MS"/>
                        <a:ea typeface="Comic Sans MS"/>
                        <a:cs typeface="Comic Sans MS"/>
                        <a:sym typeface="Comic Sans MS"/>
                      </a:endParaRPr>
                    </a:p>
                  </a:txBody>
                  <a:tcPr marT="91425" marB="91425" marR="91425" marL="91425"/>
                </a:tc>
                <a:tc>
                  <a:txBody>
                    <a:bodyPr/>
                    <a:lstStyle/>
                    <a:p>
                      <a:pPr indent="0" lvl="0" marL="0" rtl="0" algn="l">
                        <a:spcBef>
                          <a:spcPts val="0"/>
                        </a:spcBef>
                        <a:spcAft>
                          <a:spcPts val="0"/>
                        </a:spcAft>
                        <a:buNone/>
                      </a:pPr>
                      <a:r>
                        <a:rPr lang="en-GB">
                          <a:latin typeface="Comic Sans MS"/>
                          <a:ea typeface="Comic Sans MS"/>
                          <a:cs typeface="Comic Sans MS"/>
                          <a:sym typeface="Comic Sans MS"/>
                        </a:rPr>
                        <a:t>We give the syntax and semantics of a language that supports concurrent processes (section 3). Its innovative features are ...</a:t>
                      </a:r>
                      <a:endParaRPr>
                        <a:latin typeface="Comic Sans MS"/>
                        <a:ea typeface="Comic Sans MS"/>
                        <a:cs typeface="Comic Sans MS"/>
                        <a:sym typeface="Comic Sans MS"/>
                      </a:endParaRPr>
                    </a:p>
                  </a:txBody>
                  <a:tcPr marT="91425" marB="91425" marR="91425" marL="91425"/>
                </a:tc>
              </a:tr>
              <a:tr h="381000">
                <a:tc>
                  <a:txBody>
                    <a:bodyPr/>
                    <a:lstStyle/>
                    <a:p>
                      <a:pPr indent="0" lvl="0" marL="0" rtl="0" algn="l">
                        <a:spcBef>
                          <a:spcPts val="0"/>
                        </a:spcBef>
                        <a:spcAft>
                          <a:spcPts val="0"/>
                        </a:spcAft>
                        <a:buNone/>
                      </a:pPr>
                      <a:r>
                        <a:rPr lang="en-GB">
                          <a:latin typeface="Comic Sans MS"/>
                          <a:ea typeface="Comic Sans MS"/>
                          <a:cs typeface="Comic Sans MS"/>
                          <a:sym typeface="Comic Sans MS"/>
                        </a:rPr>
                        <a:t>We study its properties.</a:t>
                      </a:r>
                      <a:endParaRPr>
                        <a:latin typeface="Comic Sans MS"/>
                        <a:ea typeface="Comic Sans MS"/>
                        <a:cs typeface="Comic Sans MS"/>
                        <a:sym typeface="Comic Sans MS"/>
                      </a:endParaRPr>
                    </a:p>
                  </a:txBody>
                  <a:tcPr marT="91425" marB="91425" marR="91425" marL="91425"/>
                </a:tc>
                <a:tc>
                  <a:txBody>
                    <a:bodyPr/>
                    <a:lstStyle/>
                    <a:p>
                      <a:pPr indent="0" lvl="0" marL="0" rtl="0" algn="l">
                        <a:spcBef>
                          <a:spcPts val="0"/>
                        </a:spcBef>
                        <a:spcAft>
                          <a:spcPts val="0"/>
                        </a:spcAft>
                        <a:buNone/>
                      </a:pPr>
                      <a:r>
                        <a:rPr lang="en-GB">
                          <a:latin typeface="Comic Sans MS"/>
                          <a:ea typeface="Comic Sans MS"/>
                          <a:cs typeface="Comic Sans MS"/>
                          <a:sym typeface="Comic Sans MS"/>
                        </a:rPr>
                        <a:t>We prove that the type system is sound and that type checking is decidable (section 4)</a:t>
                      </a:r>
                      <a:endParaRPr>
                        <a:latin typeface="Comic Sans MS"/>
                        <a:ea typeface="Comic Sans MS"/>
                        <a:cs typeface="Comic Sans MS"/>
                        <a:sym typeface="Comic Sans MS"/>
                      </a:endParaRPr>
                    </a:p>
                  </a:txBody>
                  <a:tcPr marT="91425" marB="91425" marR="91425" marL="91425"/>
                </a:tc>
              </a:tr>
              <a:tr h="381000">
                <a:tc>
                  <a:txBody>
                    <a:bodyPr/>
                    <a:lstStyle/>
                    <a:p>
                      <a:pPr indent="0" lvl="0" marL="0" rtl="0" algn="l">
                        <a:spcBef>
                          <a:spcPts val="0"/>
                        </a:spcBef>
                        <a:spcAft>
                          <a:spcPts val="0"/>
                        </a:spcAft>
                        <a:buNone/>
                      </a:pPr>
                      <a:r>
                        <a:rPr lang="en-GB">
                          <a:latin typeface="Comic Sans MS"/>
                          <a:ea typeface="Comic Sans MS"/>
                          <a:cs typeface="Comic Sans MS"/>
                          <a:sym typeface="Comic Sans MS"/>
                        </a:rPr>
                        <a:t>We have used WizWoz in practice.</a:t>
                      </a:r>
                      <a:endParaRPr>
                        <a:latin typeface="Comic Sans MS"/>
                        <a:ea typeface="Comic Sans MS"/>
                        <a:cs typeface="Comic Sans MS"/>
                        <a:sym typeface="Comic Sans MS"/>
                      </a:endParaRPr>
                    </a:p>
                  </a:txBody>
                  <a:tcPr marT="91425" marB="91425" marR="91425" marL="91425"/>
                </a:tc>
                <a:tc>
                  <a:txBody>
                    <a:bodyPr/>
                    <a:lstStyle/>
                    <a:p>
                      <a:pPr indent="0" lvl="0" marL="0" rtl="0" algn="l">
                        <a:spcBef>
                          <a:spcPts val="0"/>
                        </a:spcBef>
                        <a:spcAft>
                          <a:spcPts val="0"/>
                        </a:spcAft>
                        <a:buNone/>
                      </a:pPr>
                      <a:r>
                        <a:rPr lang="en-GB">
                          <a:latin typeface="Comic Sans MS"/>
                          <a:ea typeface="Comic Sans MS"/>
                          <a:cs typeface="Comic Sans MS"/>
                          <a:sym typeface="Comic Sans MS"/>
                        </a:rPr>
                        <a:t>We have built a GUI toolkit in WizWoz and used it to implement a text editor (section 5). The result is half the length of the Java version.</a:t>
                      </a:r>
                      <a:endParaRPr>
                        <a:latin typeface="Comic Sans MS"/>
                        <a:ea typeface="Comic Sans MS"/>
                        <a:cs typeface="Comic Sans MS"/>
                        <a:sym typeface="Comic Sans MS"/>
                      </a:endParaRPr>
                    </a:p>
                  </a:txBody>
                  <a:tcPr marT="91425" marB="91425" marR="91425" marL="91425"/>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1"/>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no “rest of this paper is structured”</a:t>
            </a:r>
            <a:endParaRPr/>
          </a:p>
        </p:txBody>
      </p:sp>
      <p:sp>
        <p:nvSpPr>
          <p:cNvPr id="206" name="Google Shape;206;p31"/>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a:t>Instead use the forward references from contributions to provide structure info</a:t>
            </a:r>
            <a:endParaRPr/>
          </a:p>
          <a:p>
            <a:pPr indent="0" lvl="0" marL="0" rtl="0" algn="l">
              <a:spcBef>
                <a:spcPts val="600"/>
              </a:spcBef>
              <a:spcAft>
                <a:spcPts val="0"/>
              </a:spcAft>
              <a:buNone/>
            </a:pPr>
            <a:r>
              <a:rPr lang="en-GB"/>
              <a:t>The introduction should survey whole paper, so a “structure” paragraph is just duplication.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2"/>
          <p:cNvSpPr txBox="1"/>
          <p:nvPr/>
        </p:nvSpPr>
        <p:spPr>
          <a:xfrm>
            <a:off x="1077000" y="1892550"/>
            <a:ext cx="6990000" cy="135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4800">
                <a:solidFill>
                  <a:schemeClr val="lt1"/>
                </a:solidFill>
                <a:latin typeface="Comic Sans MS"/>
                <a:ea typeface="Comic Sans MS"/>
                <a:cs typeface="Comic Sans MS"/>
                <a:sym typeface="Comic Sans MS"/>
              </a:rPr>
              <a:t>#5: Related work (later)</a:t>
            </a:r>
            <a:endParaRPr sz="4800">
              <a:solidFill>
                <a:schemeClr val="lt1"/>
              </a:solidFill>
              <a:latin typeface="Comic Sans MS"/>
              <a:ea typeface="Comic Sans MS"/>
              <a:cs typeface="Comic Sans MS"/>
              <a:sym typeface="Comic Sans M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3"/>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putting related work later</a:t>
            </a:r>
            <a:endParaRPr/>
          </a:p>
        </p:txBody>
      </p:sp>
      <p:sp>
        <p:nvSpPr>
          <p:cNvPr id="217" name="Google Shape;217;p33"/>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381000" lvl="0" marL="457200" rtl="0" algn="l">
              <a:spcBef>
                <a:spcPts val="600"/>
              </a:spcBef>
              <a:spcAft>
                <a:spcPts val="0"/>
              </a:spcAft>
              <a:buSzPts val="2400"/>
              <a:buChar char="●"/>
            </a:pPr>
            <a:r>
              <a:rPr lang="en-GB" sz="2400"/>
              <a:t>Title (1000 readers)</a:t>
            </a:r>
            <a:endParaRPr sz="2400"/>
          </a:p>
          <a:p>
            <a:pPr indent="-381000" lvl="0" marL="457200" rtl="0" algn="l">
              <a:spcBef>
                <a:spcPts val="0"/>
              </a:spcBef>
              <a:spcAft>
                <a:spcPts val="0"/>
              </a:spcAft>
              <a:buSzPts val="2400"/>
              <a:buChar char="●"/>
            </a:pPr>
            <a:r>
              <a:rPr lang="en-GB" sz="2400"/>
              <a:t>Abstract (&lt;12 sentences, 100 readers)</a:t>
            </a:r>
            <a:endParaRPr sz="2400"/>
          </a:p>
          <a:p>
            <a:pPr indent="-381000" lvl="0" marL="457200" rtl="0" algn="l">
              <a:spcBef>
                <a:spcPts val="0"/>
              </a:spcBef>
              <a:spcAft>
                <a:spcPts val="0"/>
              </a:spcAft>
              <a:buSzPts val="2400"/>
              <a:buChar char="●"/>
            </a:pPr>
            <a:r>
              <a:rPr lang="en-GB" sz="2400"/>
              <a:t>Introduction (1 page, 100 readers)</a:t>
            </a:r>
            <a:endParaRPr sz="2400"/>
          </a:p>
          <a:p>
            <a:pPr indent="-419100" lvl="0" marL="457200" rtl="0" algn="l">
              <a:spcBef>
                <a:spcPts val="0"/>
              </a:spcBef>
              <a:spcAft>
                <a:spcPts val="0"/>
              </a:spcAft>
              <a:buClr>
                <a:schemeClr val="dk2"/>
              </a:buClr>
              <a:buSzPts val="3000"/>
              <a:buChar char="●"/>
            </a:pPr>
            <a:r>
              <a:rPr lang="en-GB">
                <a:solidFill>
                  <a:schemeClr val="dk2"/>
                </a:solidFill>
              </a:rPr>
              <a:t>Related work</a:t>
            </a:r>
            <a:endParaRPr>
              <a:solidFill>
                <a:schemeClr val="dk2"/>
              </a:solidFill>
            </a:endParaRPr>
          </a:p>
          <a:p>
            <a:pPr indent="-381000" lvl="0" marL="457200" rtl="0" algn="l">
              <a:spcBef>
                <a:spcPts val="0"/>
              </a:spcBef>
              <a:spcAft>
                <a:spcPts val="0"/>
              </a:spcAft>
              <a:buSzPts val="2400"/>
              <a:buChar char="●"/>
            </a:pPr>
            <a:r>
              <a:rPr lang="en-GB" sz="2400"/>
              <a:t>The problem (1 page, 10 readers)</a:t>
            </a:r>
            <a:endParaRPr sz="2400"/>
          </a:p>
          <a:p>
            <a:pPr indent="-381000" lvl="0" marL="457200" rtl="0" algn="l">
              <a:spcBef>
                <a:spcPts val="0"/>
              </a:spcBef>
              <a:spcAft>
                <a:spcPts val="0"/>
              </a:spcAft>
              <a:buSzPts val="2400"/>
              <a:buChar char="●"/>
            </a:pPr>
            <a:r>
              <a:rPr lang="en-GB" sz="2400"/>
              <a:t>Idea (2 pages, 10 readers)</a:t>
            </a:r>
            <a:endParaRPr sz="2400"/>
          </a:p>
          <a:p>
            <a:pPr indent="-381000" lvl="0" marL="457200" rtl="0" algn="l">
              <a:spcBef>
                <a:spcPts val="0"/>
              </a:spcBef>
              <a:spcAft>
                <a:spcPts val="0"/>
              </a:spcAft>
              <a:buSzPts val="2400"/>
              <a:buChar char="●"/>
            </a:pPr>
            <a:r>
              <a:rPr lang="en-GB" sz="2400"/>
              <a:t>The details (5 pages, 3 readers)</a:t>
            </a:r>
            <a:endParaRPr sz="2400"/>
          </a:p>
          <a:p>
            <a:pPr indent="-381000" lvl="0" marL="457200" rtl="0" algn="l">
              <a:spcBef>
                <a:spcPts val="0"/>
              </a:spcBef>
              <a:spcAft>
                <a:spcPts val="0"/>
              </a:spcAft>
              <a:buSzPts val="2400"/>
              <a:buChar char="●"/>
            </a:pPr>
            <a:r>
              <a:rPr lang="en-GB" sz="2400">
                <a:solidFill>
                  <a:schemeClr val="dk2"/>
                </a:solidFill>
              </a:rPr>
              <a:t>Related work</a:t>
            </a:r>
            <a:r>
              <a:rPr lang="en-GB" sz="2400"/>
              <a:t> (1-2 pages, 10 readers)</a:t>
            </a:r>
            <a:endParaRPr sz="2400"/>
          </a:p>
          <a:p>
            <a:pPr indent="-381000" lvl="0" marL="457200" rtl="0" algn="l">
              <a:spcBef>
                <a:spcPts val="0"/>
              </a:spcBef>
              <a:spcAft>
                <a:spcPts val="0"/>
              </a:spcAft>
              <a:buSzPts val="2400"/>
              <a:buChar char="●"/>
            </a:pPr>
            <a:r>
              <a:rPr lang="en-GB" sz="2400"/>
              <a:t>Conclusions / future work (½ page)</a:t>
            </a:r>
            <a:endParaRPr sz="2400"/>
          </a:p>
          <a:p>
            <a:pPr indent="0" lvl="0" marL="0" rtl="0" algn="l">
              <a:spcBef>
                <a:spcPts val="600"/>
              </a:spcBef>
              <a:spcAft>
                <a:spcPts val="0"/>
              </a:spcAft>
              <a:buNone/>
            </a:pPr>
            <a:r>
              <a:t/>
            </a:r>
            <a:endParaRPr sz="2400"/>
          </a:p>
        </p:txBody>
      </p:sp>
      <p:cxnSp>
        <p:nvCxnSpPr>
          <p:cNvPr id="218" name="Google Shape;218;p33"/>
          <p:cNvCxnSpPr/>
          <p:nvPr/>
        </p:nvCxnSpPr>
        <p:spPr>
          <a:xfrm>
            <a:off x="1015500" y="2487050"/>
            <a:ext cx="2281500" cy="408900"/>
          </a:xfrm>
          <a:prstGeom prst="straightConnector1">
            <a:avLst/>
          </a:prstGeom>
          <a:noFill/>
          <a:ln cap="flat" cmpd="sng" w="38100">
            <a:solidFill>
              <a:schemeClr val="accent6"/>
            </a:solidFill>
            <a:prstDash val="solid"/>
            <a:round/>
            <a:headEnd len="med" w="med" type="none"/>
            <a:tailEnd len="med" w="med" type="none"/>
          </a:ln>
        </p:spPr>
      </p:cxnSp>
      <p:sp>
        <p:nvSpPr>
          <p:cNvPr id="219" name="Google Shape;219;p33"/>
          <p:cNvSpPr/>
          <p:nvPr/>
        </p:nvSpPr>
        <p:spPr>
          <a:xfrm>
            <a:off x="5539150" y="2632125"/>
            <a:ext cx="1320400" cy="1678950"/>
          </a:xfrm>
          <a:custGeom>
            <a:rect b="b" l="l" r="r" t="t"/>
            <a:pathLst>
              <a:path extrusionOk="0" h="67158" w="52816">
                <a:moveTo>
                  <a:pt x="0" y="0"/>
                </a:moveTo>
                <a:cubicBezTo>
                  <a:pt x="12155" y="0"/>
                  <a:pt x="25622" y="1674"/>
                  <a:pt x="35345" y="8969"/>
                </a:cubicBezTo>
                <a:cubicBezTo>
                  <a:pt x="43789" y="15304"/>
                  <a:pt x="48137" y="26290"/>
                  <a:pt x="51171" y="36401"/>
                </a:cubicBezTo>
                <a:cubicBezTo>
                  <a:pt x="53044" y="42642"/>
                  <a:pt x="54025" y="50706"/>
                  <a:pt x="50116" y="55919"/>
                </a:cubicBezTo>
                <a:cubicBezTo>
                  <a:pt x="44768" y="63051"/>
                  <a:pt x="33297" y="69927"/>
                  <a:pt x="25322" y="65943"/>
                </a:cubicBezTo>
              </a:path>
            </a:pathLst>
          </a:custGeom>
          <a:noFill/>
          <a:ln cap="flat" cmpd="sng" w="76200">
            <a:solidFill>
              <a:schemeClr val="accent2"/>
            </a:solidFill>
            <a:prstDash val="solid"/>
            <a:round/>
            <a:headEnd len="med" w="med" type="none"/>
            <a:tailEnd len="med" w="med" type="stealth"/>
          </a:ln>
        </p:spPr>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4"/>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related work</a:t>
            </a:r>
            <a:endParaRPr/>
          </a:p>
        </p:txBody>
      </p:sp>
      <p:sp>
        <p:nvSpPr>
          <p:cNvPr id="225" name="Google Shape;225;p34"/>
          <p:cNvSpPr txBox="1"/>
          <p:nvPr>
            <p:ph idx="1" type="body"/>
          </p:nvPr>
        </p:nvSpPr>
        <p:spPr>
          <a:xfrm>
            <a:off x="2735650" y="1200150"/>
            <a:ext cx="59511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a:t>to make my work look good, I need to make other’s work look bad</a:t>
            </a:r>
            <a:endParaRPr/>
          </a:p>
        </p:txBody>
      </p:sp>
      <p:sp>
        <p:nvSpPr>
          <p:cNvPr id="226" name="Google Shape;226;p34"/>
          <p:cNvSpPr txBox="1"/>
          <p:nvPr>
            <p:ph idx="1" type="body"/>
          </p:nvPr>
        </p:nvSpPr>
        <p:spPr>
          <a:xfrm>
            <a:off x="318650" y="1200150"/>
            <a:ext cx="24171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a:solidFill>
                  <a:schemeClr val="accent6"/>
                </a:solidFill>
              </a:rPr>
              <a:t>Fallacy</a:t>
            </a:r>
            <a:endParaRPr>
              <a:solidFill>
                <a:schemeClr val="accent6"/>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5"/>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the truth: credit is not like money</a:t>
            </a:r>
            <a:endParaRPr/>
          </a:p>
        </p:txBody>
      </p:sp>
      <p:sp>
        <p:nvSpPr>
          <p:cNvPr id="232" name="Google Shape;232;p35"/>
          <p:cNvSpPr txBox="1"/>
          <p:nvPr>
            <p:ph idx="1" type="body"/>
          </p:nvPr>
        </p:nvSpPr>
        <p:spPr>
          <a:xfrm>
            <a:off x="457200" y="2720525"/>
            <a:ext cx="8229600" cy="22053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GB"/>
              <a:t>warmly acknowledge work that has helped</a:t>
            </a:r>
            <a:endParaRPr/>
          </a:p>
          <a:p>
            <a:pPr indent="-419100" lvl="0" marL="457200" rtl="0" algn="l">
              <a:spcBef>
                <a:spcPts val="0"/>
              </a:spcBef>
              <a:spcAft>
                <a:spcPts val="0"/>
              </a:spcAft>
              <a:buSzPts val="3000"/>
              <a:buChar char="●"/>
            </a:pPr>
            <a:r>
              <a:rPr lang="en-GB"/>
              <a:t>be generous to the competition</a:t>
            </a:r>
            <a:endParaRPr/>
          </a:p>
          <a:p>
            <a:pPr indent="-419100" lvl="0" marL="457200" rtl="0" algn="l">
              <a:spcBef>
                <a:spcPts val="0"/>
              </a:spcBef>
              <a:spcAft>
                <a:spcPts val="0"/>
              </a:spcAft>
              <a:buSzPts val="3000"/>
              <a:buChar char="●"/>
            </a:pPr>
            <a:r>
              <a:rPr lang="en-GB"/>
              <a:t>acknowledge weaknesses and limitations in your work </a:t>
            </a:r>
            <a:endParaRPr/>
          </a:p>
        </p:txBody>
      </p:sp>
      <p:sp>
        <p:nvSpPr>
          <p:cNvPr id="233" name="Google Shape;233;p35"/>
          <p:cNvSpPr txBox="1"/>
          <p:nvPr/>
        </p:nvSpPr>
        <p:spPr>
          <a:xfrm>
            <a:off x="810000" y="1327475"/>
            <a:ext cx="7524000" cy="13017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600"/>
              </a:spcBef>
              <a:spcAft>
                <a:spcPts val="0"/>
              </a:spcAft>
              <a:buClr>
                <a:schemeClr val="dk1"/>
              </a:buClr>
              <a:buSzPts val="1100"/>
              <a:buFont typeface="Arial"/>
              <a:buNone/>
            </a:pPr>
            <a:r>
              <a:rPr lang="en-GB" sz="3000">
                <a:solidFill>
                  <a:schemeClr val="dk1"/>
                </a:solidFill>
                <a:latin typeface="Comic Sans MS"/>
                <a:ea typeface="Comic Sans MS"/>
                <a:cs typeface="Comic Sans MS"/>
                <a:sym typeface="Comic Sans MS"/>
              </a:rPr>
              <a:t>Giving credit to others does not diminish the credit you get for your work</a:t>
            </a:r>
            <a:endParaRPr>
              <a:latin typeface="Comic Sans MS"/>
              <a:ea typeface="Comic Sans MS"/>
              <a:cs typeface="Comic Sans MS"/>
              <a:sym typeface="Comic Sans M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6"/>
          <p:cNvSpPr txBox="1"/>
          <p:nvPr/>
        </p:nvSpPr>
        <p:spPr>
          <a:xfrm>
            <a:off x="1077000" y="1892550"/>
            <a:ext cx="6990000" cy="135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4800">
                <a:solidFill>
                  <a:schemeClr val="lt1"/>
                </a:solidFill>
                <a:latin typeface="Comic Sans MS"/>
                <a:ea typeface="Comic Sans MS"/>
                <a:cs typeface="Comic Sans MS"/>
                <a:sym typeface="Comic Sans MS"/>
              </a:rPr>
              <a:t>#6: Put your readers first</a:t>
            </a:r>
            <a:endParaRPr sz="4800">
              <a:solidFill>
                <a:schemeClr val="lt1"/>
              </a:solidFill>
              <a:latin typeface="Comic Sans MS"/>
              <a:ea typeface="Comic Sans MS"/>
              <a:cs typeface="Comic Sans MS"/>
              <a:sym typeface="Comic Sans M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7"/>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presenting the idea</a:t>
            </a:r>
            <a:endParaRPr/>
          </a:p>
        </p:txBody>
      </p:sp>
      <p:sp>
        <p:nvSpPr>
          <p:cNvPr id="244" name="Google Shape;244;p37"/>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GB"/>
              <a:t>explain as if you were at a whiteboard</a:t>
            </a:r>
            <a:endParaRPr/>
          </a:p>
          <a:p>
            <a:pPr indent="-419100" lvl="0" marL="457200" rtl="0" algn="l">
              <a:spcBef>
                <a:spcPts val="0"/>
              </a:spcBef>
              <a:spcAft>
                <a:spcPts val="0"/>
              </a:spcAft>
              <a:buClr>
                <a:schemeClr val="accent6"/>
              </a:buClr>
              <a:buSzPts val="3000"/>
              <a:buChar char="●"/>
            </a:pPr>
            <a:r>
              <a:rPr lang="en-GB">
                <a:solidFill>
                  <a:schemeClr val="accent6"/>
                </a:solidFill>
              </a:rPr>
              <a:t>start with the intuition</a:t>
            </a:r>
            <a:endParaRPr>
              <a:solidFill>
                <a:schemeClr val="accent6"/>
              </a:solidFill>
            </a:endParaRPr>
          </a:p>
          <a:p>
            <a:pPr indent="-419100" lvl="0" marL="457200" rtl="0" algn="l">
              <a:spcBef>
                <a:spcPts val="0"/>
              </a:spcBef>
              <a:spcAft>
                <a:spcPts val="0"/>
              </a:spcAft>
              <a:buSzPts val="3000"/>
              <a:buChar char="●"/>
            </a:pPr>
            <a:r>
              <a:rPr lang="en-GB"/>
              <a:t>once the reader has the intuition, grasping the details will come more naturally</a:t>
            </a:r>
            <a:endParaRPr/>
          </a:p>
          <a:p>
            <a:pPr indent="-419100" lvl="0" marL="457200" rtl="0" algn="l">
              <a:spcBef>
                <a:spcPts val="0"/>
              </a:spcBef>
              <a:spcAft>
                <a:spcPts val="0"/>
              </a:spcAft>
              <a:buSzPts val="3000"/>
              <a:buChar char="●"/>
            </a:pPr>
            <a:r>
              <a:rPr lang="en-GB"/>
              <a:t>if the details get skipped, at least the intuition will be understood</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8"/>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how to convey the intuition?</a:t>
            </a:r>
            <a:endParaRPr/>
          </a:p>
        </p:txBody>
      </p:sp>
      <p:sp>
        <p:nvSpPr>
          <p:cNvPr id="250" name="Google Shape;250;p38"/>
          <p:cNvSpPr txBox="1"/>
          <p:nvPr>
            <p:ph idx="1" type="body"/>
          </p:nvPr>
        </p:nvSpPr>
        <p:spPr>
          <a:xfrm>
            <a:off x="457200" y="3068150"/>
            <a:ext cx="8229600" cy="18576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GB"/>
              <a:t>follow with the general case</a:t>
            </a:r>
            <a:endParaRPr/>
          </a:p>
          <a:p>
            <a:pPr indent="-419100" lvl="0" marL="457200" rtl="0" algn="l">
              <a:spcBef>
                <a:spcPts val="0"/>
              </a:spcBef>
              <a:spcAft>
                <a:spcPts val="0"/>
              </a:spcAft>
              <a:buSzPts val="3000"/>
              <a:buChar char="●"/>
            </a:pPr>
            <a:r>
              <a:rPr lang="en-GB"/>
              <a:t>explain as if at a whiteboard</a:t>
            </a:r>
            <a:endParaRPr/>
          </a:p>
        </p:txBody>
      </p:sp>
      <p:sp>
        <p:nvSpPr>
          <p:cNvPr id="251" name="Google Shape;251;p38"/>
          <p:cNvSpPr txBox="1"/>
          <p:nvPr/>
        </p:nvSpPr>
        <p:spPr>
          <a:xfrm>
            <a:off x="2425800" y="1330025"/>
            <a:ext cx="4292400" cy="1453800"/>
          </a:xfrm>
          <a:prstGeom prst="rect">
            <a:avLst/>
          </a:prstGeom>
          <a:solidFill>
            <a:schemeClr val="accen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3000">
                <a:latin typeface="Comic Sans MS"/>
                <a:ea typeface="Comic Sans MS"/>
                <a:cs typeface="Comic Sans MS"/>
                <a:sym typeface="Comic Sans MS"/>
              </a:rPr>
              <a:t>Begin with an </a:t>
            </a:r>
            <a:endParaRPr sz="3000">
              <a:latin typeface="Comic Sans MS"/>
              <a:ea typeface="Comic Sans MS"/>
              <a:cs typeface="Comic Sans MS"/>
              <a:sym typeface="Comic Sans MS"/>
            </a:endParaRPr>
          </a:p>
          <a:p>
            <a:pPr indent="0" lvl="0" marL="0" rtl="0" algn="ctr">
              <a:spcBef>
                <a:spcPts val="0"/>
              </a:spcBef>
              <a:spcAft>
                <a:spcPts val="0"/>
              </a:spcAft>
              <a:buNone/>
            </a:pPr>
            <a:r>
              <a:rPr lang="en-GB" sz="4800">
                <a:latin typeface="Comic Sans MS"/>
                <a:ea typeface="Comic Sans MS"/>
                <a:cs typeface="Comic Sans MS"/>
                <a:sym typeface="Comic Sans MS"/>
              </a:rPr>
              <a:t>example</a:t>
            </a:r>
            <a:endParaRPr sz="4800">
              <a:latin typeface="Comic Sans MS"/>
              <a:ea typeface="Comic Sans MS"/>
              <a:cs typeface="Comic Sans MS"/>
              <a:sym typeface="Comic Sans M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9"/>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putting your readers first</a:t>
            </a:r>
            <a:endParaRPr/>
          </a:p>
        </p:txBody>
      </p:sp>
      <p:sp>
        <p:nvSpPr>
          <p:cNvPr id="257" name="Google Shape;257;p39"/>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GB">
                <a:solidFill>
                  <a:schemeClr val="accent6"/>
                </a:solidFill>
              </a:rPr>
              <a:t>Do not</a:t>
            </a:r>
            <a:r>
              <a:rPr lang="en-GB"/>
              <a:t> recapitulate your personal journey of discovery</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GB"/>
              <a:t>choose the most direct route to the idea</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0"/>
          <p:cNvSpPr txBox="1"/>
          <p:nvPr/>
        </p:nvSpPr>
        <p:spPr>
          <a:xfrm>
            <a:off x="1077000" y="1892550"/>
            <a:ext cx="6990000" cy="135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4800">
                <a:solidFill>
                  <a:schemeClr val="lt1"/>
                </a:solidFill>
                <a:latin typeface="Comic Sans MS"/>
                <a:ea typeface="Comic Sans MS"/>
                <a:cs typeface="Comic Sans MS"/>
                <a:sym typeface="Comic Sans MS"/>
              </a:rPr>
              <a:t>#7: Listen to your readers</a:t>
            </a:r>
            <a:endParaRPr sz="4800">
              <a:solidFill>
                <a:schemeClr val="lt1"/>
              </a:solidFill>
              <a:latin typeface="Comic Sans MS"/>
              <a:ea typeface="Comic Sans MS"/>
              <a:cs typeface="Comic Sans MS"/>
              <a:sym typeface="Comic Sans M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1"/>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getting help</a:t>
            </a:r>
            <a:endParaRPr/>
          </a:p>
        </p:txBody>
      </p:sp>
      <p:sp>
        <p:nvSpPr>
          <p:cNvPr id="268" name="Google Shape;268;p41"/>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GB"/>
              <a:t>get your paper read by as many people as possible</a:t>
            </a:r>
            <a:endParaRPr/>
          </a:p>
          <a:p>
            <a:pPr indent="-419100" lvl="0" marL="457200" rtl="0" algn="l">
              <a:spcBef>
                <a:spcPts val="0"/>
              </a:spcBef>
              <a:spcAft>
                <a:spcPts val="0"/>
              </a:spcAft>
              <a:buSzPts val="3000"/>
              <a:buChar char="●"/>
            </a:pPr>
            <a:r>
              <a:rPr lang="en-GB"/>
              <a:t>experts are good (but so are non-experts)</a:t>
            </a:r>
            <a:endParaRPr/>
          </a:p>
          <a:p>
            <a:pPr indent="-419100" lvl="0" marL="457200" rtl="0" algn="l">
              <a:spcBef>
                <a:spcPts val="0"/>
              </a:spcBef>
              <a:spcAft>
                <a:spcPts val="0"/>
              </a:spcAft>
              <a:buSzPts val="3000"/>
              <a:buChar char="●"/>
            </a:pPr>
            <a:r>
              <a:rPr lang="en-GB"/>
              <a:t>each reader can only read your paper for the first time </a:t>
            </a:r>
            <a:r>
              <a:rPr lang="en-GB">
                <a:solidFill>
                  <a:schemeClr val="accent6"/>
                </a:solidFill>
              </a:rPr>
              <a:t>once</a:t>
            </a:r>
            <a:endParaRPr>
              <a:solidFill>
                <a:schemeClr val="accent6"/>
              </a:solidFill>
            </a:endParaRPr>
          </a:p>
          <a:p>
            <a:pPr indent="-419100" lvl="0" marL="457200" rtl="0" algn="l">
              <a:spcBef>
                <a:spcPts val="0"/>
              </a:spcBef>
              <a:spcAft>
                <a:spcPts val="0"/>
              </a:spcAft>
              <a:buSzPts val="3000"/>
              <a:buChar char="●"/>
            </a:pPr>
            <a:r>
              <a:rPr lang="en-GB"/>
              <a:t>explain what you want (or you may just get spelling advice)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2"/>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getting expert help</a:t>
            </a:r>
            <a:endParaRPr/>
          </a:p>
        </p:txBody>
      </p:sp>
      <p:sp>
        <p:nvSpPr>
          <p:cNvPr id="274" name="Google Shape;274;p42"/>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GB"/>
              <a:t>send the draft to the competition to ask “have I quoted your work fairly?” (but not at the last minute)</a:t>
            </a:r>
            <a:endParaRPr/>
          </a:p>
          <a:p>
            <a:pPr indent="-419100" lvl="0" marL="457200" rtl="0" algn="l">
              <a:spcBef>
                <a:spcPts val="0"/>
              </a:spcBef>
              <a:spcAft>
                <a:spcPts val="0"/>
              </a:spcAft>
              <a:buSzPts val="3000"/>
              <a:buChar char="●"/>
            </a:pPr>
            <a:r>
              <a:rPr lang="en-GB"/>
              <a:t>often they’ll respond with helpful critique</a:t>
            </a:r>
            <a:endParaRPr/>
          </a:p>
          <a:p>
            <a:pPr indent="-419100" lvl="0" marL="457200" rtl="0" algn="l">
              <a:spcBef>
                <a:spcPts val="0"/>
              </a:spcBef>
              <a:spcAft>
                <a:spcPts val="0"/>
              </a:spcAft>
              <a:buSzPts val="3000"/>
              <a:buChar char="●"/>
            </a:pPr>
            <a:r>
              <a:rPr lang="en-GB"/>
              <a:t>they might be your referees so you can get feedback early this way!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3"/>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listen to your </a:t>
            </a:r>
            <a:r>
              <a:rPr i="1" lang="en-GB"/>
              <a:t>reviewers</a:t>
            </a:r>
            <a:endParaRPr i="1"/>
          </a:p>
        </p:txBody>
      </p:sp>
      <p:sp>
        <p:nvSpPr>
          <p:cNvPr id="280" name="Google Shape;280;p43"/>
          <p:cNvSpPr txBox="1"/>
          <p:nvPr>
            <p:ph idx="1" type="body"/>
          </p:nvPr>
        </p:nvSpPr>
        <p:spPr>
          <a:xfrm>
            <a:off x="457200" y="2690450"/>
            <a:ext cx="8229600" cy="22353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rPr lang="en-GB"/>
              <a:t>This is </a:t>
            </a:r>
            <a:r>
              <a:rPr lang="en-GB">
                <a:solidFill>
                  <a:schemeClr val="accent6"/>
                </a:solidFill>
              </a:rPr>
              <a:t>really</a:t>
            </a:r>
            <a:r>
              <a:rPr lang="en-GB"/>
              <a:t> hard but </a:t>
            </a:r>
            <a:r>
              <a:rPr lang="en-GB">
                <a:solidFill>
                  <a:schemeClr val="accent6"/>
                </a:solidFill>
              </a:rPr>
              <a:t>really, really</a:t>
            </a:r>
            <a:r>
              <a:rPr lang="en-GB"/>
              <a:t> important</a:t>
            </a:r>
            <a:endParaRPr/>
          </a:p>
          <a:p>
            <a:pPr indent="0" lvl="0" marL="0" rtl="0" algn="ctr">
              <a:spcBef>
                <a:spcPts val="600"/>
              </a:spcBef>
              <a:spcAft>
                <a:spcPts val="0"/>
              </a:spcAft>
              <a:buNone/>
            </a:pPr>
            <a:r>
              <a:rPr lang="en-GB" sz="2400"/>
              <a:t>If you are having trouble, leave it aside for a while and come back to it or ask a colleague for an opinion</a:t>
            </a:r>
            <a:endParaRPr sz="2400"/>
          </a:p>
        </p:txBody>
      </p:sp>
      <p:sp>
        <p:nvSpPr>
          <p:cNvPr id="281" name="Google Shape;281;p43"/>
          <p:cNvSpPr txBox="1"/>
          <p:nvPr/>
        </p:nvSpPr>
        <p:spPr>
          <a:xfrm>
            <a:off x="810000" y="1327475"/>
            <a:ext cx="7524000" cy="13017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600"/>
              </a:spcBef>
              <a:spcAft>
                <a:spcPts val="0"/>
              </a:spcAft>
              <a:buNone/>
            </a:pPr>
            <a:r>
              <a:rPr lang="en-GB" sz="3000">
                <a:solidFill>
                  <a:schemeClr val="dk1"/>
                </a:solidFill>
                <a:latin typeface="Comic Sans MS"/>
                <a:ea typeface="Comic Sans MS"/>
                <a:cs typeface="Comic Sans MS"/>
                <a:sym typeface="Comic Sans MS"/>
              </a:rPr>
              <a:t>Treat every review like </a:t>
            </a:r>
            <a:r>
              <a:rPr lang="en-GB" sz="3000">
                <a:solidFill>
                  <a:schemeClr val="accent6"/>
                </a:solidFill>
                <a:latin typeface="Comic Sans MS"/>
                <a:ea typeface="Comic Sans MS"/>
                <a:cs typeface="Comic Sans MS"/>
                <a:sym typeface="Comic Sans MS"/>
              </a:rPr>
              <a:t>gold dust</a:t>
            </a:r>
            <a:endParaRPr sz="3000">
              <a:latin typeface="Comic Sans MS"/>
              <a:ea typeface="Comic Sans MS"/>
              <a:cs typeface="Comic Sans MS"/>
              <a:sym typeface="Comic Sans MS"/>
            </a:endParaRPr>
          </a:p>
          <a:p>
            <a:pPr indent="0" lvl="0" marL="0" rtl="0" algn="ctr">
              <a:spcBef>
                <a:spcPts val="600"/>
              </a:spcBef>
              <a:spcAft>
                <a:spcPts val="0"/>
              </a:spcAft>
              <a:buNone/>
            </a:pPr>
            <a:r>
              <a:rPr lang="en-GB" sz="3000">
                <a:latin typeface="Comic Sans MS"/>
                <a:ea typeface="Comic Sans MS"/>
                <a:cs typeface="Comic Sans MS"/>
                <a:sym typeface="Comic Sans MS"/>
              </a:rPr>
              <a:t>Be truly grateful for criticism</a:t>
            </a:r>
            <a:endParaRPr sz="3000">
              <a:latin typeface="Comic Sans MS"/>
              <a:ea typeface="Comic Sans MS"/>
              <a:cs typeface="Comic Sans MS"/>
              <a:sym typeface="Comic Sans M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4"/>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summary</a:t>
            </a:r>
            <a:endParaRPr/>
          </a:p>
        </p:txBody>
      </p:sp>
      <p:sp>
        <p:nvSpPr>
          <p:cNvPr id="287" name="Google Shape;287;p44"/>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AutoNum type="arabicPeriod"/>
            </a:pPr>
            <a:r>
              <a:rPr lang="en-GB"/>
              <a:t>don’t wait - write</a:t>
            </a:r>
            <a:endParaRPr/>
          </a:p>
          <a:p>
            <a:pPr indent="-419100" lvl="0" marL="457200" rtl="0" algn="l">
              <a:spcBef>
                <a:spcPts val="0"/>
              </a:spcBef>
              <a:spcAft>
                <a:spcPts val="0"/>
              </a:spcAft>
              <a:buSzPts val="3000"/>
              <a:buAutoNum type="arabicPeriod"/>
            </a:pPr>
            <a:r>
              <a:rPr lang="en-GB"/>
              <a:t>identify your key idea</a:t>
            </a:r>
            <a:endParaRPr/>
          </a:p>
          <a:p>
            <a:pPr indent="-419100" lvl="0" marL="457200" rtl="0" algn="l">
              <a:spcBef>
                <a:spcPts val="0"/>
              </a:spcBef>
              <a:spcAft>
                <a:spcPts val="0"/>
              </a:spcAft>
              <a:buSzPts val="3000"/>
              <a:buAutoNum type="arabicPeriod"/>
            </a:pPr>
            <a:r>
              <a:rPr lang="en-GB"/>
              <a:t>tell a story</a:t>
            </a:r>
            <a:endParaRPr/>
          </a:p>
          <a:p>
            <a:pPr indent="-419100" lvl="0" marL="457200" rtl="0" algn="l">
              <a:spcBef>
                <a:spcPts val="0"/>
              </a:spcBef>
              <a:spcAft>
                <a:spcPts val="0"/>
              </a:spcAft>
              <a:buSzPts val="3000"/>
              <a:buAutoNum type="arabicPeriod"/>
            </a:pPr>
            <a:r>
              <a:rPr lang="en-GB"/>
              <a:t>nail your contributions</a:t>
            </a:r>
            <a:endParaRPr/>
          </a:p>
          <a:p>
            <a:pPr indent="-419100" lvl="0" marL="457200" rtl="0" algn="l">
              <a:spcBef>
                <a:spcPts val="0"/>
              </a:spcBef>
              <a:spcAft>
                <a:spcPts val="0"/>
              </a:spcAft>
              <a:buSzPts val="3000"/>
              <a:buAutoNum type="arabicPeriod"/>
            </a:pPr>
            <a:r>
              <a:rPr lang="en-GB"/>
              <a:t>related work (later)</a:t>
            </a:r>
            <a:endParaRPr/>
          </a:p>
          <a:p>
            <a:pPr indent="-419100" lvl="0" marL="457200" rtl="0" algn="l">
              <a:spcBef>
                <a:spcPts val="0"/>
              </a:spcBef>
              <a:spcAft>
                <a:spcPts val="0"/>
              </a:spcAft>
              <a:buSzPts val="3000"/>
              <a:buAutoNum type="arabicPeriod"/>
            </a:pPr>
            <a:r>
              <a:rPr lang="en-GB"/>
              <a:t>put your readers first</a:t>
            </a:r>
            <a:endParaRPr/>
          </a:p>
          <a:p>
            <a:pPr indent="-419100" lvl="0" marL="457200" rtl="0" algn="l">
              <a:spcBef>
                <a:spcPts val="0"/>
              </a:spcBef>
              <a:spcAft>
                <a:spcPts val="0"/>
              </a:spcAft>
              <a:buSzPts val="3000"/>
              <a:buAutoNum type="arabicPeriod"/>
            </a:pPr>
            <a:r>
              <a:rPr lang="en-GB"/>
              <a:t>listen to your readers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5"/>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seven simple suggestions</a:t>
            </a:r>
            <a:endParaRPr/>
          </a:p>
        </p:txBody>
      </p:sp>
      <p:pic>
        <p:nvPicPr>
          <p:cNvPr descr="Writing papers and giving talks are key skills for any researcher, but they aren’t easy. In this pair of presentations, I’ll describe simple guidelines that I follow for writing papers and giving talks, which I think may be useful to you too. I don’t have all the answers—far from it—and I hope that the presentation will evolve into a discussion in which you share your own insights, rather than a lecture." id="293" name="Google Shape;293;p45" title="How to Write a Great Research Paper">
            <a:hlinkClick r:id="rId3"/>
          </p:cNvPr>
          <p:cNvPicPr preferRelativeResize="0"/>
          <p:nvPr/>
        </p:nvPicPr>
        <p:blipFill>
          <a:blip r:embed="rId4">
            <a:alphaModFix/>
          </a:blip>
          <a:stretch>
            <a:fillRect/>
          </a:stretch>
        </p:blipFill>
        <p:spPr>
          <a:xfrm>
            <a:off x="152400" y="1215771"/>
            <a:ext cx="6899550" cy="3881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1000"/>
                                        <p:tgtEl>
                                          <p:spTgt spid="2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6"/>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discussion</a:t>
            </a:r>
            <a:endParaRPr/>
          </a:p>
        </p:txBody>
      </p:sp>
      <p:sp>
        <p:nvSpPr>
          <p:cNvPr id="299" name="Google Shape;299;p46"/>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a:t>which suggestions did you find most surprising or inspirational?</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7"/>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pomodoro technique</a:t>
            </a:r>
            <a:endParaRPr/>
          </a:p>
        </p:txBody>
      </p:sp>
      <p:sp>
        <p:nvSpPr>
          <p:cNvPr id="305" name="Google Shape;305;p47"/>
          <p:cNvSpPr txBox="1"/>
          <p:nvPr>
            <p:ph idx="1" type="body"/>
          </p:nvPr>
        </p:nvSpPr>
        <p:spPr>
          <a:xfrm>
            <a:off x="457200" y="4625100"/>
            <a:ext cx="82296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1400" u="sng">
                <a:solidFill>
                  <a:schemeClr val="hlink"/>
                </a:solidFill>
                <a:hlinkClick r:id="rId3"/>
              </a:rPr>
              <a:t>www.pomodorotechnique.com</a:t>
            </a:r>
            <a:r>
              <a:rPr lang="en-GB" sz="1400"/>
              <a:t> </a:t>
            </a:r>
            <a:endParaRPr sz="1400"/>
          </a:p>
        </p:txBody>
      </p:sp>
      <p:pic>
        <p:nvPicPr>
          <p:cNvPr id="306" name="Google Shape;306;p47" title="The Pomodoro® Technique">
            <a:hlinkClick r:id="rId4"/>
          </p:cNvPr>
          <p:cNvPicPr preferRelativeResize="0"/>
          <p:nvPr/>
        </p:nvPicPr>
        <p:blipFill>
          <a:blip r:embed="rId5">
            <a:alphaModFix/>
          </a:blip>
          <a:stretch>
            <a:fillRect/>
          </a:stretch>
        </p:blipFill>
        <p:spPr>
          <a:xfrm>
            <a:off x="152400" y="1215771"/>
            <a:ext cx="6827650" cy="3840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1000"/>
                                        <p:tgtEl>
                                          <p:spTgt spid="3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8"/>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‘shut-up-and-write’!</a:t>
            </a:r>
            <a:endParaRPr/>
          </a:p>
        </p:txBody>
      </p:sp>
      <p:sp>
        <p:nvSpPr>
          <p:cNvPr id="312" name="Google Shape;312;p48"/>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u="sng">
                <a:solidFill>
                  <a:schemeClr val="hlink"/>
                </a:solidFill>
                <a:hlinkClick r:id="rId3"/>
              </a:rPr>
              <a:t>https://thesiswhisperer.com/shut-up-and-write/</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9"/>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exercise (1 pomodoro)</a:t>
            </a:r>
            <a:endParaRPr/>
          </a:p>
        </p:txBody>
      </p:sp>
      <p:sp>
        <p:nvSpPr>
          <p:cNvPr id="318" name="Google Shape;318;p49"/>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a:t>Come up with a research topic (see Zobel p267 ex 1)</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GB"/>
              <a:t>You can write down the title for your research topic plus one research question that your paper will answer</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0"/>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abstracts</a:t>
            </a:r>
            <a:endParaRPr/>
          </a:p>
        </p:txBody>
      </p:sp>
      <p:sp>
        <p:nvSpPr>
          <p:cNvPr id="324" name="Google Shape;324;p50"/>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a:t>See Mike Ashby’s how to write a paper: </a:t>
            </a:r>
            <a:r>
              <a:rPr lang="en-GB" u="sng">
                <a:solidFill>
                  <a:schemeClr val="hlink"/>
                </a:solidFill>
                <a:hlinkClick r:id="rId3"/>
              </a:rPr>
              <a:t>http://goo.gl/8Ibmf0</a:t>
            </a:r>
            <a:r>
              <a:rPr lang="en-GB"/>
              <a:t>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GB"/>
              <a:t>Find the section on how to write an abstract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1"/>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example abstract</a:t>
            </a:r>
            <a:endParaRPr/>
          </a:p>
        </p:txBody>
      </p:sp>
      <p:sp>
        <p:nvSpPr>
          <p:cNvPr id="330" name="Google Shape;330;p51"/>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GB" sz="1800"/>
              <a:t>Abstract Kiln-dried fruit drying time is readily predicted from initial moisture content since the environment is tightly controlled. For uncontrolled environments, such as a greenhouse solar dryer, a product's drying time varies depending on ambient conditions and is thus more difficult to predict. Prediction of the drying time is needed to better schedule dryer use. Data was obtained from a set of wireless scales that weigh the waste during solar drying after initial moisture content measurement of a sample. A set of linear and quadratic models for drying rate are tested with the best yielding a 39% reduction in RMSE over traditional models. The results indicate that the modelling approach is likely to be useful for open solar dryers where the temperature, and thus the drying rate, is not controlled. </a:t>
            </a:r>
            <a:endParaRPr sz="1800"/>
          </a:p>
          <a:p>
            <a:pPr indent="0" lvl="0" marL="0" rtl="0" algn="l">
              <a:spcBef>
                <a:spcPts val="600"/>
              </a:spcBef>
              <a:spcAft>
                <a:spcPts val="0"/>
              </a:spcAft>
              <a:buNone/>
            </a:pPr>
            <a:r>
              <a:t/>
            </a:r>
            <a:endParaRPr sz="1800"/>
          </a:p>
        </p:txBody>
      </p:sp>
      <p:sp>
        <p:nvSpPr>
          <p:cNvPr id="331" name="Google Shape;331;p51"/>
          <p:cNvSpPr/>
          <p:nvPr/>
        </p:nvSpPr>
        <p:spPr>
          <a:xfrm>
            <a:off x="2325550" y="2682787"/>
            <a:ext cx="923200" cy="393800"/>
          </a:xfrm>
          <a:custGeom>
            <a:rect b="b" l="l" r="r" t="t"/>
            <a:pathLst>
              <a:path extrusionOk="0" h="15752" w="36928">
                <a:moveTo>
                  <a:pt x="36928" y="352"/>
                </a:moveTo>
                <a:cubicBezTo>
                  <a:pt x="30188" y="352"/>
                  <a:pt x="22274" y="-1054"/>
                  <a:pt x="16881" y="2989"/>
                </a:cubicBezTo>
                <a:cubicBezTo>
                  <a:pt x="13980" y="5164"/>
                  <a:pt x="15225" y="10449"/>
                  <a:pt x="12661" y="13013"/>
                </a:cubicBezTo>
                <a:cubicBezTo>
                  <a:pt x="9613" y="16061"/>
                  <a:pt x="4311" y="15650"/>
                  <a:pt x="0" y="15650"/>
                </a:cubicBezTo>
              </a:path>
            </a:pathLst>
          </a:custGeom>
          <a:noFill/>
          <a:ln cap="flat" cmpd="sng" w="38100">
            <a:solidFill>
              <a:schemeClr val="dk2"/>
            </a:solidFill>
            <a:prstDash val="solid"/>
            <a:round/>
            <a:headEnd len="med" w="med" type="none"/>
            <a:tailEnd len="med" w="med" type="none"/>
          </a:ln>
        </p:spPr>
      </p:sp>
      <p:sp>
        <p:nvSpPr>
          <p:cNvPr id="332" name="Google Shape;332;p51"/>
          <p:cNvSpPr/>
          <p:nvPr/>
        </p:nvSpPr>
        <p:spPr>
          <a:xfrm>
            <a:off x="2980425" y="3228587"/>
            <a:ext cx="923200" cy="393800"/>
          </a:xfrm>
          <a:custGeom>
            <a:rect b="b" l="l" r="r" t="t"/>
            <a:pathLst>
              <a:path extrusionOk="0" h="15752" w="36928">
                <a:moveTo>
                  <a:pt x="36928" y="352"/>
                </a:moveTo>
                <a:cubicBezTo>
                  <a:pt x="30188" y="352"/>
                  <a:pt x="22274" y="-1054"/>
                  <a:pt x="16881" y="2989"/>
                </a:cubicBezTo>
                <a:cubicBezTo>
                  <a:pt x="13980" y="5164"/>
                  <a:pt x="15225" y="10449"/>
                  <a:pt x="12661" y="13013"/>
                </a:cubicBezTo>
                <a:cubicBezTo>
                  <a:pt x="9613" y="16061"/>
                  <a:pt x="4311" y="15650"/>
                  <a:pt x="0" y="15650"/>
                </a:cubicBezTo>
              </a:path>
            </a:pathLst>
          </a:custGeom>
          <a:noFill/>
          <a:ln cap="flat" cmpd="sng" w="38100">
            <a:solidFill>
              <a:schemeClr val="dk2"/>
            </a:solidFill>
            <a:prstDash val="solid"/>
            <a:round/>
            <a:headEnd len="med" w="med" type="none"/>
            <a:tailEnd len="med" w="med" type="none"/>
          </a:ln>
        </p:spPr>
      </p:sp>
      <p:sp>
        <p:nvSpPr>
          <p:cNvPr id="333" name="Google Shape;333;p51"/>
          <p:cNvSpPr/>
          <p:nvPr/>
        </p:nvSpPr>
        <p:spPr>
          <a:xfrm>
            <a:off x="2235450" y="3774387"/>
            <a:ext cx="923200" cy="393800"/>
          </a:xfrm>
          <a:custGeom>
            <a:rect b="b" l="l" r="r" t="t"/>
            <a:pathLst>
              <a:path extrusionOk="0" h="15752" w="36928">
                <a:moveTo>
                  <a:pt x="36928" y="352"/>
                </a:moveTo>
                <a:cubicBezTo>
                  <a:pt x="30188" y="352"/>
                  <a:pt x="22274" y="-1054"/>
                  <a:pt x="16881" y="2989"/>
                </a:cubicBezTo>
                <a:cubicBezTo>
                  <a:pt x="13980" y="5164"/>
                  <a:pt x="15225" y="10449"/>
                  <a:pt x="12661" y="13013"/>
                </a:cubicBezTo>
                <a:cubicBezTo>
                  <a:pt x="9613" y="16061"/>
                  <a:pt x="4311" y="15650"/>
                  <a:pt x="0" y="15650"/>
                </a:cubicBezTo>
              </a:path>
            </a:pathLst>
          </a:custGeom>
          <a:noFill/>
          <a:ln cap="flat" cmpd="sng" w="38100">
            <a:solidFill>
              <a:schemeClr val="dk2"/>
            </a:solidFill>
            <a:prstDash val="solid"/>
            <a:round/>
            <a:headEnd len="med" w="med" type="none"/>
            <a:tailEnd len="med" w="med" type="none"/>
          </a:ln>
        </p:spPr>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37" name="Shape 337"/>
        <p:cNvGrpSpPr/>
        <p:nvPr/>
      </p:nvGrpSpPr>
      <p:grpSpPr>
        <a:xfrm>
          <a:off x="0" y="0"/>
          <a:ext cx="0" cy="0"/>
          <a:chOff x="0" y="0"/>
          <a:chExt cx="0" cy="0"/>
        </a:xfrm>
      </p:grpSpPr>
      <p:pic>
        <p:nvPicPr>
          <p:cNvPr id="338" name="Google Shape;338;p52"/>
          <p:cNvPicPr preferRelativeResize="0"/>
          <p:nvPr/>
        </p:nvPicPr>
        <p:blipFill rotWithShape="1">
          <a:blip r:embed="rId3">
            <a:alphaModFix/>
          </a:blip>
          <a:srcRect b="0" l="0" r="0" t="0"/>
          <a:stretch/>
        </p:blipFill>
        <p:spPr>
          <a:xfrm>
            <a:off x="1874576" y="84674"/>
            <a:ext cx="5370350" cy="48878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3"/>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exercise (15 mins)</a:t>
            </a:r>
            <a:endParaRPr/>
          </a:p>
        </p:txBody>
      </p:sp>
      <p:sp>
        <p:nvSpPr>
          <p:cNvPr id="344" name="Google Shape;344;p53"/>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2400"/>
              <a:t>underneath your title, write a draft abstract applying the rules from Ashby:</a:t>
            </a:r>
            <a:endParaRPr sz="2400"/>
          </a:p>
          <a:p>
            <a:pPr indent="0" lvl="0" marL="0" rtl="0" algn="l">
              <a:spcBef>
                <a:spcPts val="600"/>
              </a:spcBef>
              <a:spcAft>
                <a:spcPts val="0"/>
              </a:spcAft>
              <a:buNone/>
            </a:pPr>
            <a:r>
              <a:rPr lang="en-GB" sz="2400"/>
              <a:t>1-3 sentences for each of </a:t>
            </a:r>
            <a:endParaRPr sz="2400"/>
          </a:p>
          <a:p>
            <a:pPr indent="-381000" lvl="0" marL="457200" rtl="0" algn="l">
              <a:spcBef>
                <a:spcPts val="600"/>
              </a:spcBef>
              <a:spcAft>
                <a:spcPts val="0"/>
              </a:spcAft>
              <a:buSzPts val="2400"/>
              <a:buChar char="●"/>
            </a:pPr>
            <a:r>
              <a:rPr lang="en-GB" sz="2400"/>
              <a:t>Motive; (what is the problem, why is it interesting?)</a:t>
            </a:r>
            <a:endParaRPr sz="2400"/>
          </a:p>
          <a:p>
            <a:pPr indent="-381000" lvl="0" marL="457200" rtl="0" algn="l">
              <a:spcBef>
                <a:spcPts val="0"/>
              </a:spcBef>
              <a:spcAft>
                <a:spcPts val="0"/>
              </a:spcAft>
              <a:buSzPts val="2400"/>
              <a:buChar char="●"/>
            </a:pPr>
            <a:r>
              <a:rPr lang="en-GB" sz="2400"/>
              <a:t>Method; (how is the problem examined?)</a:t>
            </a:r>
            <a:endParaRPr sz="2400"/>
          </a:p>
          <a:p>
            <a:pPr indent="-381000" lvl="0" marL="457200" rtl="0" algn="l">
              <a:spcBef>
                <a:spcPts val="0"/>
              </a:spcBef>
              <a:spcAft>
                <a:spcPts val="0"/>
              </a:spcAft>
              <a:buSzPts val="2400"/>
              <a:buChar char="●"/>
            </a:pPr>
            <a:r>
              <a:rPr lang="en-GB" sz="2400"/>
              <a:t>Results; (what evidence is there?)</a:t>
            </a:r>
            <a:endParaRPr sz="2400"/>
          </a:p>
          <a:p>
            <a:pPr indent="-381000" lvl="0" marL="457200" rtl="0" algn="l">
              <a:spcBef>
                <a:spcPts val="0"/>
              </a:spcBef>
              <a:spcAft>
                <a:spcPts val="0"/>
              </a:spcAft>
              <a:buSzPts val="2400"/>
              <a:buChar char="●"/>
            </a:pPr>
            <a:r>
              <a:rPr lang="en-GB" sz="2400"/>
              <a:t>Conclusions (what does it mean to anyone else?)</a:t>
            </a:r>
            <a:endParaRPr sz="2400"/>
          </a:p>
          <a:p>
            <a:pPr indent="0" lvl="0" marL="0" rtl="0" algn="l">
              <a:spcBef>
                <a:spcPts val="600"/>
              </a:spcBef>
              <a:spcAft>
                <a:spcPts val="0"/>
              </a:spcAft>
              <a:buNone/>
            </a:pPr>
            <a:r>
              <a:rPr i="1" lang="en-GB" sz="2400"/>
              <a:t>If you finish early, please go ahead and review and comment on other people’s abstract.</a:t>
            </a:r>
            <a:endParaRPr i="1" sz="2400"/>
          </a:p>
          <a:p>
            <a:pPr indent="0" lvl="0" marL="0" rtl="0" algn="l">
              <a:spcBef>
                <a:spcPts val="600"/>
              </a:spcBef>
              <a:spcAft>
                <a:spcPts val="0"/>
              </a:spcAft>
              <a:buNone/>
            </a:pPr>
            <a:r>
              <a:t/>
            </a:r>
            <a:endParaRPr sz="2400"/>
          </a:p>
          <a:p>
            <a:pPr indent="0" lvl="0" marL="0" rtl="0" algn="l">
              <a:spcBef>
                <a:spcPts val="600"/>
              </a:spcBef>
              <a:spcAft>
                <a:spcPts val="0"/>
              </a:spcAft>
              <a:buNone/>
            </a:pPr>
            <a:r>
              <a:t/>
            </a:r>
            <a:endParaRPr sz="24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4"/>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review</a:t>
            </a:r>
            <a:endParaRPr/>
          </a:p>
        </p:txBody>
      </p:sp>
      <p:sp>
        <p:nvSpPr>
          <p:cNvPr id="350" name="Google Shape;350;p54"/>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2400"/>
              <a:t>Selecting one or two of the abstracts at random</a:t>
            </a:r>
            <a:endParaRPr sz="2400"/>
          </a:p>
          <a:p>
            <a:pPr indent="-381000" lvl="0" marL="457200" rtl="0" algn="l">
              <a:spcBef>
                <a:spcPts val="600"/>
              </a:spcBef>
              <a:spcAft>
                <a:spcPts val="0"/>
              </a:spcAft>
              <a:buSzPts val="2400"/>
              <a:buAutoNum type="arabicPeriod"/>
            </a:pPr>
            <a:r>
              <a:rPr lang="en-GB" sz="2400"/>
              <a:t>can we understand it?</a:t>
            </a:r>
            <a:endParaRPr sz="2400"/>
          </a:p>
          <a:p>
            <a:pPr indent="-381000" lvl="0" marL="457200" rtl="0" algn="l">
              <a:spcBef>
                <a:spcPts val="0"/>
              </a:spcBef>
              <a:spcAft>
                <a:spcPts val="0"/>
              </a:spcAft>
              <a:buSzPts val="2400"/>
              <a:buAutoNum type="arabicPeriod"/>
            </a:pPr>
            <a:r>
              <a:rPr lang="en-GB" sz="2400"/>
              <a:t>is it concise? </a:t>
            </a:r>
            <a:endParaRPr sz="2400"/>
          </a:p>
          <a:p>
            <a:pPr indent="-381000" lvl="0" marL="457200" rtl="0" algn="l">
              <a:spcBef>
                <a:spcPts val="0"/>
              </a:spcBef>
              <a:spcAft>
                <a:spcPts val="0"/>
              </a:spcAft>
              <a:buSzPts val="2400"/>
              <a:buAutoNum type="arabicPeriod"/>
            </a:pPr>
            <a:r>
              <a:rPr lang="en-GB" sz="2400"/>
              <a:t>are all 4 elements (motive / method, etc) there?</a:t>
            </a:r>
            <a:endParaRPr sz="2400"/>
          </a:p>
          <a:p>
            <a:pPr indent="0" lvl="0" marL="0" rtl="0" algn="l">
              <a:spcBef>
                <a:spcPts val="600"/>
              </a:spcBef>
              <a:spcAft>
                <a:spcPts val="0"/>
              </a:spcAft>
              <a:buNone/>
            </a:pPr>
            <a:r>
              <a:rPr lang="en-GB" sz="2400"/>
              <a:t>Things to watch for (and avoid):</a:t>
            </a:r>
            <a:endParaRPr sz="2400"/>
          </a:p>
          <a:p>
            <a:pPr indent="-381000" lvl="0" marL="457200" rtl="0" algn="l">
              <a:spcBef>
                <a:spcPts val="600"/>
              </a:spcBef>
              <a:spcAft>
                <a:spcPts val="0"/>
              </a:spcAft>
              <a:buSzPts val="2400"/>
              <a:buAutoNum type="arabicPeriod"/>
            </a:pPr>
            <a:r>
              <a:rPr lang="en-GB" sz="2400"/>
              <a:t>vague statements about how interesting the subject is becoming</a:t>
            </a:r>
            <a:endParaRPr sz="2400"/>
          </a:p>
          <a:p>
            <a:pPr indent="-381000" lvl="0" marL="457200" rtl="0" algn="l">
              <a:spcBef>
                <a:spcPts val="0"/>
              </a:spcBef>
              <a:spcAft>
                <a:spcPts val="0"/>
              </a:spcAft>
              <a:buSzPts val="2400"/>
              <a:buAutoNum type="arabicPeriod"/>
            </a:pPr>
            <a:r>
              <a:rPr lang="en-GB" sz="2400"/>
              <a:t>skipping elements (e.g. no statement about method)</a:t>
            </a:r>
            <a:endParaRPr sz="2400"/>
          </a:p>
          <a:p>
            <a:pPr indent="-381000" lvl="0" marL="457200" rtl="0" algn="l">
              <a:spcBef>
                <a:spcPts val="0"/>
              </a:spcBef>
              <a:spcAft>
                <a:spcPts val="0"/>
              </a:spcAft>
              <a:buSzPts val="2400"/>
              <a:buAutoNum type="arabicPeriod"/>
            </a:pPr>
            <a:r>
              <a:rPr lang="en-GB" sz="2400"/>
              <a:t>hyperbole</a:t>
            </a:r>
            <a:endParaRPr sz="24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4" name="Shape 354"/>
        <p:cNvGrpSpPr/>
        <p:nvPr/>
      </p:nvGrpSpPr>
      <p:grpSpPr>
        <a:xfrm>
          <a:off x="0" y="0"/>
          <a:ext cx="0" cy="0"/>
          <a:chOff x="0" y="0"/>
          <a:chExt cx="0" cy="0"/>
        </a:xfrm>
      </p:grpSpPr>
      <p:sp>
        <p:nvSpPr>
          <p:cNvPr id="355" name="Google Shape;355;p55"/>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exercise (1 pomodoro)</a:t>
            </a:r>
            <a:endParaRPr/>
          </a:p>
        </p:txBody>
      </p:sp>
      <p:sp>
        <p:nvSpPr>
          <p:cNvPr id="356" name="Google Shape;356;p55"/>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2400"/>
              <a:t>underneath your title, write a draft abstract applying the rules from Ashby (&lt;= 3 sentences for each of Intro; Method; Results; Conclusions)</a:t>
            </a:r>
            <a:endParaRPr sz="2400"/>
          </a:p>
          <a:p>
            <a:pPr indent="0" lvl="0" marL="0" rtl="0" algn="l">
              <a:spcBef>
                <a:spcPts val="600"/>
              </a:spcBef>
              <a:spcAft>
                <a:spcPts val="0"/>
              </a:spcAft>
              <a:buNone/>
            </a:pPr>
            <a:r>
              <a:t/>
            </a:r>
            <a:endParaRPr sz="2400"/>
          </a:p>
          <a:p>
            <a:pPr indent="457200" lvl="0" marL="3200400" rtl="0" algn="l">
              <a:spcBef>
                <a:spcPts val="600"/>
              </a:spcBef>
              <a:spcAft>
                <a:spcPts val="0"/>
              </a:spcAft>
              <a:buNone/>
            </a:pPr>
            <a:r>
              <a:rPr lang="en-GB" sz="2400"/>
              <a:t>OR </a:t>
            </a:r>
            <a:endParaRPr sz="2400"/>
          </a:p>
          <a:p>
            <a:pPr indent="0" lvl="0" marL="0" rtl="0" algn="l">
              <a:spcBef>
                <a:spcPts val="600"/>
              </a:spcBef>
              <a:spcAft>
                <a:spcPts val="0"/>
              </a:spcAft>
              <a:buNone/>
            </a:pPr>
            <a:r>
              <a:t/>
            </a:r>
            <a:endParaRPr sz="2400"/>
          </a:p>
          <a:p>
            <a:pPr indent="0" lvl="0" marL="0" rtl="0" algn="l">
              <a:spcBef>
                <a:spcPts val="600"/>
              </a:spcBef>
              <a:spcAft>
                <a:spcPts val="0"/>
              </a:spcAft>
              <a:buNone/>
            </a:pPr>
            <a:r>
              <a:rPr lang="en-GB" sz="2400"/>
              <a:t>write a five sentence abstract using Zobel chap 5 guide to abstracts</a:t>
            </a:r>
            <a:endParaRPr sz="24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0" name="Shape 360"/>
        <p:cNvGrpSpPr/>
        <p:nvPr/>
      </p:nvGrpSpPr>
      <p:grpSpPr>
        <a:xfrm>
          <a:off x="0" y="0"/>
          <a:ext cx="0" cy="0"/>
          <a:chOff x="0" y="0"/>
          <a:chExt cx="0" cy="0"/>
        </a:xfrm>
      </p:grpSpPr>
      <p:sp>
        <p:nvSpPr>
          <p:cNvPr id="361" name="Google Shape;361;p56"/>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review</a:t>
            </a:r>
            <a:endParaRPr/>
          </a:p>
        </p:txBody>
      </p:sp>
      <p:sp>
        <p:nvSpPr>
          <p:cNvPr id="362" name="Google Shape;362;p56"/>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2400"/>
              <a:t>Selecting one or two of the abstracts at random</a:t>
            </a:r>
            <a:endParaRPr sz="2400"/>
          </a:p>
          <a:p>
            <a:pPr indent="-381000" lvl="0" marL="457200" rtl="0" algn="l">
              <a:spcBef>
                <a:spcPts val="600"/>
              </a:spcBef>
              <a:spcAft>
                <a:spcPts val="0"/>
              </a:spcAft>
              <a:buSzPts val="2400"/>
              <a:buAutoNum type="arabicPeriod"/>
            </a:pPr>
            <a:r>
              <a:rPr lang="en-GB" sz="2400"/>
              <a:t>can we understand it?</a:t>
            </a:r>
            <a:endParaRPr sz="2400"/>
          </a:p>
          <a:p>
            <a:pPr indent="-381000" lvl="0" marL="457200" rtl="0" algn="l">
              <a:spcBef>
                <a:spcPts val="0"/>
              </a:spcBef>
              <a:spcAft>
                <a:spcPts val="0"/>
              </a:spcAft>
              <a:buSzPts val="2400"/>
              <a:buAutoNum type="arabicPeriod"/>
            </a:pPr>
            <a:r>
              <a:rPr lang="en-GB" sz="2400"/>
              <a:t>is it concise? </a:t>
            </a:r>
            <a:endParaRPr sz="2400"/>
          </a:p>
          <a:p>
            <a:pPr indent="0" lvl="0" marL="0" rtl="0" algn="l">
              <a:spcBef>
                <a:spcPts val="600"/>
              </a:spcBef>
              <a:spcAft>
                <a:spcPts val="0"/>
              </a:spcAft>
              <a:buNone/>
            </a:pPr>
            <a:r>
              <a:t/>
            </a:r>
            <a:endParaRPr sz="2400"/>
          </a:p>
          <a:p>
            <a:pPr indent="0" lvl="0" marL="0" rtl="0" algn="l">
              <a:spcBef>
                <a:spcPts val="600"/>
              </a:spcBef>
              <a:spcAft>
                <a:spcPts val="0"/>
              </a:spcAft>
              <a:buNone/>
            </a:pPr>
            <a:r>
              <a:rPr lang="en-GB" sz="2400"/>
              <a:t>Things to watch for (and avoid):</a:t>
            </a:r>
            <a:endParaRPr sz="2400"/>
          </a:p>
          <a:p>
            <a:pPr indent="-381000" lvl="0" marL="457200" rtl="0" algn="l">
              <a:spcBef>
                <a:spcPts val="600"/>
              </a:spcBef>
              <a:spcAft>
                <a:spcPts val="0"/>
              </a:spcAft>
              <a:buSzPts val="2400"/>
              <a:buAutoNum type="arabicPeriod"/>
            </a:pPr>
            <a:r>
              <a:rPr lang="en-GB" sz="2400"/>
              <a:t>vague statements about how interesting the subject is becoming</a:t>
            </a:r>
            <a:endParaRPr sz="2400"/>
          </a:p>
          <a:p>
            <a:pPr indent="-381000" lvl="0" marL="457200" rtl="0" algn="l">
              <a:spcBef>
                <a:spcPts val="0"/>
              </a:spcBef>
              <a:spcAft>
                <a:spcPts val="0"/>
              </a:spcAft>
              <a:buSzPts val="2400"/>
              <a:buAutoNum type="arabicPeriod"/>
            </a:pPr>
            <a:r>
              <a:rPr lang="en-GB" sz="2400"/>
              <a:t>skipping elements (e.g. no statement about method)</a:t>
            </a:r>
            <a:endParaRPr sz="2400"/>
          </a:p>
          <a:p>
            <a:pPr indent="-381000" lvl="0" marL="457200" rtl="0" algn="l">
              <a:spcBef>
                <a:spcPts val="0"/>
              </a:spcBef>
              <a:spcAft>
                <a:spcPts val="0"/>
              </a:spcAft>
              <a:buSzPts val="2400"/>
              <a:buAutoNum type="arabicPeriod"/>
            </a:pPr>
            <a:r>
              <a:rPr lang="en-GB" sz="2400"/>
              <a:t>hyperbole</a:t>
            </a:r>
            <a:endParaRPr sz="24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7"/>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what we didn’t cover in this session</a:t>
            </a:r>
            <a:endParaRPr/>
          </a:p>
        </p:txBody>
      </p:sp>
      <p:sp>
        <p:nvSpPr>
          <p:cNvPr id="368" name="Google Shape;368;p57"/>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a:t>grammar</a:t>
            </a:r>
            <a:endParaRPr/>
          </a:p>
          <a:p>
            <a:pPr indent="0" lvl="0" marL="0" rtl="0" algn="l">
              <a:spcBef>
                <a:spcPts val="600"/>
              </a:spcBef>
              <a:spcAft>
                <a:spcPts val="0"/>
              </a:spcAft>
              <a:buNone/>
            </a:pPr>
            <a:r>
              <a:rPr lang="en-GB"/>
              <a:t>punctuation</a:t>
            </a:r>
            <a:endParaRPr/>
          </a:p>
          <a:p>
            <a:pPr indent="0" lvl="0" marL="0" rtl="0" algn="l">
              <a:spcBef>
                <a:spcPts val="600"/>
              </a:spcBef>
              <a:spcAft>
                <a:spcPts val="0"/>
              </a:spcAft>
              <a:buNone/>
            </a:pPr>
            <a:r>
              <a:rPr lang="en-GB"/>
              <a:t>spelling</a:t>
            </a:r>
            <a:endParaRPr/>
          </a:p>
          <a:p>
            <a:pPr indent="0" lvl="0" marL="0" rtl="0" algn="l">
              <a:spcBef>
                <a:spcPts val="600"/>
              </a:spcBef>
              <a:spcAft>
                <a:spcPts val="0"/>
              </a:spcAft>
              <a:buNone/>
            </a:pPr>
            <a:r>
              <a:rPr lang="en-GB"/>
              <a:t>and many other things about good writing … </a:t>
            </a:r>
            <a:endParaRPr/>
          </a:p>
          <a:p>
            <a:pPr indent="0" lvl="0" marL="0" rtl="0" algn="l">
              <a:spcBef>
                <a:spcPts val="600"/>
              </a:spcBef>
              <a:spcAft>
                <a:spcPts val="0"/>
              </a:spcAft>
              <a:buNone/>
            </a:pPr>
            <a:r>
              <a:rPr lang="en-GB"/>
              <a:t>… but please see the further reading</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further reading</a:t>
            </a:r>
            <a:endParaRPr/>
          </a:p>
        </p:txBody>
      </p:sp>
      <p:sp>
        <p:nvSpPr>
          <p:cNvPr id="374" name="Google Shape;374;p58"/>
          <p:cNvSpPr txBox="1"/>
          <p:nvPr>
            <p:ph idx="1" type="body"/>
          </p:nvPr>
        </p:nvSpPr>
        <p:spPr>
          <a:xfrm>
            <a:off x="457200" y="1063375"/>
            <a:ext cx="8229600" cy="3725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GB"/>
              <a:t>chapters 5, 6, 7, 8 of Zobel</a:t>
            </a:r>
            <a:endParaRPr/>
          </a:p>
          <a:p>
            <a:pPr indent="-419100" lvl="0" marL="457200" rtl="0" algn="l">
              <a:spcBef>
                <a:spcPts val="0"/>
              </a:spcBef>
              <a:spcAft>
                <a:spcPts val="0"/>
              </a:spcAft>
              <a:buSzPts val="3000"/>
              <a:buChar char="●"/>
            </a:pPr>
            <a:r>
              <a:rPr lang="en-GB"/>
              <a:t>Elements of Style - Strunk and White</a:t>
            </a:r>
            <a:endParaRPr/>
          </a:p>
          <a:p>
            <a:pPr indent="-419100" lvl="0" marL="457200" rtl="0" algn="l">
              <a:spcBef>
                <a:spcPts val="0"/>
              </a:spcBef>
              <a:spcAft>
                <a:spcPts val="0"/>
              </a:spcAft>
              <a:buSzPts val="3000"/>
              <a:buChar char="●"/>
            </a:pPr>
            <a:r>
              <a:rPr lang="en-GB"/>
              <a:t>Coursera - </a:t>
            </a:r>
            <a:r>
              <a:rPr lang="en-GB" u="sng">
                <a:solidFill>
                  <a:schemeClr val="hlink"/>
                </a:solidFill>
                <a:hlinkClick r:id="rId3"/>
              </a:rPr>
              <a:t>Writing in the Sciences</a:t>
            </a:r>
            <a:endParaRPr/>
          </a:p>
          <a:p>
            <a:pPr indent="0" lvl="0" marL="457200" rtl="0" algn="l">
              <a:spcBef>
                <a:spcPts val="600"/>
              </a:spcBef>
              <a:spcAft>
                <a:spcPts val="0"/>
              </a:spcAft>
              <a:buNone/>
            </a:pPr>
            <a:r>
              <a:t/>
            </a:r>
            <a:endParaRPr/>
          </a:p>
          <a:p>
            <a:pPr indent="-419100" lvl="0" marL="457200" rtl="0" algn="l">
              <a:spcBef>
                <a:spcPts val="600"/>
              </a:spcBef>
              <a:spcAft>
                <a:spcPts val="0"/>
              </a:spcAft>
              <a:buSzPts val="3000"/>
              <a:buChar char="●"/>
            </a:pPr>
            <a:r>
              <a:rPr lang="en-GB"/>
              <a:t>and many others!</a:t>
            </a:r>
            <a:endParaRPr/>
          </a:p>
          <a:p>
            <a:pPr indent="0" lvl="0" marL="0" rtl="0" algn="l">
              <a:spcBef>
                <a:spcPts val="6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iz">
  <a:themeElements>
    <a:clrScheme name="Custom 233">
      <a:dk1>
        <a:srgbClr val="000000"/>
      </a:dk1>
      <a:lt1>
        <a:srgbClr val="FFFFFF"/>
      </a:lt1>
      <a:dk2>
        <a:srgbClr val="2388DB"/>
      </a:dk2>
      <a:lt2>
        <a:srgbClr val="BBD7F8"/>
      </a:lt2>
      <a:accent1>
        <a:srgbClr val="80B606"/>
      </a:accent1>
      <a:accent2>
        <a:srgbClr val="E29F1D"/>
      </a:accent2>
      <a:accent3>
        <a:srgbClr val="1D6FB2"/>
      </a:accent3>
      <a:accent4>
        <a:srgbClr val="3FAC98"/>
      </a:accent4>
      <a:accent5>
        <a:srgbClr val="5B57BB"/>
      </a:accent5>
      <a:accent6>
        <a:srgbClr val="D1505E"/>
      </a:accent6>
      <a:hlink>
        <a:srgbClr val="185DA2"/>
      </a:hlink>
      <a:folHlink>
        <a:srgbClr val="00487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