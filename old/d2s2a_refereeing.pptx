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b53c5f77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b53c5f77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e01e19e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e01e19e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e01e19e9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e01e19e9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e01e19e9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e01e19e9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e01e19e9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e01e19e9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e01e19e9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e01e19e9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e01e19e9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e01e19e9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e01e19e9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e01e19e9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e01e19e9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e01e19e9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e01e19e9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e01e19e9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e01e19e9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e01e19e9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e01e19e9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e01e19e9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e01e19e9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e01e19e9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e01e19e9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e01e19e9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e01e19e9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e01e19e9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51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0" y="349660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omic Sans MS"/>
              <a:buNone/>
              <a:defRPr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5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mic Sans MS"/>
              <a:buNone/>
              <a:defRPr sz="1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/>
        </p:txBody>
      </p:sp>
      <p:sp>
        <p:nvSpPr>
          <p:cNvPr id="35" name="Google Shape;35;p6"/>
          <p:cNvSpPr/>
          <p:nvPr/>
        </p:nvSpPr>
        <p:spPr>
          <a:xfrm>
            <a:off x="4274" y="0"/>
            <a:ext cx="9144000" cy="44064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0" y="4384371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iz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pgr week</a:t>
            </a:r>
            <a:endParaRPr/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Refereeing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intended learning outcomes</a:t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700"/>
              <a:t>design research that produces rigorous results</a:t>
            </a:r>
            <a:endParaRPr sz="27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700"/>
              <a:t>locate, appraise, and summarise relevant literature</a:t>
            </a:r>
            <a:endParaRPr sz="27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700"/>
              <a:t>write a clear and concise research paper</a:t>
            </a:r>
            <a:endParaRPr sz="27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700"/>
              <a:t>present a persuasive presentation on the research paper</a:t>
            </a:r>
            <a:endParaRPr sz="27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700"/>
              <a:t>proofread and </a:t>
            </a:r>
            <a:r>
              <a:rPr b="1" lang="en-GB" sz="2700"/>
              <a:t>referee</a:t>
            </a:r>
            <a:endParaRPr b="1" sz="27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journal review process</a:t>
            </a:r>
            <a:endParaRPr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an author submits a journal paper to a journal </a:t>
            </a:r>
            <a:r>
              <a:rPr i="1" lang="en-GB" sz="2400"/>
              <a:t>editor</a:t>
            </a:r>
            <a:endParaRPr i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the editor then selects several </a:t>
            </a:r>
            <a:r>
              <a:rPr i="1" lang="en-GB" sz="2400"/>
              <a:t>reviewers</a:t>
            </a:r>
            <a:r>
              <a:rPr lang="en-GB" sz="2400"/>
              <a:t> and sends it on to them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GB"/>
              <a:t>in some cases, the author will be asked for suggestions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each reviewer produces an evaluation report and returns it to the editor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the editor then may decide to publish, to request revisions, to reject, or to select additional reviewers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in some cases, rejection leaves open a resubmission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conference review process</a:t>
            </a:r>
            <a:endParaRPr/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conference reviews need to be done more rapidly and there is some modification to the process</a:t>
            </a:r>
            <a:endParaRPr sz="2400"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author submits paper to conference chair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chair assigns reviewers from TPC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reviewers score paper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program chair selects successful papers on basis of scoring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there is usually no opportunity to resubmit a rejected paper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reviews tend to be brief 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contribution</a:t>
            </a:r>
            <a:endParaRPr/>
          </a:p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does a paper contribute to the body of knowledge?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if so, it must be: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original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valid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originality</a:t>
            </a:r>
            <a:endParaRPr/>
          </a:p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original work: 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has not previously been published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is </a:t>
            </a:r>
            <a:r>
              <a:rPr i="1" lang="en-GB"/>
              <a:t>significant</a:t>
            </a:r>
            <a:endParaRPr i="1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has the potential to </a:t>
            </a:r>
            <a:r>
              <a:rPr i="1" lang="en-GB"/>
              <a:t>impact</a:t>
            </a:r>
            <a:r>
              <a:rPr lang="en-GB"/>
              <a:t> either causing change in the topic area or by enabling technological development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ranges from </a:t>
            </a:r>
            <a:r>
              <a:rPr i="1" lang="en-GB"/>
              <a:t>incremental</a:t>
            </a:r>
            <a:r>
              <a:rPr lang="en-GB"/>
              <a:t> to </a:t>
            </a:r>
            <a:r>
              <a:rPr i="1" lang="en-GB"/>
              <a:t>groundbreaking</a:t>
            </a:r>
            <a:endParaRPr i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validity</a:t>
            </a:r>
            <a:endParaRPr/>
          </a:p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valid research: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is rigorously demonstrated to be correct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is reproducible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is based on sufficiently large samples (if statistical evidence used)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compares positively with prior work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 to ask for any paper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is there a (significant) contribution?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is it a relevant one?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are results correct?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is appropriate literature discussed?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does the methodology answer the posed question?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are the proposals and results critically analyzed?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are appropriate conclusions drawn from the results?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are the technical details correct?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could the results be verified?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are there ambiguities or inconsistencies?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(Zobel, p24)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 to ask when reviewing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is the contribution timely?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relevant to venue?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content missing? anything unnecessary?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will it have broad readership?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is it understandable, clearly written, presented well?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does the content justify the length?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 content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explicit purpose: help decide which papers to accept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implicit purpose: as a communication channel between scientists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good reviews should:</a:t>
            </a:r>
            <a:endParaRPr sz="2400"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make an adequate case for or against the paper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provide sufficient guidance to the author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poor reviews harm the research community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consider triage - focus review effort on salvageable papers 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drafting the review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be willing to change your mind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be constructive in your comments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avoid vague criticisms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suggest essential references sparingly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be polite; avoid sarcasm and insult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use confidential comments to the editor to state your limitations, if any, as a reviewer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a paper that you accept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spcBef>
                <a:spcPts val="600"/>
              </a:spcBef>
              <a:spcAft>
                <a:spcPts val="0"/>
              </a:spcAft>
              <a:buSzPts val="2700"/>
              <a:buChar char="●"/>
            </a:pPr>
            <a:r>
              <a:rPr lang="en-GB" sz="2700"/>
              <a:t>convince yourself it is free from serious flaw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GB" sz="2700"/>
              <a:t>explain to the editor why it is original, valid and clear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GB" sz="2700"/>
              <a:t>list major and minor changes needed (if excessive number of errors - recommend that it be proofread)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GB" sz="2700"/>
              <a:t>take care over checking maths and bibliography</a:t>
            </a:r>
            <a:endParaRPr sz="2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a paper that you reject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clearly explain faults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indicate which parts of the paper are of value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check the paper carefully unless it is disastrously unreadable or ill-conceived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all papers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provide essential references (that were not mentioned)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reread your review to check that it is fair, specific and polite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tell the editor about your limitations as a reviewer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check your review as carefully as you would one of your own papers before submission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you come to receive a review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when your own paper is reviewed by others: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treat reviews as if they were gold dust - treasure them!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remember that a difficulty that they face in understanding your work might be fixed by making your paper easier to read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 exercise (2 pomodoros)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select a research paper from your previous search and perform a detailed review.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z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